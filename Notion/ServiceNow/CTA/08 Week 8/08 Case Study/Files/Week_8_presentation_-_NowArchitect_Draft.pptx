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271" r:id="rId4"/>
  </p:sldMasterIdLst>
  <p:notesMasterIdLst>
    <p:notesMasterId r:id="rId21"/>
  </p:notesMasterIdLst>
  <p:handoutMasterIdLst>
    <p:handoutMasterId r:id="rId22"/>
  </p:handoutMasterIdLst>
  <p:sldIdLst>
    <p:sldId id="2147483221" r:id="rId5"/>
    <p:sldId id="2147483234" r:id="rId6"/>
    <p:sldId id="257" r:id="rId7"/>
    <p:sldId id="2147483256" r:id="rId8"/>
    <p:sldId id="2147483257" r:id="rId9"/>
    <p:sldId id="2147483236" r:id="rId10"/>
    <p:sldId id="2147483258" r:id="rId11"/>
    <p:sldId id="2147483259" r:id="rId12"/>
    <p:sldId id="2147483266" r:id="rId13"/>
    <p:sldId id="2147483260" r:id="rId14"/>
    <p:sldId id="2147483265" r:id="rId15"/>
    <p:sldId id="2147483262" r:id="rId16"/>
    <p:sldId id="2147483263" r:id="rId17"/>
    <p:sldId id="2147483264" r:id="rId18"/>
    <p:sldId id="2147483242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793"/>
    <a:srgbClr val="078136"/>
    <a:srgbClr val="80B894"/>
    <a:srgbClr val="BEE9D2"/>
    <a:srgbClr val="087A33"/>
    <a:srgbClr val="097531"/>
    <a:srgbClr val="0E5B28"/>
    <a:srgbClr val="00F06B"/>
    <a:srgbClr val="00AC4D"/>
    <a:srgbClr val="BFE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303E2-A804-4CCB-8DC1-F49837FB2B67}" v="189" dt="2025-04-02T09:43:15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3" autoAdjust="0"/>
    <p:restoredTop sz="72511" autoAdjust="0"/>
  </p:normalViewPr>
  <p:slideViewPr>
    <p:cSldViewPr snapToGrid="0" showGuides="1">
      <p:cViewPr varScale="1">
        <p:scale>
          <a:sx n="69" d="100"/>
          <a:sy n="69" d="100"/>
        </p:scale>
        <p:origin x="1402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3120"/>
    </p:cViewPr>
  </p:sorterViewPr>
  <p:notesViewPr>
    <p:cSldViewPr snapToGrid="0">
      <p:cViewPr varScale="1">
        <p:scale>
          <a:sx n="120" d="100"/>
          <a:sy n="120" d="100"/>
        </p:scale>
        <p:origin x="51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1DD8-56E8-44DB-8D68-9188DEA50502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C781-2765-427A-A960-385CE0D0C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FCAF-B17D-2A91-FCC1-839B4969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5D0CD-8EFF-2079-5FFD-5320A10A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61D82-9F4D-832D-6F72-A46E244E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1964-D35A-63B6-30C7-641BFBD39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7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A7DA-6C5B-34CC-C550-8E92A819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DF698-6AA4-87AC-6F7F-1D69128E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4B6BA-7434-98E1-409B-98C87CFC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F3BD7-8A87-25DC-FBF5-D2FB6D365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47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My personal suggestions for Phases:</a:t>
            </a:r>
          </a:p>
          <a:p>
            <a:endParaRPr lang="pt-PT" dirty="0"/>
          </a:p>
          <a:p>
            <a:r>
              <a:rPr lang="pt-PT" dirty="0"/>
              <a:t>Phase 1 – Quick wins, Virtual Agents FAQ and Initial Chatbot automation</a:t>
            </a:r>
          </a:p>
          <a:p>
            <a:r>
              <a:rPr lang="pt-PT" dirty="0"/>
              <a:t>Phase 2 – (everything you have plus...) Case routing, ticket classification</a:t>
            </a:r>
          </a:p>
          <a:p>
            <a:r>
              <a:rPr lang="pt-PT" dirty="0"/>
              <a:t>Phase 3 – Gen AI-driven insights, predictive analytics (might be the same as you already have)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4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Do we have any source to add as a small url to support these numbers?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47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05BB-58A0-2019-A936-D1860718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B6425-236D-8CFB-4680-F99848F7A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16AC-4906-C1F3-6915-338FA47A1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8B991-F039-EE01-09E7-AA33AAEC2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4C781-2765-427A-A960-385CE0D0CA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5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That concludes my presentation. Thank you for your time. I’d be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392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6A7982A7-920A-4645-4656-C0FBECBF2B8C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78857595-B175-D151-DD86-68239766C9E8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9B591F0-AC54-42C5-CB41-9A74A7D6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41941" y="644182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pic>
        <p:nvPicPr>
          <p:cNvPr id="6" name="Picture 5" descr="A logo with a crown&#10;&#10;Description automatically generated">
            <a:extLst>
              <a:ext uri="{FF2B5EF4-FFF2-40B4-BE49-F238E27FC236}">
                <a16:creationId xmlns:a16="http://schemas.microsoft.com/office/drawing/2014/main" id="{2C6F5B23-F4B2-4D0D-CF96-A615921FA7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2013BF-4700-0256-AFDD-3BF11763E2BA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73844D-7B6A-5139-4232-01F52B48311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82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174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Confidential | @2025 </a:t>
            </a:r>
            <a:r>
              <a:rPr lang="en-US" dirty="0" err="1"/>
              <a:t>ServiceWow</a:t>
            </a:r>
            <a:r>
              <a:rPr lang="en-US" dirty="0"/>
              <a:t>. All Rights Reserved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BA32842-5658-CFAD-8A2C-8F44EAC66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6F9984-3D08-80CA-9536-BA8E18EA773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5736D4-49F3-0B13-F286-272141C3BD7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8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593B70B0-9A9D-F99F-9E63-1B086806AD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E5787-775A-4E42-2320-6DA2E6CBAE6E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D2E09C-3014-829B-BD7A-2BE665C4DFEC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84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4" name="Picture 3" descr="A logo with a crown&#10;&#10;Description automatically generated">
            <a:extLst>
              <a:ext uri="{FF2B5EF4-FFF2-40B4-BE49-F238E27FC236}">
                <a16:creationId xmlns:a16="http://schemas.microsoft.com/office/drawing/2014/main" id="{E0092B73-EDD0-9376-02C6-D9B62F581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84FE9-6B27-628D-0302-26763B5C561D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A52979-DE77-9C5A-B409-290ABAD61873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80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3" name="Freeform: Shape 5">
            <a:extLst>
              <a:ext uri="{FF2B5EF4-FFF2-40B4-BE49-F238E27FC236}">
                <a16:creationId xmlns:a16="http://schemas.microsoft.com/office/drawing/2014/main" id="{13392F38-D3A8-47E9-458D-FCC8E7D887DD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1A27A9EF-5A5E-4671-2A18-8E4E47AA4208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A67EE5C4-21D9-73B2-C6B0-B11B196E7363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7" name="Picture 6" descr="A logo with a crown&#10;&#10;Description automatically generated">
            <a:extLst>
              <a:ext uri="{FF2B5EF4-FFF2-40B4-BE49-F238E27FC236}">
                <a16:creationId xmlns:a16="http://schemas.microsoft.com/office/drawing/2014/main" id="{DCCB100D-7755-6B12-E956-A79197E79E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B3717-6D9B-B138-5252-65FD3074DA4B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887E12-9A7F-0D76-1AFE-0BFC5672F1A4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1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5A3ACB7A-B0C9-6744-0C1C-7561B8F5E27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6">
            <a:extLst>
              <a:ext uri="{FF2B5EF4-FFF2-40B4-BE49-F238E27FC236}">
                <a16:creationId xmlns:a16="http://schemas.microsoft.com/office/drawing/2014/main" id="{89FFA020-313A-3281-8CF6-27856F16F753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6C34495B-A0F8-713E-E83F-435C1800EB8F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09F74EAC-1F6B-E923-BD00-D16EFF564534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4" name="Picture 13" descr="A logo with a crown&#10;&#10;Description automatically generated">
            <a:extLst>
              <a:ext uri="{FF2B5EF4-FFF2-40B4-BE49-F238E27FC236}">
                <a16:creationId xmlns:a16="http://schemas.microsoft.com/office/drawing/2014/main" id="{FF9A5411-DC8E-E52E-BDDE-0612F4E90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AA5D00-8DD2-30A7-B616-F60792F749B9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0C43AEC-1DB1-AA98-FAFD-384CA455B76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8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709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634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FDBE8922-EA97-52DF-8899-DA42B074BC21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92DDB195-BB90-9167-8EF3-2195913B9AD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9C679D6F-52C2-58C9-A366-6597A31F0C20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92F11A42-17BF-DAD3-4FEF-DACCD1F37609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63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Confidential | @2025 ServiceWow. All Rights Reserved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90736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D95ECE17-6113-300F-8980-E757B717409A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" name="Freeform: Shape 26">
            <a:extLst>
              <a:ext uri="{FF2B5EF4-FFF2-40B4-BE49-F238E27FC236}">
                <a16:creationId xmlns:a16="http://schemas.microsoft.com/office/drawing/2014/main" id="{19259001-34E0-A1EF-E833-E737FB4F256E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Freeform: Shape 27">
            <a:extLst>
              <a:ext uri="{FF2B5EF4-FFF2-40B4-BE49-F238E27FC236}">
                <a16:creationId xmlns:a16="http://schemas.microsoft.com/office/drawing/2014/main" id="{5F2904B8-2FF4-FE7C-AABC-77B0542DD038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" name="Freeform: Shape 28">
            <a:extLst>
              <a:ext uri="{FF2B5EF4-FFF2-40B4-BE49-F238E27FC236}">
                <a16:creationId xmlns:a16="http://schemas.microsoft.com/office/drawing/2014/main" id="{91E281E0-E27F-316F-B835-3BE4D111F0F7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29">
            <a:extLst>
              <a:ext uri="{FF2B5EF4-FFF2-40B4-BE49-F238E27FC236}">
                <a16:creationId xmlns:a16="http://schemas.microsoft.com/office/drawing/2014/main" id="{C71408D2-A5E9-3744-E8D5-9D2C7EE1C855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0" name="Freeform: Shape 30">
            <a:extLst>
              <a:ext uri="{FF2B5EF4-FFF2-40B4-BE49-F238E27FC236}">
                <a16:creationId xmlns:a16="http://schemas.microsoft.com/office/drawing/2014/main" id="{AE56CB67-1BB9-BAC8-09E9-7353CE85FCE6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1" name="Freeform: Shape 31">
            <a:extLst>
              <a:ext uri="{FF2B5EF4-FFF2-40B4-BE49-F238E27FC236}">
                <a16:creationId xmlns:a16="http://schemas.microsoft.com/office/drawing/2014/main" id="{6FC02613-BF99-EC06-88D6-0AED79BD76EB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2" name="Freeform: Shape 34">
            <a:extLst>
              <a:ext uri="{FF2B5EF4-FFF2-40B4-BE49-F238E27FC236}">
                <a16:creationId xmlns:a16="http://schemas.microsoft.com/office/drawing/2014/main" id="{EDFD5414-9863-8249-A3E1-4F9A3BA30941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3" name="Freeform: Shape 45">
            <a:extLst>
              <a:ext uri="{FF2B5EF4-FFF2-40B4-BE49-F238E27FC236}">
                <a16:creationId xmlns:a16="http://schemas.microsoft.com/office/drawing/2014/main" id="{A0D1433A-BA7B-BAE4-0FC6-095541DA3B06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46">
            <a:extLst>
              <a:ext uri="{FF2B5EF4-FFF2-40B4-BE49-F238E27FC236}">
                <a16:creationId xmlns:a16="http://schemas.microsoft.com/office/drawing/2014/main" id="{4FD2C3EE-A618-188A-D52C-1FB5C2DB5095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5" name="Freeform: Shape 47">
            <a:extLst>
              <a:ext uri="{FF2B5EF4-FFF2-40B4-BE49-F238E27FC236}">
                <a16:creationId xmlns:a16="http://schemas.microsoft.com/office/drawing/2014/main" id="{8F054020-80C9-2B40-FD7B-D2D471FD2876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6" name="Freeform: Shape 48">
            <a:extLst>
              <a:ext uri="{FF2B5EF4-FFF2-40B4-BE49-F238E27FC236}">
                <a16:creationId xmlns:a16="http://schemas.microsoft.com/office/drawing/2014/main" id="{1E675F91-FC4F-6F86-8B30-1B2D0CAADC82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7" name="Freeform: Shape 49">
            <a:extLst>
              <a:ext uri="{FF2B5EF4-FFF2-40B4-BE49-F238E27FC236}">
                <a16:creationId xmlns:a16="http://schemas.microsoft.com/office/drawing/2014/main" id="{4A4C5EDD-33C1-1B2E-69B8-BBC9F2880771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8" name="Freeform: Shape 50">
            <a:extLst>
              <a:ext uri="{FF2B5EF4-FFF2-40B4-BE49-F238E27FC236}">
                <a16:creationId xmlns:a16="http://schemas.microsoft.com/office/drawing/2014/main" id="{CBABAEFD-E9A2-8BD6-2750-D2F4D4A16BB8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9" name="Freeform: Shape 51">
            <a:extLst>
              <a:ext uri="{FF2B5EF4-FFF2-40B4-BE49-F238E27FC236}">
                <a16:creationId xmlns:a16="http://schemas.microsoft.com/office/drawing/2014/main" id="{DC403B29-E3CF-AD3A-5744-C7F3C4883CBC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0" name="Freeform: Shape 52">
            <a:extLst>
              <a:ext uri="{FF2B5EF4-FFF2-40B4-BE49-F238E27FC236}">
                <a16:creationId xmlns:a16="http://schemas.microsoft.com/office/drawing/2014/main" id="{C61D323C-922C-316E-0255-F38324B1E1F4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1" name="Freeform: Shape 53">
            <a:extLst>
              <a:ext uri="{FF2B5EF4-FFF2-40B4-BE49-F238E27FC236}">
                <a16:creationId xmlns:a16="http://schemas.microsoft.com/office/drawing/2014/main" id="{9A69E028-D961-DF20-A3D2-23628082C9E1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2" name="Freeform: Shape 54">
            <a:extLst>
              <a:ext uri="{FF2B5EF4-FFF2-40B4-BE49-F238E27FC236}">
                <a16:creationId xmlns:a16="http://schemas.microsoft.com/office/drawing/2014/main" id="{41F59892-41A7-C30F-1AF9-0DB2B1DCDFD6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3" name="Freeform: Shape 55">
            <a:extLst>
              <a:ext uri="{FF2B5EF4-FFF2-40B4-BE49-F238E27FC236}">
                <a16:creationId xmlns:a16="http://schemas.microsoft.com/office/drawing/2014/main" id="{3A283FEE-D257-9310-6541-681B9AAE237B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863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06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8CEEB1BB-C35C-FF66-A61C-C84ECD3662E7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Freeform 15">
            <a:extLst>
              <a:ext uri="{FF2B5EF4-FFF2-40B4-BE49-F238E27FC236}">
                <a16:creationId xmlns:a16="http://schemas.microsoft.com/office/drawing/2014/main" id="{1532ACFA-B782-DA04-3CB2-E2FD9CBA3B1B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Freeform: Shape 24">
            <a:extLst>
              <a:ext uri="{FF2B5EF4-FFF2-40B4-BE49-F238E27FC236}">
                <a16:creationId xmlns:a16="http://schemas.microsoft.com/office/drawing/2014/main" id="{AFEE9FB2-14A7-999C-7857-549663B6752E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53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6954258" y="6217920"/>
            <a:ext cx="4114800" cy="3651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Confidential | @2025 ServiceWow.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4" name="Freeform: Shape 25">
            <a:extLst>
              <a:ext uri="{FF2B5EF4-FFF2-40B4-BE49-F238E27FC236}">
                <a16:creationId xmlns:a16="http://schemas.microsoft.com/office/drawing/2014/main" id="{30723C91-463B-67A9-FB31-379B8E823A75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23D06D76-09A1-0DB5-9197-8F24E71781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" name="Freeform 46">
            <a:extLst>
              <a:ext uri="{FF2B5EF4-FFF2-40B4-BE49-F238E27FC236}">
                <a16:creationId xmlns:a16="http://schemas.microsoft.com/office/drawing/2014/main" id="{8DF9BB61-B257-09F3-569E-4B91A5BEECA9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Hexagon 15">
            <a:extLst>
              <a:ext uri="{FF2B5EF4-FFF2-40B4-BE49-F238E27FC236}">
                <a16:creationId xmlns:a16="http://schemas.microsoft.com/office/drawing/2014/main" id="{4E3D3082-C7F9-809D-9857-6AC0E9B1B68F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Hexagon 17">
            <a:extLst>
              <a:ext uri="{FF2B5EF4-FFF2-40B4-BE49-F238E27FC236}">
                <a16:creationId xmlns:a16="http://schemas.microsoft.com/office/drawing/2014/main" id="{1FF07CEA-CF9B-EEEB-3C46-5A613D3EC781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Hexagon 19">
            <a:extLst>
              <a:ext uri="{FF2B5EF4-FFF2-40B4-BE49-F238E27FC236}">
                <a16:creationId xmlns:a16="http://schemas.microsoft.com/office/drawing/2014/main" id="{5108FE8B-F99E-67B8-37D4-2254FFFA9C2A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Hexagon 21">
            <a:extLst>
              <a:ext uri="{FF2B5EF4-FFF2-40B4-BE49-F238E27FC236}">
                <a16:creationId xmlns:a16="http://schemas.microsoft.com/office/drawing/2014/main" id="{303B5DF6-FDFB-4F9A-CDBA-7A9B8A338E80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 43">
            <a:extLst>
              <a:ext uri="{FF2B5EF4-FFF2-40B4-BE49-F238E27FC236}">
                <a16:creationId xmlns:a16="http://schemas.microsoft.com/office/drawing/2014/main" id="{5420840F-B1BA-0BCE-2E68-C97C8A0A84C3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Hexagon 27">
            <a:extLst>
              <a:ext uri="{FF2B5EF4-FFF2-40B4-BE49-F238E27FC236}">
                <a16:creationId xmlns:a16="http://schemas.microsoft.com/office/drawing/2014/main" id="{1E3EB9D9-D382-C3B9-10ED-61111410F4CC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Hexagon 28">
            <a:extLst>
              <a:ext uri="{FF2B5EF4-FFF2-40B4-BE49-F238E27FC236}">
                <a16:creationId xmlns:a16="http://schemas.microsoft.com/office/drawing/2014/main" id="{D866B6A5-04E1-9067-4727-D55BA3AC7395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42">
            <a:extLst>
              <a:ext uri="{FF2B5EF4-FFF2-40B4-BE49-F238E27FC236}">
                <a16:creationId xmlns:a16="http://schemas.microsoft.com/office/drawing/2014/main" id="{5720A854-B8D7-B230-1A22-51C93610FD70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7" name="Hexagon 31">
            <a:extLst>
              <a:ext uri="{FF2B5EF4-FFF2-40B4-BE49-F238E27FC236}">
                <a16:creationId xmlns:a16="http://schemas.microsoft.com/office/drawing/2014/main" id="{04325738-0FCF-D515-4665-6AE6A8EFECC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9" name="Freeform 45">
            <a:extLst>
              <a:ext uri="{FF2B5EF4-FFF2-40B4-BE49-F238E27FC236}">
                <a16:creationId xmlns:a16="http://schemas.microsoft.com/office/drawing/2014/main" id="{CA863A24-78F5-690C-A073-132576DC1F90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 39">
            <a:extLst>
              <a:ext uri="{FF2B5EF4-FFF2-40B4-BE49-F238E27FC236}">
                <a16:creationId xmlns:a16="http://schemas.microsoft.com/office/drawing/2014/main" id="{254A0D4D-F4C5-2CDD-7112-C55A2C0C3D2B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1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954258" y="631686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04002" y="6316864"/>
            <a:ext cx="458592" cy="365125"/>
          </a:xfrm>
        </p:spPr>
        <p:txBody>
          <a:bodyPr/>
          <a:lstStyle/>
          <a:p>
            <a:fld id="{57C6766F-3134-40E5-95A4-B13AE993C634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 descr="A logo with a crown&#10;&#10;Description automatically generated">
            <a:extLst>
              <a:ext uri="{FF2B5EF4-FFF2-40B4-BE49-F238E27FC236}">
                <a16:creationId xmlns:a16="http://schemas.microsoft.com/office/drawing/2014/main" id="{FB3F38D7-ADDC-BF22-01AD-F44AFDD227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4F96E-843E-A87C-A844-83954F4AFEA0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E6B87B-7DBE-CF7B-F8C1-70DE9B023E28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65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5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pic>
        <p:nvPicPr>
          <p:cNvPr id="2" name="Picture 1" descr="A logo with a crown&#10;&#10;Description automatically generated">
            <a:extLst>
              <a:ext uri="{FF2B5EF4-FFF2-40B4-BE49-F238E27FC236}">
                <a16:creationId xmlns:a16="http://schemas.microsoft.com/office/drawing/2014/main" id="{ADE478DC-0703-D93B-2B7A-57E5D69996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15" y="6272870"/>
            <a:ext cx="527941" cy="4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377B0-F310-70CC-3029-479FAD3E7E26}"/>
              </a:ext>
            </a:extLst>
          </p:cNvPr>
          <p:cNvSpPr txBox="1"/>
          <p:nvPr userDrawn="1"/>
        </p:nvSpPr>
        <p:spPr>
          <a:xfrm>
            <a:off x="394134" y="6333181"/>
            <a:ext cx="1388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kern="1200" dirty="0">
                <a:solidFill>
                  <a:schemeClr val="tx2">
                    <a:lumMod val="25000"/>
                    <a:lumOff val="75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rPr>
              <a:t>ServiceWow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08908A-3C45-C2BA-00C5-52D3E2120062}"/>
              </a:ext>
            </a:extLst>
          </p:cNvPr>
          <p:cNvCxnSpPr>
            <a:cxnSpLocks/>
          </p:cNvCxnSpPr>
          <p:nvPr userDrawn="1"/>
        </p:nvCxnSpPr>
        <p:spPr>
          <a:xfrm>
            <a:off x="1630515" y="6272870"/>
            <a:ext cx="0" cy="5340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0DA063-EFAA-B116-1829-DE1976E8E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5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  <p:sldLayoutId id="2147484273" r:id="rId2"/>
    <p:sldLayoutId id="2147484274" r:id="rId3"/>
    <p:sldLayoutId id="2147484275" r:id="rId4"/>
    <p:sldLayoutId id="2147484276" r:id="rId5"/>
    <p:sldLayoutId id="2147484277" r:id="rId6"/>
    <p:sldLayoutId id="2147484278" r:id="rId7"/>
    <p:sldLayoutId id="2147484279" r:id="rId8"/>
    <p:sldLayoutId id="2147484280" r:id="rId9"/>
    <p:sldLayoutId id="2147484281" r:id="rId10"/>
    <p:sldLayoutId id="2147484282" r:id="rId11"/>
    <p:sldLayoutId id="2147484283" r:id="rId12"/>
    <p:sldLayoutId id="2147484284" r:id="rId13"/>
    <p:sldLayoutId id="2147484285" r:id="rId14"/>
    <p:sldLayoutId id="2147484286" r:id="rId15"/>
    <p:sldLayoutId id="2147484287" r:id="rId16"/>
    <p:sldLayoutId id="2147484288" r:id="rId17"/>
    <p:sldLayoutId id="2147484289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7.sv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7255" y="4251704"/>
            <a:ext cx="2852647" cy="760288"/>
          </a:xfrm>
        </p:spPr>
        <p:txBody>
          <a:bodyPr/>
          <a:lstStyle/>
          <a:p>
            <a:r>
              <a:rPr lang="en-US" dirty="0"/>
              <a:t>Vaibhav Maheshwari</a:t>
            </a:r>
          </a:p>
          <a:p>
            <a:r>
              <a:rPr lang="en-US" dirty="0"/>
              <a:t>Architect @</a:t>
            </a:r>
            <a:r>
              <a:rPr lang="en-US" dirty="0" err="1"/>
              <a:t>ServiceWow</a:t>
            </a:r>
            <a:r>
              <a:rPr lang="en-US" dirty="0"/>
              <a:t> 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/>
      </p:pic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7FB793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C981278-5DDD-7E76-0CED-FE794E757691}"/>
              </a:ext>
            </a:extLst>
          </p:cNvPr>
          <p:cNvSpPr txBox="1">
            <a:spLocks/>
          </p:cNvSpPr>
          <p:nvPr/>
        </p:nvSpPr>
        <p:spPr>
          <a:xfrm>
            <a:off x="907255" y="2141570"/>
            <a:ext cx="5257793" cy="2057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Sovereign Bank</a:t>
            </a:r>
            <a:br>
              <a:rPr lang="en-US" altLang="zh-CN" dirty="0"/>
            </a:br>
            <a:r>
              <a:rPr lang="en-US" altLang="zh-CN" sz="2800" dirty="0"/>
              <a:t>Service Portal, AI/GenAI Strategy and Virtual Agent Strategy</a:t>
            </a:r>
            <a:endParaRPr lang="en-US" sz="2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162B1A-716A-524C-4BB8-677688B94333}"/>
              </a:ext>
            </a:extLst>
          </p:cNvPr>
          <p:cNvGrpSpPr/>
          <p:nvPr/>
        </p:nvGrpSpPr>
        <p:grpSpPr>
          <a:xfrm>
            <a:off x="394134" y="6272870"/>
            <a:ext cx="1764322" cy="534076"/>
            <a:chOff x="394134" y="6272870"/>
            <a:chExt cx="1764322" cy="534076"/>
          </a:xfrm>
        </p:grpSpPr>
        <p:pic>
          <p:nvPicPr>
            <p:cNvPr id="8" name="Picture 7" descr="A logo with a crown&#10;&#10;Description automatically generated">
              <a:extLst>
                <a:ext uri="{FF2B5EF4-FFF2-40B4-BE49-F238E27FC236}">
                  <a16:creationId xmlns:a16="http://schemas.microsoft.com/office/drawing/2014/main" id="{040A3C40-A419-B0FF-7502-B948F15FE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515" y="6272870"/>
              <a:ext cx="527941" cy="453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92B895-6A28-732F-8D5C-ED6283662B64}"/>
                </a:ext>
              </a:extLst>
            </p:cNvPr>
            <p:cNvSpPr txBox="1"/>
            <p:nvPr/>
          </p:nvSpPr>
          <p:spPr>
            <a:xfrm>
              <a:off x="394134" y="6333181"/>
              <a:ext cx="1388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i="0" kern="12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Aptos Display" panose="020B0004020202020204" pitchFamily="34" charset="0"/>
                  <a:ea typeface="+mn-ea"/>
                  <a:cs typeface="+mn-cs"/>
                </a:rPr>
                <a:t>ServiceWow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D8163AB-4F13-DB27-5959-0A915484E70A}"/>
                </a:ext>
              </a:extLst>
            </p:cNvPr>
            <p:cNvCxnSpPr>
              <a:cxnSpLocks/>
            </p:cNvCxnSpPr>
            <p:nvPr/>
          </p:nvCxnSpPr>
          <p:spPr>
            <a:xfrm>
              <a:off x="1630515" y="6272870"/>
              <a:ext cx="0" cy="5340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C3A2A2-3C4A-4BD8-EEE7-0B5EFB1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73715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3745-A912-5EF4-4F1B-EE858C2D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BD5438A-CE3F-42C7-C39B-89DB6C5DBABF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ABA000E0-6057-3E6B-18D1-E971550ABF0E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14822D-F536-9F24-FE59-56CEEDF9E0F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36B0B8-AA70-45EA-D20C-75326A87C9CD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AD9AC2-7711-D464-D9FF-172890A81582}"/>
              </a:ext>
            </a:extLst>
          </p:cNvPr>
          <p:cNvSpPr txBox="1">
            <a:spLocks/>
          </p:cNvSpPr>
          <p:nvPr/>
        </p:nvSpPr>
        <p:spPr>
          <a:xfrm>
            <a:off x="987684" y="2668650"/>
            <a:ext cx="5214191" cy="11958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900" dirty="0">
                <a:solidFill>
                  <a:srgbClr val="80B894"/>
                </a:solidFill>
                <a:latin typeface="Aptos Display" panose="020B0004020202020204" pitchFamily="34" charset="0"/>
              </a:rPr>
              <a:t>Agenda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7854FEC5-DAC6-9D52-8D6F-2C5A961AD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39464"/>
              </p:ext>
            </p:extLst>
          </p:nvPr>
        </p:nvGraphicFramePr>
        <p:xfrm>
          <a:off x="5678285" y="1389770"/>
          <a:ext cx="5668040" cy="3853063"/>
        </p:xfrm>
        <a:graphic>
          <a:graphicData uri="http://schemas.openxmlformats.org/drawingml/2006/table">
            <a:tbl>
              <a:tblPr firstRow="1" bandRow="1"/>
              <a:tblGrid>
                <a:gridCol w="5668040">
                  <a:extLst>
                    <a:ext uri="{9D8B030D-6E8A-4147-A177-3AD203B41FA5}">
                      <a16:colId xmlns:a16="http://schemas.microsoft.com/office/drawing/2014/main" val="1011347985"/>
                    </a:ext>
                  </a:extLst>
                </a:gridCol>
              </a:tblGrid>
              <a:tr h="744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Goals and Challenges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97526"/>
                  </a:ext>
                </a:extLst>
              </a:tr>
              <a:tr h="7239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Service Portal Strategy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640011"/>
                  </a:ext>
                </a:extLst>
              </a:tr>
              <a:tr h="7390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AI and Generative AI Strategy</a:t>
                      </a:r>
                      <a:endParaRPr lang="en-US" sz="2400" b="1" i="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37891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Virtual Agent and Chat functionality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612384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noProof="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Next Steps &amp; Key Takeaways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248878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15A7239-3D90-09EB-0781-F00C6D07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7640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2" y="565646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Addressing Sovereign Bank's Needs</a:t>
            </a:r>
          </a:p>
        </p:txBody>
      </p:sp>
      <p:sp>
        <p:nvSpPr>
          <p:cNvPr id="4" name="Shape 1"/>
          <p:cNvSpPr/>
          <p:nvPr/>
        </p:nvSpPr>
        <p:spPr>
          <a:xfrm>
            <a:off x="5233492" y="2243038"/>
            <a:ext cx="425252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384" y="2278460"/>
            <a:ext cx="283468" cy="3544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7755" y="2243038"/>
            <a:ext cx="24946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Omnichannel Support</a:t>
            </a:r>
          </a:p>
        </p:txBody>
      </p:sp>
      <p:sp>
        <p:nvSpPr>
          <p:cNvPr id="7" name="Text 3"/>
          <p:cNvSpPr/>
          <p:nvPr/>
        </p:nvSpPr>
        <p:spPr>
          <a:xfrm>
            <a:off x="5847756" y="2651721"/>
            <a:ext cx="5682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Unified customer support desk</a:t>
            </a:r>
          </a:p>
        </p:txBody>
      </p:sp>
      <p:sp>
        <p:nvSpPr>
          <p:cNvPr id="8" name="Shape 4"/>
          <p:cNvSpPr/>
          <p:nvPr/>
        </p:nvSpPr>
        <p:spPr>
          <a:xfrm>
            <a:off x="5233492" y="3355777"/>
            <a:ext cx="425252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384" y="3391198"/>
            <a:ext cx="283468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47755" y="335577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Contact Center</a:t>
            </a:r>
          </a:p>
        </p:txBody>
      </p:sp>
      <p:sp>
        <p:nvSpPr>
          <p:cNvPr id="11" name="Text 6"/>
          <p:cNvSpPr/>
          <p:nvPr/>
        </p:nvSpPr>
        <p:spPr>
          <a:xfrm>
            <a:off x="5847756" y="3764459"/>
            <a:ext cx="5682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Consolidated communication hub</a:t>
            </a:r>
          </a:p>
        </p:txBody>
      </p:sp>
      <p:sp>
        <p:nvSpPr>
          <p:cNvPr id="12" name="Shape 7"/>
          <p:cNvSpPr/>
          <p:nvPr/>
        </p:nvSpPr>
        <p:spPr>
          <a:xfrm>
            <a:off x="5233492" y="4468515"/>
            <a:ext cx="425252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384" y="4503936"/>
            <a:ext cx="283468" cy="3544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47755" y="446851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GenAI Productivity</a:t>
            </a:r>
          </a:p>
        </p:txBody>
      </p:sp>
      <p:sp>
        <p:nvSpPr>
          <p:cNvPr id="15" name="Text 9"/>
          <p:cNvSpPr/>
          <p:nvPr/>
        </p:nvSpPr>
        <p:spPr>
          <a:xfrm>
            <a:off x="5847756" y="4877197"/>
            <a:ext cx="5682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Enhanced</a:t>
            </a: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agent efficiency</a:t>
            </a:r>
          </a:p>
        </p:txBody>
      </p:sp>
      <p:sp>
        <p:nvSpPr>
          <p:cNvPr id="16" name="Shape 10"/>
          <p:cNvSpPr/>
          <p:nvPr/>
        </p:nvSpPr>
        <p:spPr>
          <a:xfrm>
            <a:off x="5233492" y="5581253"/>
            <a:ext cx="425252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4384" y="5616675"/>
            <a:ext cx="283468" cy="35440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47755" y="558125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0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Process Automation</a:t>
            </a:r>
          </a:p>
        </p:txBody>
      </p:sp>
      <p:sp>
        <p:nvSpPr>
          <p:cNvPr id="19" name="Text 12"/>
          <p:cNvSpPr/>
          <p:nvPr/>
        </p:nvSpPr>
        <p:spPr>
          <a:xfrm>
            <a:off x="5847756" y="5989936"/>
            <a:ext cx="5682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Enterprise-wide simplification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74F148-6254-1EDF-8178-87446A7C0022}"/>
              </a:ext>
            </a:extLst>
          </p:cNvPr>
          <p:cNvSpPr txBox="1"/>
          <p:nvPr/>
        </p:nvSpPr>
        <p:spPr>
          <a:xfrm>
            <a:off x="11832935" y="6553200"/>
            <a:ext cx="1847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A63340-4B6D-3510-4A08-08CE7FD9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F5F7FF5-9187-ECEF-997A-00C7CD4102DC}"/>
              </a:ext>
            </a:extLst>
          </p:cNvPr>
          <p:cNvSpPr/>
          <p:nvPr/>
        </p:nvSpPr>
        <p:spPr>
          <a:xfrm>
            <a:off x="2765150" y="1246114"/>
            <a:ext cx="2048933" cy="1485900"/>
          </a:xfrm>
          <a:custGeom>
            <a:avLst/>
            <a:gdLst>
              <a:gd name="connsiteX0" fmla="*/ 0 w 2048933"/>
              <a:gd name="connsiteY0" fmla="*/ 1485900 h 1485900"/>
              <a:gd name="connsiteX1" fmla="*/ 1024466 w 2048933"/>
              <a:gd name="connsiteY1" fmla="*/ 0 h 1485900"/>
              <a:gd name="connsiteX2" fmla="*/ 1024467 w 2048933"/>
              <a:gd name="connsiteY2" fmla="*/ 0 h 1485900"/>
              <a:gd name="connsiteX3" fmla="*/ 2048933 w 2048933"/>
              <a:gd name="connsiteY3" fmla="*/ 1485900 h 1485900"/>
              <a:gd name="connsiteX4" fmla="*/ 0 w 2048933"/>
              <a:gd name="connsiteY4" fmla="*/ 148590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8933" h="1485900">
                <a:moveTo>
                  <a:pt x="0" y="1485900"/>
                </a:moveTo>
                <a:lnTo>
                  <a:pt x="1024466" y="0"/>
                </a:lnTo>
                <a:lnTo>
                  <a:pt x="1024467" y="0"/>
                </a:lnTo>
                <a:lnTo>
                  <a:pt x="2048933" y="1485900"/>
                </a:lnTo>
                <a:lnTo>
                  <a:pt x="0" y="1485900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0" tIns="82550" rIns="82550" bIns="82550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500" kern="1200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4F5F7C8-15D9-03C0-448F-D93E55F9D786}"/>
              </a:ext>
            </a:extLst>
          </p:cNvPr>
          <p:cNvSpPr/>
          <p:nvPr/>
        </p:nvSpPr>
        <p:spPr>
          <a:xfrm>
            <a:off x="1740684" y="2789663"/>
            <a:ext cx="4097866" cy="1485900"/>
          </a:xfrm>
          <a:custGeom>
            <a:avLst/>
            <a:gdLst>
              <a:gd name="connsiteX0" fmla="*/ 0 w 4097866"/>
              <a:gd name="connsiteY0" fmla="*/ 1485900 h 1485900"/>
              <a:gd name="connsiteX1" fmla="*/ 1024469 w 4097866"/>
              <a:gd name="connsiteY1" fmla="*/ 0 h 1485900"/>
              <a:gd name="connsiteX2" fmla="*/ 3073397 w 4097866"/>
              <a:gd name="connsiteY2" fmla="*/ 0 h 1485900"/>
              <a:gd name="connsiteX3" fmla="*/ 4097866 w 4097866"/>
              <a:gd name="connsiteY3" fmla="*/ 1485900 h 1485900"/>
              <a:gd name="connsiteX4" fmla="*/ 0 w 4097866"/>
              <a:gd name="connsiteY4" fmla="*/ 148590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866" h="1485900">
                <a:moveTo>
                  <a:pt x="0" y="1485900"/>
                </a:moveTo>
                <a:lnTo>
                  <a:pt x="1024469" y="0"/>
                </a:lnTo>
                <a:lnTo>
                  <a:pt x="3073397" y="0"/>
                </a:lnTo>
                <a:lnTo>
                  <a:pt x="4097866" y="1485900"/>
                </a:lnTo>
                <a:lnTo>
                  <a:pt x="0" y="1485900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9677" tIns="82550" rIns="799676" bIns="82550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500" kern="12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0C5266C-84FF-596C-7205-7FB8A3DFB19A}"/>
              </a:ext>
            </a:extLst>
          </p:cNvPr>
          <p:cNvSpPr/>
          <p:nvPr/>
        </p:nvSpPr>
        <p:spPr>
          <a:xfrm>
            <a:off x="716219" y="4325093"/>
            <a:ext cx="6146800" cy="1485900"/>
          </a:xfrm>
          <a:custGeom>
            <a:avLst/>
            <a:gdLst>
              <a:gd name="connsiteX0" fmla="*/ 0 w 6146800"/>
              <a:gd name="connsiteY0" fmla="*/ 1485900 h 1485900"/>
              <a:gd name="connsiteX1" fmla="*/ 1024469 w 6146800"/>
              <a:gd name="connsiteY1" fmla="*/ 0 h 1485900"/>
              <a:gd name="connsiteX2" fmla="*/ 5122331 w 6146800"/>
              <a:gd name="connsiteY2" fmla="*/ 0 h 1485900"/>
              <a:gd name="connsiteX3" fmla="*/ 6146800 w 6146800"/>
              <a:gd name="connsiteY3" fmla="*/ 1485900 h 1485900"/>
              <a:gd name="connsiteX4" fmla="*/ 0 w 6146800"/>
              <a:gd name="connsiteY4" fmla="*/ 148590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46800" h="1485900">
                <a:moveTo>
                  <a:pt x="0" y="1485900"/>
                </a:moveTo>
                <a:lnTo>
                  <a:pt x="1024469" y="0"/>
                </a:lnTo>
                <a:lnTo>
                  <a:pt x="5122331" y="0"/>
                </a:lnTo>
                <a:lnTo>
                  <a:pt x="6146800" y="1485900"/>
                </a:lnTo>
                <a:lnTo>
                  <a:pt x="0" y="1485900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58239" tIns="82550" rIns="1158241" bIns="82550" numCol="1" spcCol="1270" anchor="ctr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500" kern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8EF0632-5112-B967-9125-DAA18D5A8BAC}"/>
              </a:ext>
            </a:extLst>
          </p:cNvPr>
          <p:cNvSpPr/>
          <p:nvPr/>
        </p:nvSpPr>
        <p:spPr>
          <a:xfrm>
            <a:off x="5022114" y="1981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Improve Metrics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1350506-F213-3804-FC84-3B0ABAA20CD1}"/>
              </a:ext>
            </a:extLst>
          </p:cNvPr>
          <p:cNvSpPr/>
          <p:nvPr/>
        </p:nvSpPr>
        <p:spPr>
          <a:xfrm>
            <a:off x="5022114" y="2344619"/>
            <a:ext cx="39428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Decrease MTTR, increase deflection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6026C45-B9F6-BA36-4245-66C621B5FDDB}"/>
              </a:ext>
            </a:extLst>
          </p:cNvPr>
          <p:cNvSpPr/>
          <p:nvPr/>
        </p:nvSpPr>
        <p:spPr>
          <a:xfrm flipV="1">
            <a:off x="4851974" y="2751228"/>
            <a:ext cx="6738822" cy="45719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699EBAE-6F87-CFDA-3118-C64211ECF665}"/>
              </a:ext>
            </a:extLst>
          </p:cNvPr>
          <p:cNvSpPr/>
          <p:nvPr/>
        </p:nvSpPr>
        <p:spPr>
          <a:xfrm>
            <a:off x="6096000" y="3320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GenAI Pilot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B8FA98E-0537-63B1-6F38-E908CA78F2DF}"/>
              </a:ext>
            </a:extLst>
          </p:cNvPr>
          <p:cNvSpPr/>
          <p:nvPr/>
        </p:nvSpPr>
        <p:spPr>
          <a:xfrm>
            <a:off x="6098201" y="3708242"/>
            <a:ext cx="40593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New implementation requiring testing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4F691F0-71B8-24D4-EBF9-99AEFCB0D654}"/>
              </a:ext>
            </a:extLst>
          </p:cNvPr>
          <p:cNvSpPr/>
          <p:nvPr/>
        </p:nvSpPr>
        <p:spPr>
          <a:xfrm flipV="1">
            <a:off x="5928061" y="4265336"/>
            <a:ext cx="5662735" cy="45719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C2D40FE-A4DC-20D9-BC03-E8FF23E026C0}"/>
              </a:ext>
            </a:extLst>
          </p:cNvPr>
          <p:cNvSpPr/>
          <p:nvPr/>
        </p:nvSpPr>
        <p:spPr>
          <a:xfrm>
            <a:off x="7174169" y="4719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Multiple Channels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B425519-77B8-E69D-CBEB-1090AACED992}"/>
              </a:ext>
            </a:extLst>
          </p:cNvPr>
          <p:cNvSpPr/>
          <p:nvPr/>
        </p:nvSpPr>
        <p:spPr>
          <a:xfrm>
            <a:off x="7174169" y="5071864"/>
            <a:ext cx="37451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Web, phone, email, various portals</a:t>
            </a:r>
          </a:p>
        </p:txBody>
      </p:sp>
      <p:pic>
        <p:nvPicPr>
          <p:cNvPr id="19" name="Graphic 18" descr="Bar graph with upward trend with solid fill">
            <a:extLst>
              <a:ext uri="{FF2B5EF4-FFF2-40B4-BE49-F238E27FC236}">
                <a16:creationId xmlns:a16="http://schemas.microsoft.com/office/drawing/2014/main" id="{BAB92DA2-E32A-9A85-D8C6-72406FC7A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467" y="1862457"/>
            <a:ext cx="622300" cy="622300"/>
          </a:xfrm>
          <a:prstGeom prst="rect">
            <a:avLst/>
          </a:prstGeom>
        </p:spPr>
      </p:pic>
      <p:pic>
        <p:nvPicPr>
          <p:cNvPr id="21" name="Graphic 20" descr="Artificial Intelligence with solid fill">
            <a:extLst>
              <a:ext uri="{FF2B5EF4-FFF2-40B4-BE49-F238E27FC236}">
                <a16:creationId xmlns:a16="http://schemas.microsoft.com/office/drawing/2014/main" id="{CD202FF0-2CFA-E5AA-55F2-F70EBFD26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897" y="3197178"/>
            <a:ext cx="670870" cy="670870"/>
          </a:xfrm>
          <a:prstGeom prst="rect">
            <a:avLst/>
          </a:prstGeom>
        </p:spPr>
      </p:pic>
      <p:pic>
        <p:nvPicPr>
          <p:cNvPr id="25" name="Graphic 24" descr="Branching diagram with solid fill">
            <a:extLst>
              <a:ext uri="{FF2B5EF4-FFF2-40B4-BE49-F238E27FC236}">
                <a16:creationId xmlns:a16="http://schemas.microsoft.com/office/drawing/2014/main" id="{BE023051-FA6B-DCE1-10CA-9CC27CCA60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895" y="4763896"/>
            <a:ext cx="670871" cy="670871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9FCA86A2-E775-B8A2-1533-4BB46E611FD9}"/>
              </a:ext>
            </a:extLst>
          </p:cNvPr>
          <p:cNvSpPr txBox="1">
            <a:spLocks/>
          </p:cNvSpPr>
          <p:nvPr/>
        </p:nvSpPr>
        <p:spPr>
          <a:xfrm>
            <a:off x="845675" y="419285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Current Challenges</a:t>
            </a:r>
          </a:p>
        </p:txBody>
      </p:sp>
    </p:spTree>
    <p:extLst>
      <p:ext uri="{BB962C8B-B14F-4D97-AF65-F5344CB8AC3E}">
        <p14:creationId xmlns:p14="http://schemas.microsoft.com/office/powerpoint/2010/main" val="328340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7A086F-7309-D697-C4DC-0BB13CD7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pic>
        <p:nvPicPr>
          <p:cNvPr id="3" name="Picture 2" descr="A group of devices with a screen on&#10;&#10;Description automatically generated with medium confidence">
            <a:extLst>
              <a:ext uri="{FF2B5EF4-FFF2-40B4-BE49-F238E27FC236}">
                <a16:creationId xmlns:a16="http://schemas.microsoft.com/office/drawing/2014/main" id="{31CF89A2-4DFE-987E-E2EB-EF725B02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64362"/>
            <a:ext cx="4966708" cy="4201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FA6C7B-FAD9-3017-E6AC-05BF52F2A1F4}"/>
              </a:ext>
            </a:extLst>
          </p:cNvPr>
          <p:cNvSpPr txBox="1"/>
          <p:nvPr/>
        </p:nvSpPr>
        <p:spPr>
          <a:xfrm>
            <a:off x="965200" y="365369"/>
            <a:ext cx="9728200" cy="76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Service Portal: Your Self-Service Hub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1B7B434-0972-50E4-97E7-EF48F259A22B}"/>
              </a:ext>
            </a:extLst>
          </p:cNvPr>
          <p:cNvSpPr/>
          <p:nvPr/>
        </p:nvSpPr>
        <p:spPr>
          <a:xfrm>
            <a:off x="965200" y="1564362"/>
            <a:ext cx="5130800" cy="1305838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38A44C4-BC99-1C0D-13F3-A09CAB1D58F0}"/>
              </a:ext>
            </a:extLst>
          </p:cNvPr>
          <p:cNvSpPr/>
          <p:nvPr/>
        </p:nvSpPr>
        <p:spPr>
          <a:xfrm>
            <a:off x="965200" y="3102540"/>
            <a:ext cx="5130800" cy="1305838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pPr indent="0">
              <a:lnSpc>
                <a:spcPts val="2292"/>
              </a:lnSpc>
              <a:buNone/>
            </a:pPr>
            <a:endParaRPr lang="en-US" sz="2400" b="1" dirty="0">
              <a:solidFill>
                <a:srgbClr val="80B894"/>
              </a:solidFill>
              <a:latin typeface="Aptos" panose="020B0004020202020204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2C88607-BF38-09B8-0BD9-58DC87C4AC8F}"/>
              </a:ext>
            </a:extLst>
          </p:cNvPr>
          <p:cNvSpPr/>
          <p:nvPr/>
        </p:nvSpPr>
        <p:spPr>
          <a:xfrm>
            <a:off x="965200" y="4640719"/>
            <a:ext cx="5130800" cy="1305838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ts val="2292"/>
              </a:lnSpc>
            </a:pPr>
            <a:endParaRPr lang="en-US" sz="2400" b="1" dirty="0">
              <a:solidFill>
                <a:srgbClr val="80B894"/>
              </a:solidFill>
              <a:latin typeface="Aptos" panose="020B0004020202020204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0D0B5-565C-B017-AA9D-28C465B58469}"/>
              </a:ext>
            </a:extLst>
          </p:cNvPr>
          <p:cNvSpPr txBox="1"/>
          <p:nvPr/>
        </p:nvSpPr>
        <p:spPr>
          <a:xfrm>
            <a:off x="1066800" y="1734315"/>
            <a:ext cx="4127500" cy="39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User-Friendly Experience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EA37B7-AC5C-3E21-D0CF-2E47614C8C56}"/>
              </a:ext>
            </a:extLst>
          </p:cNvPr>
          <p:cNvSpPr txBox="1"/>
          <p:nvPr/>
        </p:nvSpPr>
        <p:spPr>
          <a:xfrm>
            <a:off x="1066800" y="2213564"/>
            <a:ext cx="4152900" cy="43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Mobile-first design for anywhere access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C3057-3D2D-1AAF-05A5-BBB96AE20EB6}"/>
              </a:ext>
            </a:extLst>
          </p:cNvPr>
          <p:cNvSpPr txBox="1"/>
          <p:nvPr/>
        </p:nvSpPr>
        <p:spPr>
          <a:xfrm>
            <a:off x="1066800" y="3753655"/>
            <a:ext cx="4038600" cy="43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2850"/>
              </a:lnSpc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One-stop shop for apps and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4A540-6211-F7C0-6024-E6FD43254D05}"/>
              </a:ext>
            </a:extLst>
          </p:cNvPr>
          <p:cNvSpPr txBox="1"/>
          <p:nvPr/>
        </p:nvSpPr>
        <p:spPr>
          <a:xfrm>
            <a:off x="1066800" y="5293638"/>
            <a:ext cx="4152900" cy="431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Consistent UI across all touchpoints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DB7EE0-92F9-6E8C-B2FF-678E1452E041}"/>
              </a:ext>
            </a:extLst>
          </p:cNvPr>
          <p:cNvSpPr txBox="1"/>
          <p:nvPr/>
        </p:nvSpPr>
        <p:spPr>
          <a:xfrm>
            <a:off x="1066800" y="3274406"/>
            <a:ext cx="4356100" cy="39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Consolidated Access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FE098E-B8A9-B64F-9828-6012D26E5978}"/>
              </a:ext>
            </a:extLst>
          </p:cNvPr>
          <p:cNvSpPr txBox="1"/>
          <p:nvPr/>
        </p:nvSpPr>
        <p:spPr>
          <a:xfrm>
            <a:off x="1066800" y="4814389"/>
            <a:ext cx="4356100" cy="398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Modern Interface</a:t>
            </a:r>
          </a:p>
        </p:txBody>
      </p:sp>
    </p:spTree>
    <p:extLst>
      <p:ext uri="{BB962C8B-B14F-4D97-AF65-F5344CB8AC3E}">
        <p14:creationId xmlns:p14="http://schemas.microsoft.com/office/powerpoint/2010/main" val="280004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/>
      <p:bldP spid="13" grpId="0"/>
      <p:bldP spid="17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393A-2894-6F4B-8DAC-A8FA390F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9D9D032-333E-4966-1137-F645709C0113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C876B796-2D60-6341-1972-5B93FDD6ACFD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737F3-15CB-980B-762A-7F63883F5FB9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F3B757-4952-5693-91A2-C8F22A99C699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379F58-AA68-AB78-CE1D-603135804E22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10103185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Service Portal: Key Features and Technologies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D093FA-320C-1A66-558B-1BB7E469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50" name="Freeform: Shape 2">
            <a:extLst>
              <a:ext uri="{FF2B5EF4-FFF2-40B4-BE49-F238E27FC236}">
                <a16:creationId xmlns:a16="http://schemas.microsoft.com/office/drawing/2014/main" id="{6F836F66-DBEF-FE65-C5C2-66D8415B2D89}"/>
              </a:ext>
            </a:extLst>
          </p:cNvPr>
          <p:cNvSpPr/>
          <p:nvPr/>
        </p:nvSpPr>
        <p:spPr>
          <a:xfrm>
            <a:off x="885232" y="1474659"/>
            <a:ext cx="9549245" cy="1009493"/>
          </a:xfrm>
          <a:custGeom>
            <a:avLst/>
            <a:gdLst>
              <a:gd name="connsiteX0" fmla="*/ 0 w 7569326"/>
              <a:gd name="connsiteY0" fmla="*/ 0 h 2568702"/>
              <a:gd name="connsiteX1" fmla="*/ 7569327 w 7569326"/>
              <a:gd name="connsiteY1" fmla="*/ 0 h 2568702"/>
              <a:gd name="connsiteX2" fmla="*/ 7569327 w 7569326"/>
              <a:gd name="connsiteY2" fmla="*/ 2568702 h 2568702"/>
              <a:gd name="connsiteX3" fmla="*/ 0 w 7569326"/>
              <a:gd name="connsiteY3" fmla="*/ 2568702 h 256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69326" h="2568702">
                <a:moveTo>
                  <a:pt x="0" y="0"/>
                </a:moveTo>
                <a:lnTo>
                  <a:pt x="7569327" y="0"/>
                </a:lnTo>
                <a:lnTo>
                  <a:pt x="7569327" y="2568702"/>
                </a:lnTo>
                <a:lnTo>
                  <a:pt x="0" y="2568702"/>
                </a:lnTo>
                <a:close/>
              </a:path>
            </a:pathLst>
          </a:custGeom>
          <a:solidFill>
            <a:schemeClr val="bg2">
              <a:alpha val="50196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2BC794-07CA-BB38-C7BE-A487E6D0BF4E}"/>
              </a:ext>
            </a:extLst>
          </p:cNvPr>
          <p:cNvSpPr txBox="1"/>
          <p:nvPr/>
        </p:nvSpPr>
        <p:spPr>
          <a:xfrm>
            <a:off x="2275493" y="1647262"/>
            <a:ext cx="4040161" cy="66428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ts val="2292"/>
              </a:lnSpc>
            </a:pPr>
            <a:r>
              <a:rPr lang="en-US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Framework</a:t>
            </a:r>
            <a:endParaRPr lang="en-US" sz="1800" b="1" dirty="0">
              <a:solidFill>
                <a:srgbClr val="80B894"/>
              </a:solidFill>
              <a:latin typeface="Aptos" panose="020B0004020202020204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Pages, Widgets, APIs</a:t>
            </a:r>
          </a:p>
        </p:txBody>
      </p:sp>
      <p:sp>
        <p:nvSpPr>
          <p:cNvPr id="51" name="Freeform: Shape 2">
            <a:extLst>
              <a:ext uri="{FF2B5EF4-FFF2-40B4-BE49-F238E27FC236}">
                <a16:creationId xmlns:a16="http://schemas.microsoft.com/office/drawing/2014/main" id="{07FDD891-CE0B-821F-75FD-AABE69C9DD9F}"/>
              </a:ext>
            </a:extLst>
          </p:cNvPr>
          <p:cNvSpPr/>
          <p:nvPr/>
        </p:nvSpPr>
        <p:spPr>
          <a:xfrm>
            <a:off x="885232" y="2943285"/>
            <a:ext cx="9549245" cy="1009493"/>
          </a:xfrm>
          <a:custGeom>
            <a:avLst/>
            <a:gdLst>
              <a:gd name="connsiteX0" fmla="*/ 0 w 7569326"/>
              <a:gd name="connsiteY0" fmla="*/ 0 h 2568702"/>
              <a:gd name="connsiteX1" fmla="*/ 7569327 w 7569326"/>
              <a:gd name="connsiteY1" fmla="*/ 0 h 2568702"/>
              <a:gd name="connsiteX2" fmla="*/ 7569327 w 7569326"/>
              <a:gd name="connsiteY2" fmla="*/ 2568702 h 2568702"/>
              <a:gd name="connsiteX3" fmla="*/ 0 w 7569326"/>
              <a:gd name="connsiteY3" fmla="*/ 2568702 h 256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69326" h="2568702">
                <a:moveTo>
                  <a:pt x="0" y="0"/>
                </a:moveTo>
                <a:lnTo>
                  <a:pt x="7569327" y="0"/>
                </a:lnTo>
                <a:lnTo>
                  <a:pt x="7569327" y="2568702"/>
                </a:lnTo>
                <a:lnTo>
                  <a:pt x="0" y="2568702"/>
                </a:lnTo>
                <a:close/>
              </a:path>
            </a:pathLst>
          </a:custGeom>
          <a:solidFill>
            <a:schemeClr val="bg2">
              <a:alpha val="50196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98E571-3292-D613-F66F-94B6AAFD2E93}"/>
              </a:ext>
            </a:extLst>
          </p:cNvPr>
          <p:cNvSpPr txBox="1"/>
          <p:nvPr/>
        </p:nvSpPr>
        <p:spPr>
          <a:xfrm>
            <a:off x="2355573" y="3190692"/>
            <a:ext cx="5025420" cy="66428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ts val="2292"/>
              </a:lnSpc>
            </a:pPr>
            <a:r>
              <a:rPr lang="en-US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Technologies</a:t>
            </a:r>
            <a:endParaRPr lang="en-US" sz="1800" b="1" dirty="0">
              <a:solidFill>
                <a:srgbClr val="80B894"/>
              </a:solidFill>
              <a:latin typeface="Aptos" panose="020B0004020202020204" pitchFamily="34" charset="0"/>
              <a:ea typeface="微软雅黑"/>
              <a:cs typeface="Posterama" panose="020B0504020200020000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HTML, AngularJS, CSS, Bootstrap</a:t>
            </a:r>
          </a:p>
        </p:txBody>
      </p:sp>
      <p:sp>
        <p:nvSpPr>
          <p:cNvPr id="52" name="Freeform: Shape 2">
            <a:extLst>
              <a:ext uri="{FF2B5EF4-FFF2-40B4-BE49-F238E27FC236}">
                <a16:creationId xmlns:a16="http://schemas.microsoft.com/office/drawing/2014/main" id="{9BD74553-A00D-76B7-E428-E2387C971AF8}"/>
              </a:ext>
            </a:extLst>
          </p:cNvPr>
          <p:cNvSpPr/>
          <p:nvPr/>
        </p:nvSpPr>
        <p:spPr>
          <a:xfrm>
            <a:off x="885231" y="4428224"/>
            <a:ext cx="9549245" cy="1009493"/>
          </a:xfrm>
          <a:custGeom>
            <a:avLst/>
            <a:gdLst>
              <a:gd name="connsiteX0" fmla="*/ 0 w 7569326"/>
              <a:gd name="connsiteY0" fmla="*/ 0 h 2568702"/>
              <a:gd name="connsiteX1" fmla="*/ 7569327 w 7569326"/>
              <a:gd name="connsiteY1" fmla="*/ 0 h 2568702"/>
              <a:gd name="connsiteX2" fmla="*/ 7569327 w 7569326"/>
              <a:gd name="connsiteY2" fmla="*/ 2568702 h 2568702"/>
              <a:gd name="connsiteX3" fmla="*/ 0 w 7569326"/>
              <a:gd name="connsiteY3" fmla="*/ 2568702 h 2568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69326" h="2568702">
                <a:moveTo>
                  <a:pt x="0" y="0"/>
                </a:moveTo>
                <a:lnTo>
                  <a:pt x="7569327" y="0"/>
                </a:lnTo>
                <a:lnTo>
                  <a:pt x="7569327" y="2568702"/>
                </a:lnTo>
                <a:lnTo>
                  <a:pt x="0" y="2568702"/>
                </a:lnTo>
                <a:close/>
              </a:path>
            </a:pathLst>
          </a:custGeom>
          <a:solidFill>
            <a:schemeClr val="bg2">
              <a:alpha val="50196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28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D11BB3-9869-8646-E7EE-F46D0B26F690}"/>
              </a:ext>
            </a:extLst>
          </p:cNvPr>
          <p:cNvSpPr txBox="1"/>
          <p:nvPr/>
        </p:nvSpPr>
        <p:spPr>
          <a:xfrm>
            <a:off x="2355573" y="4584837"/>
            <a:ext cx="5025420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Widgets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Reusable self-service components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9C777F2-1B7D-E17B-0C6D-2A4E88EE1E09}"/>
              </a:ext>
            </a:extLst>
          </p:cNvPr>
          <p:cNvSpPr/>
          <p:nvPr/>
        </p:nvSpPr>
        <p:spPr>
          <a:xfrm>
            <a:off x="1025000" y="1692937"/>
            <a:ext cx="764072" cy="572935"/>
          </a:xfrm>
          <a:custGeom>
            <a:avLst/>
            <a:gdLst>
              <a:gd name="connsiteX0" fmla="*/ 482918 w 555307"/>
              <a:gd name="connsiteY0" fmla="*/ 23813 h 297180"/>
              <a:gd name="connsiteX1" fmla="*/ 459105 w 555307"/>
              <a:gd name="connsiteY1" fmla="*/ 0 h 297180"/>
              <a:gd name="connsiteX2" fmla="*/ 459105 w 555307"/>
              <a:gd name="connsiteY2" fmla="*/ 0 h 297180"/>
              <a:gd name="connsiteX3" fmla="*/ 96203 w 555307"/>
              <a:gd name="connsiteY3" fmla="*/ 0 h 297180"/>
              <a:gd name="connsiteX4" fmla="*/ 72390 w 555307"/>
              <a:gd name="connsiteY4" fmla="*/ 23813 h 297180"/>
              <a:gd name="connsiteX5" fmla="*/ 72390 w 555307"/>
              <a:gd name="connsiteY5" fmla="*/ 23813 h 297180"/>
              <a:gd name="connsiteX6" fmla="*/ 72390 w 555307"/>
              <a:gd name="connsiteY6" fmla="*/ 260985 h 297180"/>
              <a:gd name="connsiteX7" fmla="*/ 0 w 555307"/>
              <a:gd name="connsiteY7" fmla="*/ 260985 h 297180"/>
              <a:gd name="connsiteX8" fmla="*/ 0 w 555307"/>
              <a:gd name="connsiteY8" fmla="*/ 273368 h 297180"/>
              <a:gd name="connsiteX9" fmla="*/ 23813 w 555307"/>
              <a:gd name="connsiteY9" fmla="*/ 297180 h 297180"/>
              <a:gd name="connsiteX10" fmla="*/ 531495 w 555307"/>
              <a:gd name="connsiteY10" fmla="*/ 297180 h 297180"/>
              <a:gd name="connsiteX11" fmla="*/ 555308 w 555307"/>
              <a:gd name="connsiteY11" fmla="*/ 273368 h 297180"/>
              <a:gd name="connsiteX12" fmla="*/ 555308 w 555307"/>
              <a:gd name="connsiteY12" fmla="*/ 260985 h 297180"/>
              <a:gd name="connsiteX13" fmla="*/ 482918 w 555307"/>
              <a:gd name="connsiteY13" fmla="*/ 260985 h 297180"/>
              <a:gd name="connsiteX14" fmla="*/ 482918 w 555307"/>
              <a:gd name="connsiteY14" fmla="*/ 23813 h 297180"/>
              <a:gd name="connsiteX15" fmla="*/ 227648 w 555307"/>
              <a:gd name="connsiteY15" fmla="*/ 180975 h 297180"/>
              <a:gd name="connsiteX16" fmla="*/ 214313 w 555307"/>
              <a:gd name="connsiteY16" fmla="*/ 194310 h 297180"/>
              <a:gd name="connsiteX17" fmla="*/ 160973 w 555307"/>
              <a:gd name="connsiteY17" fmla="*/ 140970 h 297180"/>
              <a:gd name="connsiteX18" fmla="*/ 214313 w 555307"/>
              <a:gd name="connsiteY18" fmla="*/ 87630 h 297180"/>
              <a:gd name="connsiteX19" fmla="*/ 227648 w 555307"/>
              <a:gd name="connsiteY19" fmla="*/ 100965 h 297180"/>
              <a:gd name="connsiteX20" fmla="*/ 187642 w 555307"/>
              <a:gd name="connsiteY20" fmla="*/ 140970 h 297180"/>
              <a:gd name="connsiteX21" fmla="*/ 227648 w 555307"/>
              <a:gd name="connsiteY21" fmla="*/ 180975 h 297180"/>
              <a:gd name="connsiteX22" fmla="*/ 263843 w 555307"/>
              <a:gd name="connsiteY22" fmla="*/ 200978 h 297180"/>
              <a:gd name="connsiteX23" fmla="*/ 246698 w 555307"/>
              <a:gd name="connsiteY23" fmla="*/ 193358 h 297180"/>
              <a:gd name="connsiteX24" fmla="*/ 291465 w 555307"/>
              <a:gd name="connsiteY24" fmla="*/ 85725 h 297180"/>
              <a:gd name="connsiteX25" fmla="*/ 308610 w 555307"/>
              <a:gd name="connsiteY25" fmla="*/ 93345 h 297180"/>
              <a:gd name="connsiteX26" fmla="*/ 263843 w 555307"/>
              <a:gd name="connsiteY26" fmla="*/ 200978 h 297180"/>
              <a:gd name="connsiteX27" fmla="*/ 340043 w 555307"/>
              <a:gd name="connsiteY27" fmla="*/ 195263 h 297180"/>
              <a:gd name="connsiteX28" fmla="*/ 326708 w 555307"/>
              <a:gd name="connsiteY28" fmla="*/ 181928 h 297180"/>
              <a:gd name="connsiteX29" fmla="*/ 366713 w 555307"/>
              <a:gd name="connsiteY29" fmla="*/ 141922 h 297180"/>
              <a:gd name="connsiteX30" fmla="*/ 326708 w 555307"/>
              <a:gd name="connsiteY30" fmla="*/ 101918 h 297180"/>
              <a:gd name="connsiteX31" fmla="*/ 340043 w 555307"/>
              <a:gd name="connsiteY31" fmla="*/ 88582 h 297180"/>
              <a:gd name="connsiteX32" fmla="*/ 393383 w 555307"/>
              <a:gd name="connsiteY32" fmla="*/ 141922 h 297180"/>
              <a:gd name="connsiteX33" fmla="*/ 340043 w 555307"/>
              <a:gd name="connsiteY33" fmla="*/ 195263 h 29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55307" h="297180">
                <a:moveTo>
                  <a:pt x="482918" y="23813"/>
                </a:moveTo>
                <a:cubicBezTo>
                  <a:pt x="482918" y="10478"/>
                  <a:pt x="472440" y="0"/>
                  <a:pt x="459105" y="0"/>
                </a:cubicBezTo>
                <a:lnTo>
                  <a:pt x="459105" y="0"/>
                </a:lnTo>
                <a:lnTo>
                  <a:pt x="96203" y="0"/>
                </a:lnTo>
                <a:cubicBezTo>
                  <a:pt x="82868" y="0"/>
                  <a:pt x="72390" y="10478"/>
                  <a:pt x="72390" y="23813"/>
                </a:cubicBezTo>
                <a:lnTo>
                  <a:pt x="72390" y="23813"/>
                </a:lnTo>
                <a:lnTo>
                  <a:pt x="72390" y="260985"/>
                </a:lnTo>
                <a:lnTo>
                  <a:pt x="0" y="260985"/>
                </a:lnTo>
                <a:lnTo>
                  <a:pt x="0" y="273368"/>
                </a:lnTo>
                <a:cubicBezTo>
                  <a:pt x="0" y="286703"/>
                  <a:pt x="10478" y="297180"/>
                  <a:pt x="23813" y="297180"/>
                </a:cubicBezTo>
                <a:lnTo>
                  <a:pt x="531495" y="297180"/>
                </a:lnTo>
                <a:cubicBezTo>
                  <a:pt x="544830" y="297180"/>
                  <a:pt x="555308" y="286703"/>
                  <a:pt x="555308" y="273368"/>
                </a:cubicBezTo>
                <a:lnTo>
                  <a:pt x="555308" y="260985"/>
                </a:lnTo>
                <a:lnTo>
                  <a:pt x="482918" y="260985"/>
                </a:lnTo>
                <a:lnTo>
                  <a:pt x="482918" y="23813"/>
                </a:lnTo>
                <a:close/>
                <a:moveTo>
                  <a:pt x="227648" y="180975"/>
                </a:moveTo>
                <a:lnTo>
                  <a:pt x="214313" y="194310"/>
                </a:lnTo>
                <a:lnTo>
                  <a:pt x="160973" y="140970"/>
                </a:lnTo>
                <a:lnTo>
                  <a:pt x="214313" y="87630"/>
                </a:lnTo>
                <a:lnTo>
                  <a:pt x="227648" y="100965"/>
                </a:lnTo>
                <a:lnTo>
                  <a:pt x="187642" y="140970"/>
                </a:lnTo>
                <a:lnTo>
                  <a:pt x="227648" y="180975"/>
                </a:lnTo>
                <a:close/>
                <a:moveTo>
                  <a:pt x="263843" y="200978"/>
                </a:moveTo>
                <a:lnTo>
                  <a:pt x="246698" y="193358"/>
                </a:lnTo>
                <a:lnTo>
                  <a:pt x="291465" y="85725"/>
                </a:lnTo>
                <a:lnTo>
                  <a:pt x="308610" y="93345"/>
                </a:lnTo>
                <a:lnTo>
                  <a:pt x="263843" y="200978"/>
                </a:lnTo>
                <a:close/>
                <a:moveTo>
                  <a:pt x="340043" y="195263"/>
                </a:moveTo>
                <a:lnTo>
                  <a:pt x="326708" y="181928"/>
                </a:lnTo>
                <a:lnTo>
                  <a:pt x="366713" y="141922"/>
                </a:lnTo>
                <a:lnTo>
                  <a:pt x="326708" y="101918"/>
                </a:lnTo>
                <a:lnTo>
                  <a:pt x="340043" y="88582"/>
                </a:lnTo>
                <a:lnTo>
                  <a:pt x="393383" y="141922"/>
                </a:lnTo>
                <a:lnTo>
                  <a:pt x="340043" y="195263"/>
                </a:lnTo>
                <a:close/>
              </a:path>
            </a:pathLst>
          </a:custGeom>
          <a:solidFill>
            <a:srgbClr val="7FB79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1" name="Graphic 10" descr="Puzzle pieces with solid fill">
            <a:extLst>
              <a:ext uri="{FF2B5EF4-FFF2-40B4-BE49-F238E27FC236}">
                <a16:creationId xmlns:a16="http://schemas.microsoft.com/office/drawing/2014/main" id="{AB384D5F-63A2-1E8B-FE84-624582333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243" y="4475210"/>
            <a:ext cx="865586" cy="865586"/>
          </a:xfrm>
          <a:prstGeom prst="rect">
            <a:avLst/>
          </a:prstGeom>
        </p:spPr>
      </p:pic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8DC6152A-02B0-C684-3290-C176D2AC69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836" y="30331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88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2" grpId="0"/>
      <p:bldP spid="51" grpId="0" animBg="1"/>
      <p:bldP spid="54" grpId="0"/>
      <p:bldP spid="52" grpId="0" animBg="1"/>
      <p:bldP spid="55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DF33DCAC-CC01-8CAA-0A43-2B970E102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321" y="1822014"/>
            <a:ext cx="3651885" cy="3651885"/>
          </a:xfrm>
          <a:prstGeom prst="rect">
            <a:avLst/>
          </a:prstGeom>
        </p:spPr>
      </p:pic>
      <p:pic>
        <p:nvPicPr>
          <p:cNvPr id="48" name="Image 6" descr="preencoded.png">
            <a:extLst>
              <a:ext uri="{FF2B5EF4-FFF2-40B4-BE49-F238E27FC236}">
                <a16:creationId xmlns:a16="http://schemas.microsoft.com/office/drawing/2014/main" id="{74942181-F115-7C60-EE40-2D4E6A2B8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321" y="1822014"/>
            <a:ext cx="3651885" cy="3651885"/>
          </a:xfrm>
          <a:prstGeom prst="rect">
            <a:avLst/>
          </a:prstGeom>
        </p:spPr>
      </p:pic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1E197FB4-D21B-69C1-9DA5-F92B95F6B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320" y="1822014"/>
            <a:ext cx="3651885" cy="3651885"/>
          </a:xfrm>
          <a:prstGeom prst="rect">
            <a:avLst/>
          </a:prstGeom>
        </p:spPr>
      </p:pic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498C38C6-32C2-300F-1ABE-3B0AB4B29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320" y="1822013"/>
            <a:ext cx="3651885" cy="365188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E4B6DD1-A816-97B6-F8A8-09998120F4DE}"/>
              </a:ext>
            </a:extLst>
          </p:cNvPr>
          <p:cNvGrpSpPr/>
          <p:nvPr/>
        </p:nvGrpSpPr>
        <p:grpSpPr>
          <a:xfrm>
            <a:off x="4658638" y="2393651"/>
            <a:ext cx="566976" cy="566976"/>
            <a:chOff x="4658638" y="2179082"/>
            <a:chExt cx="566976" cy="566976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265F3B9D-FE72-8285-977B-A15EC2E76BF0}"/>
                </a:ext>
              </a:extLst>
            </p:cNvPr>
            <p:cNvSpPr/>
            <p:nvPr/>
          </p:nvSpPr>
          <p:spPr>
            <a:xfrm>
              <a:off x="4658638" y="217908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1" descr="preencoded.png">
              <a:extLst>
                <a:ext uri="{FF2B5EF4-FFF2-40B4-BE49-F238E27FC236}">
                  <a16:creationId xmlns:a16="http://schemas.microsoft.com/office/drawing/2014/main" id="{5F2ADA34-AB8B-2183-6420-2B836754A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14491" y="2303026"/>
              <a:ext cx="255151" cy="318968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6FA2D9-603D-5FDF-E034-FE7F1708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6B385966-6925-4C69-9330-3D94CA8C36CD}"/>
              </a:ext>
            </a:extLst>
          </p:cNvPr>
          <p:cNvSpPr/>
          <p:nvPr/>
        </p:nvSpPr>
        <p:spPr>
          <a:xfrm>
            <a:off x="864950" y="513953"/>
            <a:ext cx="8409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Service Portal: Delivering Value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966ED49E-1C9F-4299-A955-5D4CFEBE3AAF}"/>
              </a:ext>
            </a:extLst>
          </p:cNvPr>
          <p:cNvSpPr/>
          <p:nvPr/>
        </p:nvSpPr>
        <p:spPr>
          <a:xfrm>
            <a:off x="1183561" y="2280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Portal Consolidation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8537DB18-4404-E8AE-FDBA-87C57E45F1EB}"/>
              </a:ext>
            </a:extLst>
          </p:cNvPr>
          <p:cNvSpPr/>
          <p:nvPr/>
        </p:nvSpPr>
        <p:spPr>
          <a:xfrm>
            <a:off x="-336510" y="2771061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r">
              <a:lnSpc>
                <a:spcPts val="2850"/>
              </a:lnSpc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Reduces multiple entry points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135C2AA-B7FE-99DA-20AD-26C1A256E89C}"/>
              </a:ext>
            </a:extLst>
          </p:cNvPr>
          <p:cNvSpPr/>
          <p:nvPr/>
        </p:nvSpPr>
        <p:spPr>
          <a:xfrm>
            <a:off x="8351004" y="2280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User Experience</a:t>
            </a: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36EFA6B-6147-46E5-D3F7-4FE67B1E68AD}"/>
              </a:ext>
            </a:extLst>
          </p:cNvPr>
          <p:cNvSpPr/>
          <p:nvPr/>
        </p:nvSpPr>
        <p:spPr>
          <a:xfrm>
            <a:off x="8351004" y="2771061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Improves adoption rates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53588B-B8C8-852B-8ED2-A69D8D4A6412}"/>
              </a:ext>
            </a:extLst>
          </p:cNvPr>
          <p:cNvGrpSpPr/>
          <p:nvPr/>
        </p:nvGrpSpPr>
        <p:grpSpPr>
          <a:xfrm>
            <a:off x="7411640" y="2343569"/>
            <a:ext cx="566976" cy="566976"/>
            <a:chOff x="7144068" y="2179082"/>
            <a:chExt cx="566976" cy="566976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FFCA73BB-B53E-5C0E-8880-63C68F9E7ACE}"/>
                </a:ext>
              </a:extLst>
            </p:cNvPr>
            <p:cNvSpPr/>
            <p:nvPr/>
          </p:nvSpPr>
          <p:spPr>
            <a:xfrm>
              <a:off x="7144068" y="217908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0" name="Image 3" descr="preencoded.png">
              <a:extLst>
                <a:ext uri="{FF2B5EF4-FFF2-40B4-BE49-F238E27FC236}">
                  <a16:creationId xmlns:a16="http://schemas.microsoft.com/office/drawing/2014/main" id="{BB7D086F-A8B6-4DDE-3DFE-43C5A1C29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9920" y="2303026"/>
              <a:ext cx="255151" cy="318968"/>
            </a:xfrm>
            <a:prstGeom prst="rect">
              <a:avLst/>
            </a:prstGeom>
          </p:spPr>
        </p:pic>
      </p:grpSp>
      <p:sp>
        <p:nvSpPr>
          <p:cNvPr id="31" name="Text 7">
            <a:extLst>
              <a:ext uri="{FF2B5EF4-FFF2-40B4-BE49-F238E27FC236}">
                <a16:creationId xmlns:a16="http://schemas.microsoft.com/office/drawing/2014/main" id="{861E2129-67B5-E337-4BAD-8CC796F680DC}"/>
              </a:ext>
            </a:extLst>
          </p:cNvPr>
          <p:cNvSpPr/>
          <p:nvPr/>
        </p:nvSpPr>
        <p:spPr>
          <a:xfrm>
            <a:off x="8351004" y="4276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292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Request Deflection</a:t>
            </a: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C5EC881D-134E-4753-5632-989E56DC822A}"/>
              </a:ext>
            </a:extLst>
          </p:cNvPr>
          <p:cNvSpPr/>
          <p:nvPr/>
        </p:nvSpPr>
        <p:spPr>
          <a:xfrm>
            <a:off x="8358108" y="4730672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Frees agent capacity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6236BC-F35C-807D-F88A-EF93ED955F25}"/>
              </a:ext>
            </a:extLst>
          </p:cNvPr>
          <p:cNvGrpSpPr/>
          <p:nvPr/>
        </p:nvGrpSpPr>
        <p:grpSpPr>
          <a:xfrm>
            <a:off x="7411640" y="4457068"/>
            <a:ext cx="566976" cy="566976"/>
            <a:chOff x="3246556" y="5778325"/>
            <a:chExt cx="566976" cy="566976"/>
          </a:xfrm>
        </p:grpSpPr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CB6C4A49-16AD-F2AE-7F77-851A25E0182E}"/>
                </a:ext>
              </a:extLst>
            </p:cNvPr>
            <p:cNvSpPr/>
            <p:nvPr/>
          </p:nvSpPr>
          <p:spPr>
            <a:xfrm>
              <a:off x="3246556" y="5778325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5" descr="preencoded.png">
              <a:extLst>
                <a:ext uri="{FF2B5EF4-FFF2-40B4-BE49-F238E27FC236}">
                  <a16:creationId xmlns:a16="http://schemas.microsoft.com/office/drawing/2014/main" id="{0A53C5CD-265C-3451-F788-6B55CB84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1121" y="5914413"/>
              <a:ext cx="255151" cy="318968"/>
            </a:xfrm>
            <a:prstGeom prst="rect">
              <a:avLst/>
            </a:prstGeom>
          </p:spPr>
        </p:pic>
      </p:grpSp>
      <p:sp>
        <p:nvSpPr>
          <p:cNvPr id="35" name="Text 10">
            <a:extLst>
              <a:ext uri="{FF2B5EF4-FFF2-40B4-BE49-F238E27FC236}">
                <a16:creationId xmlns:a16="http://schemas.microsoft.com/office/drawing/2014/main" id="{69BE1E21-99B8-57A2-327E-85D1402C18DC}"/>
              </a:ext>
            </a:extLst>
          </p:cNvPr>
          <p:cNvSpPr/>
          <p:nvPr/>
        </p:nvSpPr>
        <p:spPr>
          <a:xfrm>
            <a:off x="1183561" y="4276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Development Tools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2A3F03E9-79F4-6695-41DB-C52EF709731F}"/>
              </a:ext>
            </a:extLst>
          </p:cNvPr>
          <p:cNvSpPr/>
          <p:nvPr/>
        </p:nvSpPr>
        <p:spPr>
          <a:xfrm>
            <a:off x="-336510" y="4767024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Aptos" panose="020B0004020202020204" pitchFamily="34" charset="0"/>
                <a:ea typeface="Inter Medium" pitchFamily="34" charset="-122"/>
                <a:cs typeface="Inter Medium" pitchFamily="34" charset="-120"/>
              </a:rPr>
              <a:t>Debugging, diagnostics, analysis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60417A-A4C2-7A5B-5EF0-659294B4783E}"/>
              </a:ext>
            </a:extLst>
          </p:cNvPr>
          <p:cNvGrpSpPr/>
          <p:nvPr/>
        </p:nvGrpSpPr>
        <p:grpSpPr>
          <a:xfrm>
            <a:off x="4658638" y="4347609"/>
            <a:ext cx="566976" cy="566976"/>
            <a:chOff x="4658638" y="4664512"/>
            <a:chExt cx="566976" cy="566976"/>
          </a:xfrm>
        </p:grpSpPr>
        <p:sp>
          <p:nvSpPr>
            <p:cNvPr id="38" name="Shape 12">
              <a:extLst>
                <a:ext uri="{FF2B5EF4-FFF2-40B4-BE49-F238E27FC236}">
                  <a16:creationId xmlns:a16="http://schemas.microsoft.com/office/drawing/2014/main" id="{59FF89DE-283C-4A5D-1110-4B7571D8F48A}"/>
                </a:ext>
              </a:extLst>
            </p:cNvPr>
            <p:cNvSpPr/>
            <p:nvPr/>
          </p:nvSpPr>
          <p:spPr>
            <a:xfrm>
              <a:off x="4658638" y="466451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9" name="Image 7" descr="preencoded.png">
              <a:extLst>
                <a:ext uri="{FF2B5EF4-FFF2-40B4-BE49-F238E27FC236}">
                  <a16:creationId xmlns:a16="http://schemas.microsoft.com/office/drawing/2014/main" id="{7F9EE232-F9CA-72DF-5800-23812922B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14491" y="4788456"/>
              <a:ext cx="255151" cy="318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928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5532EE-5042-635B-1ED1-29A40086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ADFEE0E-03B0-C52E-69B9-9D5C01120490}"/>
              </a:ext>
            </a:extLst>
          </p:cNvPr>
          <p:cNvSpPr/>
          <p:nvPr/>
        </p:nvSpPr>
        <p:spPr>
          <a:xfrm>
            <a:off x="864950" y="693596"/>
            <a:ext cx="8409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AI and GenAI: Enhancing Service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DB68C63-03F7-D49B-E316-37DF2AC53AED}"/>
              </a:ext>
            </a:extLst>
          </p:cNvPr>
          <p:cNvGrpSpPr/>
          <p:nvPr/>
        </p:nvGrpSpPr>
        <p:grpSpPr>
          <a:xfrm>
            <a:off x="864950" y="2866647"/>
            <a:ext cx="2835235" cy="1306949"/>
            <a:chOff x="864950" y="3653175"/>
            <a:chExt cx="2835235" cy="1306949"/>
          </a:xfrm>
        </p:grpSpPr>
        <p:sp>
          <p:nvSpPr>
            <p:cNvPr id="123" name="Text 1">
              <a:extLst>
                <a:ext uri="{FF2B5EF4-FFF2-40B4-BE49-F238E27FC236}">
                  <a16:creationId xmlns:a16="http://schemas.microsoft.com/office/drawing/2014/main" id="{39CAFC91-74AB-989A-A868-EA488CF11D70}"/>
                </a:ext>
              </a:extLst>
            </p:cNvPr>
            <p:cNvSpPr/>
            <p:nvPr/>
          </p:nvSpPr>
          <p:spPr>
            <a:xfrm>
              <a:off x="864950" y="365317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030303"/>
                  </a:solidFill>
                  <a:latin typeface="DM Sans Semi Bold" pitchFamily="34" charset="0"/>
                  <a:ea typeface="DM Sans Semi Bold" pitchFamily="34" charset="-122"/>
                  <a:cs typeface="DM Sans Semi Bold" pitchFamily="34" charset="-120"/>
                </a:rPr>
                <a:t>AI Definition</a:t>
              </a:r>
              <a:endParaRPr lang="en-US" sz="2200" dirty="0"/>
            </a:p>
          </p:txBody>
        </p:sp>
        <p:sp>
          <p:nvSpPr>
            <p:cNvPr id="124" name="Text 2">
              <a:extLst>
                <a:ext uri="{FF2B5EF4-FFF2-40B4-BE49-F238E27FC236}">
                  <a16:creationId xmlns:a16="http://schemas.microsoft.com/office/drawing/2014/main" id="{751F6DDB-3AAB-1B7E-AF81-311EFB6C3077}"/>
                </a:ext>
              </a:extLst>
            </p:cNvPr>
            <p:cNvSpPr/>
            <p:nvPr/>
          </p:nvSpPr>
          <p:spPr>
            <a:xfrm>
              <a:off x="864950" y="4234319"/>
              <a:ext cx="2746096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Machines with human-like intelligence</a:t>
              </a:r>
              <a:endParaRPr lang="en-US" sz="1750" dirty="0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58AD1F9-4426-72D6-F5F2-E962DD83BDC4}"/>
              </a:ext>
            </a:extLst>
          </p:cNvPr>
          <p:cNvGrpSpPr/>
          <p:nvPr/>
        </p:nvGrpSpPr>
        <p:grpSpPr>
          <a:xfrm>
            <a:off x="4487323" y="2798602"/>
            <a:ext cx="2835235" cy="944047"/>
            <a:chOff x="4411123" y="3653175"/>
            <a:chExt cx="2835235" cy="944047"/>
          </a:xfrm>
        </p:grpSpPr>
        <p:sp>
          <p:nvSpPr>
            <p:cNvPr id="125" name="Text 3">
              <a:extLst>
                <a:ext uri="{FF2B5EF4-FFF2-40B4-BE49-F238E27FC236}">
                  <a16:creationId xmlns:a16="http://schemas.microsoft.com/office/drawing/2014/main" id="{20A0A208-10F7-F808-E66E-28993B4B3B81}"/>
                </a:ext>
              </a:extLst>
            </p:cNvPr>
            <p:cNvSpPr/>
            <p:nvPr/>
          </p:nvSpPr>
          <p:spPr>
            <a:xfrm>
              <a:off x="4411123" y="365317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030303"/>
                  </a:solidFill>
                  <a:latin typeface="DM Sans Semi Bold" pitchFamily="34" charset="0"/>
                  <a:ea typeface="DM Sans Semi Bold" pitchFamily="34" charset="-122"/>
                  <a:cs typeface="DM Sans Semi Bold" pitchFamily="34" charset="-120"/>
                </a:rPr>
                <a:t>Gen AI</a:t>
              </a:r>
              <a:endParaRPr lang="en-US" sz="2200" dirty="0"/>
            </a:p>
          </p:txBody>
        </p:sp>
        <p:sp>
          <p:nvSpPr>
            <p:cNvPr id="126" name="Text 4">
              <a:extLst>
                <a:ext uri="{FF2B5EF4-FFF2-40B4-BE49-F238E27FC236}">
                  <a16:creationId xmlns:a16="http://schemas.microsoft.com/office/drawing/2014/main" id="{54805D1A-C2A0-7DF8-76F8-A7FAFE2E1F13}"/>
                </a:ext>
              </a:extLst>
            </p:cNvPr>
            <p:cNvSpPr/>
            <p:nvPr/>
          </p:nvSpPr>
          <p:spPr>
            <a:xfrm>
              <a:off x="4411123" y="4234319"/>
              <a:ext cx="274609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Creates content (text, images)</a:t>
              </a:r>
              <a:endParaRPr lang="en-US" sz="1750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77B1299-FD10-C872-C2E7-863969A91EEF}"/>
              </a:ext>
            </a:extLst>
          </p:cNvPr>
          <p:cNvGrpSpPr/>
          <p:nvPr/>
        </p:nvGrpSpPr>
        <p:grpSpPr>
          <a:xfrm>
            <a:off x="8491817" y="2689482"/>
            <a:ext cx="2938185" cy="2270642"/>
            <a:chOff x="8491815" y="3669745"/>
            <a:chExt cx="3978116" cy="2270642"/>
          </a:xfrm>
        </p:grpSpPr>
        <p:sp>
          <p:nvSpPr>
            <p:cNvPr id="127" name="Text 5">
              <a:extLst>
                <a:ext uri="{FF2B5EF4-FFF2-40B4-BE49-F238E27FC236}">
                  <a16:creationId xmlns:a16="http://schemas.microsoft.com/office/drawing/2014/main" id="{3EDF43DD-9DF6-4665-2C8B-E4B826CA2BD4}"/>
                </a:ext>
              </a:extLst>
            </p:cNvPr>
            <p:cNvSpPr/>
            <p:nvPr/>
          </p:nvSpPr>
          <p:spPr>
            <a:xfrm>
              <a:off x="8491815" y="366974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030303"/>
                  </a:solidFill>
                  <a:latin typeface="DM Sans Semi Bold" pitchFamily="34" charset="0"/>
                  <a:ea typeface="DM Sans Semi Bold" pitchFamily="34" charset="-122"/>
                  <a:cs typeface="DM Sans Semi Bold" pitchFamily="34" charset="-120"/>
                </a:rPr>
                <a:t>ServiceNow AI</a:t>
              </a:r>
              <a:endParaRPr lang="en-US" sz="2200" dirty="0"/>
            </a:p>
          </p:txBody>
        </p:sp>
        <p:sp>
          <p:nvSpPr>
            <p:cNvPr id="128" name="Text 6">
              <a:extLst>
                <a:ext uri="{FF2B5EF4-FFF2-40B4-BE49-F238E27FC236}">
                  <a16:creationId xmlns:a16="http://schemas.microsoft.com/office/drawing/2014/main" id="{0AED064F-EABD-14EF-6622-650006EFB9CE}"/>
                </a:ext>
              </a:extLst>
            </p:cNvPr>
            <p:cNvSpPr/>
            <p:nvPr/>
          </p:nvSpPr>
          <p:spPr>
            <a:xfrm>
              <a:off x="8491815" y="4250889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Predictive Intelligence</a:t>
              </a:r>
              <a:endParaRPr lang="en-US" sz="1750" dirty="0"/>
            </a:p>
          </p:txBody>
        </p:sp>
        <p:sp>
          <p:nvSpPr>
            <p:cNvPr id="129" name="Text 7">
              <a:extLst>
                <a:ext uri="{FF2B5EF4-FFF2-40B4-BE49-F238E27FC236}">
                  <a16:creationId xmlns:a16="http://schemas.microsoft.com/office/drawing/2014/main" id="{178D8525-E95E-933E-7C4F-BEE1B19DEE92}"/>
                </a:ext>
              </a:extLst>
            </p:cNvPr>
            <p:cNvSpPr/>
            <p:nvPr/>
          </p:nvSpPr>
          <p:spPr>
            <a:xfrm>
              <a:off x="8491815" y="4693087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Document Intelligence</a:t>
              </a:r>
              <a:endParaRPr lang="en-US" sz="1750" dirty="0"/>
            </a:p>
          </p:txBody>
        </p:sp>
        <p:sp>
          <p:nvSpPr>
            <p:cNvPr id="130" name="Text 8">
              <a:extLst>
                <a:ext uri="{FF2B5EF4-FFF2-40B4-BE49-F238E27FC236}">
                  <a16:creationId xmlns:a16="http://schemas.microsoft.com/office/drawing/2014/main" id="{AF0C1988-D1C6-ACE7-F059-CAAA6D78DB5E}"/>
                </a:ext>
              </a:extLst>
            </p:cNvPr>
            <p:cNvSpPr/>
            <p:nvPr/>
          </p:nvSpPr>
          <p:spPr>
            <a:xfrm>
              <a:off x="8491815" y="5135285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Task Intelligence</a:t>
              </a:r>
              <a:endParaRPr lang="en-US" sz="1750" dirty="0"/>
            </a:p>
          </p:txBody>
        </p:sp>
        <p:sp>
          <p:nvSpPr>
            <p:cNvPr id="131" name="Text 9">
              <a:extLst>
                <a:ext uri="{FF2B5EF4-FFF2-40B4-BE49-F238E27FC236}">
                  <a16:creationId xmlns:a16="http://schemas.microsoft.com/office/drawing/2014/main" id="{20BF3DBA-EDAC-8D31-4382-065A9223653B}"/>
                </a:ext>
              </a:extLst>
            </p:cNvPr>
            <p:cNvSpPr/>
            <p:nvPr/>
          </p:nvSpPr>
          <p:spPr>
            <a:xfrm>
              <a:off x="8491815" y="5577484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Now Assist</a:t>
              </a:r>
              <a:endParaRPr lang="en-US" sz="175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470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0D63EA-C5B7-15D5-CF2D-6137706A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73E5C7-4D46-4C50-6AC0-87FDBA740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6012"/>
            <a:ext cx="8534400" cy="660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86CBC68-7B10-0A13-397E-44E3B24956F4}"/>
              </a:ext>
            </a:extLst>
          </p:cNvPr>
          <p:cNvSpPr txBox="1"/>
          <p:nvPr/>
        </p:nvSpPr>
        <p:spPr>
          <a:xfrm>
            <a:off x="858258" y="176012"/>
            <a:ext cx="8196842" cy="76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AI and GenAI: Enhancing 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01081-42D4-1466-8142-0853F3EE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315" y="1285863"/>
            <a:ext cx="7452859" cy="16248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70E0AB-53D4-D203-5E87-FF8CF9169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70" y="3055434"/>
            <a:ext cx="7452859" cy="1395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F2D438-20F0-3810-04EB-96AD473C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638391"/>
            <a:ext cx="7452859" cy="16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49AF48-4D1A-E910-32E3-88A70960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E575B7-41C2-99C9-5D0F-C434FD4A8E73}"/>
              </a:ext>
            </a:extLst>
          </p:cNvPr>
          <p:cNvSpPr txBox="1">
            <a:spLocks/>
          </p:cNvSpPr>
          <p:nvPr/>
        </p:nvSpPr>
        <p:spPr>
          <a:xfrm>
            <a:off x="807575" y="176012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GenAI: MVP Recommendations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4FB0E8-208A-833A-5F69-CA02C702D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0"/>
            <a:ext cx="9715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2014B-D5BA-8FA3-D0F4-94FAB456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853" y="816267"/>
            <a:ext cx="2345601" cy="1624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3BDE63-2994-6746-834C-2AE8E823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57" y="816267"/>
            <a:ext cx="2345601" cy="1624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2E4337-D0ED-D0A1-1BE1-2EA34122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16" y="2792098"/>
            <a:ext cx="2345601" cy="1624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AD130-058F-8F19-08D7-E67DDD68D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56" y="4767929"/>
            <a:ext cx="2345601" cy="1624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6AC62B-F5C4-5A64-4E27-8B9845246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952" y="4874607"/>
            <a:ext cx="2345601" cy="1624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7327F3-1265-6C9B-4144-BC112427D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024724"/>
            <a:ext cx="2345601" cy="16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335DCA-64CA-EF68-181E-2A859DB1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Freeform: Shape 39">
            <a:extLst>
              <a:ext uri="{FF2B5EF4-FFF2-40B4-BE49-F238E27FC236}">
                <a16:creationId xmlns:a16="http://schemas.microsoft.com/office/drawing/2014/main" id="{E975BBE4-EBB9-EE10-D545-3C355C27C799}"/>
              </a:ext>
            </a:extLst>
          </p:cNvPr>
          <p:cNvSpPr/>
          <p:nvPr/>
        </p:nvSpPr>
        <p:spPr>
          <a:xfrm rot="2700000">
            <a:off x="729732" y="2001066"/>
            <a:ext cx="1410611" cy="1434211"/>
          </a:xfrm>
          <a:custGeom>
            <a:avLst/>
            <a:gdLst>
              <a:gd name="connsiteX0" fmla="*/ 33064 w 1033296"/>
              <a:gd name="connsiteY0" fmla="*/ 840585 h 1033298"/>
              <a:gd name="connsiteX1" fmla="*/ 873648 w 1033296"/>
              <a:gd name="connsiteY1" fmla="*/ 0 h 1033298"/>
              <a:gd name="connsiteX2" fmla="*/ 873648 w 1033296"/>
              <a:gd name="connsiteY2" fmla="*/ 7248 h 1033298"/>
              <a:gd name="connsiteX3" fmla="*/ 1026051 w 1033296"/>
              <a:gd name="connsiteY3" fmla="*/ 159651 h 1033298"/>
              <a:gd name="connsiteX4" fmla="*/ 1033296 w 1033296"/>
              <a:gd name="connsiteY4" fmla="*/ 159651 h 1033298"/>
              <a:gd name="connsiteX5" fmla="*/ 192713 w 1033296"/>
              <a:gd name="connsiteY5" fmla="*/ 1000234 h 1033298"/>
              <a:gd name="connsiteX6" fmla="*/ 33064 w 1033296"/>
              <a:gd name="connsiteY6" fmla="*/ 1000234 h 1033298"/>
              <a:gd name="connsiteX7" fmla="*/ 33064 w 1033296"/>
              <a:gd name="connsiteY7" fmla="*/ 840585 h 1033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3296" h="1033298">
                <a:moveTo>
                  <a:pt x="33064" y="840585"/>
                </a:moveTo>
                <a:lnTo>
                  <a:pt x="873648" y="0"/>
                </a:lnTo>
                <a:lnTo>
                  <a:pt x="873648" y="7248"/>
                </a:lnTo>
                <a:cubicBezTo>
                  <a:pt x="873648" y="91418"/>
                  <a:pt x="941881" y="159651"/>
                  <a:pt x="1026051" y="159651"/>
                </a:cubicBezTo>
                <a:lnTo>
                  <a:pt x="1033296" y="159651"/>
                </a:lnTo>
                <a:lnTo>
                  <a:pt x="192713" y="1000234"/>
                </a:lnTo>
                <a:cubicBezTo>
                  <a:pt x="148627" y="1044320"/>
                  <a:pt x="77150" y="1044320"/>
                  <a:pt x="33064" y="1000234"/>
                </a:cubicBezTo>
                <a:cubicBezTo>
                  <a:pt x="-11022" y="956148"/>
                  <a:pt x="-11022" y="884671"/>
                  <a:pt x="33064" y="840585"/>
                </a:cubicBezTo>
                <a:close/>
              </a:path>
            </a:pathLst>
          </a:custGeom>
          <a:solidFill>
            <a:srgbClr val="7FB7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38">
            <a:extLst>
              <a:ext uri="{FF2B5EF4-FFF2-40B4-BE49-F238E27FC236}">
                <a16:creationId xmlns:a16="http://schemas.microsoft.com/office/drawing/2014/main" id="{C68F1ABF-E11B-3ED1-84F4-E1C0AA6C94DB}"/>
              </a:ext>
            </a:extLst>
          </p:cNvPr>
          <p:cNvSpPr/>
          <p:nvPr/>
        </p:nvSpPr>
        <p:spPr>
          <a:xfrm rot="2700000">
            <a:off x="3902169" y="2056741"/>
            <a:ext cx="1301092" cy="1322857"/>
          </a:xfrm>
          <a:custGeom>
            <a:avLst/>
            <a:gdLst>
              <a:gd name="connsiteX0" fmla="*/ 0 w 953071"/>
              <a:gd name="connsiteY0" fmla="*/ 793423 h 953071"/>
              <a:gd name="connsiteX1" fmla="*/ 793423 w 953071"/>
              <a:gd name="connsiteY1" fmla="*/ 0 h 953071"/>
              <a:gd name="connsiteX2" fmla="*/ 793423 w 953071"/>
              <a:gd name="connsiteY2" fmla="*/ 7248 h 953071"/>
              <a:gd name="connsiteX3" fmla="*/ 945826 w 953071"/>
              <a:gd name="connsiteY3" fmla="*/ 159651 h 953071"/>
              <a:gd name="connsiteX4" fmla="*/ 953071 w 953071"/>
              <a:gd name="connsiteY4" fmla="*/ 159651 h 953071"/>
              <a:gd name="connsiteX5" fmla="*/ 159651 w 953071"/>
              <a:gd name="connsiteY5" fmla="*/ 953071 h 953071"/>
              <a:gd name="connsiteX6" fmla="*/ 159651 w 953071"/>
              <a:gd name="connsiteY6" fmla="*/ 945826 h 953071"/>
              <a:gd name="connsiteX7" fmla="*/ 7248 w 953071"/>
              <a:gd name="connsiteY7" fmla="*/ 793423 h 953071"/>
              <a:gd name="connsiteX8" fmla="*/ 0 w 953071"/>
              <a:gd name="connsiteY8" fmla="*/ 793423 h 95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3071" h="953071">
                <a:moveTo>
                  <a:pt x="0" y="793423"/>
                </a:moveTo>
                <a:lnTo>
                  <a:pt x="793423" y="0"/>
                </a:lnTo>
                <a:lnTo>
                  <a:pt x="793423" y="7248"/>
                </a:lnTo>
                <a:cubicBezTo>
                  <a:pt x="793423" y="91418"/>
                  <a:pt x="861656" y="159651"/>
                  <a:pt x="945826" y="159651"/>
                </a:cubicBezTo>
                <a:lnTo>
                  <a:pt x="953071" y="159651"/>
                </a:lnTo>
                <a:lnTo>
                  <a:pt x="159651" y="953071"/>
                </a:lnTo>
                <a:lnTo>
                  <a:pt x="159651" y="945826"/>
                </a:lnTo>
                <a:cubicBezTo>
                  <a:pt x="159651" y="861656"/>
                  <a:pt x="91418" y="793423"/>
                  <a:pt x="7248" y="793423"/>
                </a:cubicBezTo>
                <a:lnTo>
                  <a:pt x="0" y="793423"/>
                </a:lnTo>
                <a:close/>
              </a:path>
            </a:pathLst>
          </a:custGeom>
          <a:solidFill>
            <a:srgbClr val="7FB7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35">
            <a:extLst>
              <a:ext uri="{FF2B5EF4-FFF2-40B4-BE49-F238E27FC236}">
                <a16:creationId xmlns:a16="http://schemas.microsoft.com/office/drawing/2014/main" id="{91C0A705-E778-6109-5383-BC8A617228CB}"/>
              </a:ext>
            </a:extLst>
          </p:cNvPr>
          <p:cNvSpPr/>
          <p:nvPr/>
        </p:nvSpPr>
        <p:spPr>
          <a:xfrm rot="2700000">
            <a:off x="10051658" y="2001069"/>
            <a:ext cx="1410613" cy="1434208"/>
          </a:xfrm>
          <a:custGeom>
            <a:avLst/>
            <a:gdLst>
              <a:gd name="connsiteX0" fmla="*/ 0 w 1033297"/>
              <a:gd name="connsiteY0" fmla="*/ 873649 h 1033296"/>
              <a:gd name="connsiteX1" fmla="*/ 840584 w 1033297"/>
              <a:gd name="connsiteY1" fmla="*/ 33064 h 1033296"/>
              <a:gd name="connsiteX2" fmla="*/ 1000233 w 1033297"/>
              <a:gd name="connsiteY2" fmla="*/ 33064 h 1033296"/>
              <a:gd name="connsiteX3" fmla="*/ 1000233 w 1033297"/>
              <a:gd name="connsiteY3" fmla="*/ 192713 h 1033296"/>
              <a:gd name="connsiteX4" fmla="*/ 159650 w 1033297"/>
              <a:gd name="connsiteY4" fmla="*/ 1033296 h 1033296"/>
              <a:gd name="connsiteX5" fmla="*/ 159650 w 1033297"/>
              <a:gd name="connsiteY5" fmla="*/ 1026051 h 1033296"/>
              <a:gd name="connsiteX6" fmla="*/ 7248 w 1033297"/>
              <a:gd name="connsiteY6" fmla="*/ 873649 h 1033296"/>
              <a:gd name="connsiteX7" fmla="*/ 0 w 1033297"/>
              <a:gd name="connsiteY7" fmla="*/ 873649 h 103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3297" h="1033296">
                <a:moveTo>
                  <a:pt x="0" y="873649"/>
                </a:moveTo>
                <a:lnTo>
                  <a:pt x="840584" y="33064"/>
                </a:lnTo>
                <a:cubicBezTo>
                  <a:pt x="884670" y="-11022"/>
                  <a:pt x="956147" y="-11022"/>
                  <a:pt x="1000233" y="33064"/>
                </a:cubicBezTo>
                <a:cubicBezTo>
                  <a:pt x="1044319" y="77150"/>
                  <a:pt x="1044319" y="148627"/>
                  <a:pt x="1000233" y="192713"/>
                </a:cubicBezTo>
                <a:lnTo>
                  <a:pt x="159650" y="1033296"/>
                </a:lnTo>
                <a:lnTo>
                  <a:pt x="159650" y="1026051"/>
                </a:lnTo>
                <a:cubicBezTo>
                  <a:pt x="159650" y="941882"/>
                  <a:pt x="91417" y="873649"/>
                  <a:pt x="7248" y="873649"/>
                </a:cubicBezTo>
                <a:lnTo>
                  <a:pt x="0" y="873649"/>
                </a:lnTo>
                <a:close/>
              </a:path>
            </a:pathLst>
          </a:custGeom>
          <a:solidFill>
            <a:srgbClr val="7FB7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29">
            <a:extLst>
              <a:ext uri="{FF2B5EF4-FFF2-40B4-BE49-F238E27FC236}">
                <a16:creationId xmlns:a16="http://schemas.microsoft.com/office/drawing/2014/main" id="{855E84A4-5EF1-77C3-338F-DACDD11FC56F}"/>
              </a:ext>
            </a:extLst>
          </p:cNvPr>
          <p:cNvSpPr/>
          <p:nvPr/>
        </p:nvSpPr>
        <p:spPr>
          <a:xfrm rot="2700000">
            <a:off x="2409094" y="2083577"/>
            <a:ext cx="1248301" cy="1269181"/>
          </a:xfrm>
          <a:prstGeom prst="roundRect">
            <a:avLst/>
          </a:prstGeom>
          <a:solidFill>
            <a:srgbClr val="7FB793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10F9DCC9-4848-CA9F-7B86-AF9B1D8E6CD3}"/>
              </a:ext>
            </a:extLst>
          </p:cNvPr>
          <p:cNvSpPr/>
          <p:nvPr/>
        </p:nvSpPr>
        <p:spPr>
          <a:xfrm rot="2700000">
            <a:off x="2604584" y="2282522"/>
            <a:ext cx="856956" cy="8712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A5D18D-2B0A-692D-C72E-C9C24161FB80}"/>
              </a:ext>
            </a:extLst>
          </p:cNvPr>
          <p:cNvGrpSpPr/>
          <p:nvPr/>
        </p:nvGrpSpPr>
        <p:grpSpPr>
          <a:xfrm>
            <a:off x="8524168" y="2094021"/>
            <a:ext cx="1269181" cy="1248301"/>
            <a:chOff x="8922969" y="3166531"/>
            <a:chExt cx="914400" cy="914400"/>
          </a:xfrm>
        </p:grpSpPr>
        <p:sp>
          <p:nvSpPr>
            <p:cNvPr id="25" name="Rectangle: Rounded Corners 23">
              <a:extLst>
                <a:ext uri="{FF2B5EF4-FFF2-40B4-BE49-F238E27FC236}">
                  <a16:creationId xmlns:a16="http://schemas.microsoft.com/office/drawing/2014/main" id="{AD8DD2B9-8A16-814D-A0B9-E82FDEABF425}"/>
                </a:ext>
              </a:extLst>
            </p:cNvPr>
            <p:cNvSpPr/>
            <p:nvPr/>
          </p:nvSpPr>
          <p:spPr>
            <a:xfrm rot="2700000">
              <a:off x="8922969" y="3166531"/>
              <a:ext cx="914400" cy="914400"/>
            </a:xfrm>
            <a:prstGeom prst="roundRect">
              <a:avLst/>
            </a:prstGeom>
            <a:solidFill>
              <a:srgbClr val="7FB793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Rectangle: Rounded Corners 24">
              <a:extLst>
                <a:ext uri="{FF2B5EF4-FFF2-40B4-BE49-F238E27FC236}">
                  <a16:creationId xmlns:a16="http://schemas.microsoft.com/office/drawing/2014/main" id="{4F1CCC80-E016-427A-4A46-A177DDE18EE7}"/>
                </a:ext>
              </a:extLst>
            </p:cNvPr>
            <p:cNvSpPr/>
            <p:nvPr/>
          </p:nvSpPr>
          <p:spPr>
            <a:xfrm rot="2700000">
              <a:off x="9066302" y="3309864"/>
              <a:ext cx="627734" cy="62773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Rectangle: Rounded Corners 27">
            <a:extLst>
              <a:ext uri="{FF2B5EF4-FFF2-40B4-BE49-F238E27FC236}">
                <a16:creationId xmlns:a16="http://schemas.microsoft.com/office/drawing/2014/main" id="{894A5075-A870-FD2F-7C00-3690898ED2A8}"/>
              </a:ext>
            </a:extLst>
          </p:cNvPr>
          <p:cNvSpPr/>
          <p:nvPr/>
        </p:nvSpPr>
        <p:spPr>
          <a:xfrm rot="2700000">
            <a:off x="5448032" y="2083578"/>
            <a:ext cx="1248301" cy="1269181"/>
          </a:xfrm>
          <a:prstGeom prst="roundRect">
            <a:avLst/>
          </a:prstGeom>
          <a:solidFill>
            <a:srgbClr val="7FB793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28">
            <a:extLst>
              <a:ext uri="{FF2B5EF4-FFF2-40B4-BE49-F238E27FC236}">
                <a16:creationId xmlns:a16="http://schemas.microsoft.com/office/drawing/2014/main" id="{347047DA-465F-3054-8B1F-14927A84541C}"/>
              </a:ext>
            </a:extLst>
          </p:cNvPr>
          <p:cNvSpPr/>
          <p:nvPr/>
        </p:nvSpPr>
        <p:spPr>
          <a:xfrm rot="2700000">
            <a:off x="5643703" y="2282524"/>
            <a:ext cx="856956" cy="8712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7403A0-2657-4ECE-EB99-F7A11E9FBB53}"/>
              </a:ext>
            </a:extLst>
          </p:cNvPr>
          <p:cNvGrpSpPr/>
          <p:nvPr/>
        </p:nvGrpSpPr>
        <p:grpSpPr>
          <a:xfrm>
            <a:off x="1592091" y="3830408"/>
            <a:ext cx="2882306" cy="799096"/>
            <a:chOff x="529734" y="3912426"/>
            <a:chExt cx="1262219" cy="58535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C66E862-B3F4-FEAA-BB2C-28565E900233}"/>
                </a:ext>
              </a:extLst>
            </p:cNvPr>
            <p:cNvSpPr/>
            <p:nvPr/>
          </p:nvSpPr>
          <p:spPr>
            <a:xfrm>
              <a:off x="529734" y="4294870"/>
              <a:ext cx="1262219" cy="202906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Focus on quick wins</a:t>
              </a:r>
              <a:r>
                <a:rPr lang="en-I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 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DFB6CC-BF4B-DC56-E3F0-4286D65090F4}"/>
                </a:ext>
              </a:extLst>
            </p:cNvPr>
            <p:cNvSpPr/>
            <p:nvPr/>
          </p:nvSpPr>
          <p:spPr>
            <a:xfrm>
              <a:off x="529734" y="3912426"/>
              <a:ext cx="1262219" cy="2254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FB793"/>
                  </a:solidFill>
                  <a:latin typeface="Arial" panose="020B0604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Phase 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2F4993-AD33-FEF1-97AE-A66330617022}"/>
              </a:ext>
            </a:extLst>
          </p:cNvPr>
          <p:cNvGrpSpPr/>
          <p:nvPr/>
        </p:nvGrpSpPr>
        <p:grpSpPr>
          <a:xfrm>
            <a:off x="4552715" y="3830407"/>
            <a:ext cx="3217573" cy="1824752"/>
            <a:chOff x="495439" y="3912426"/>
            <a:chExt cx="1409039" cy="133665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A8F947-5808-83C7-219E-3D49AF6EE9C6}"/>
                </a:ext>
              </a:extLst>
            </p:cNvPr>
            <p:cNvSpPr/>
            <p:nvPr/>
          </p:nvSpPr>
          <p:spPr>
            <a:xfrm>
              <a:off x="495439" y="4267553"/>
              <a:ext cx="1409039" cy="981531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285750" indent="-285750">
                <a:lnSpc>
                  <a:spcPts val="27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Virtual Agent expansion</a:t>
              </a:r>
            </a:p>
            <a:p>
              <a:pPr marL="285750" indent="-285750">
                <a:lnSpc>
                  <a:spcPts val="27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Flow / Playbook Generation</a:t>
              </a:r>
            </a:p>
            <a:p>
              <a:pPr marL="285750" indent="-285750">
                <a:lnSpc>
                  <a:spcPts val="27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Code Generation Implementation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DAEC3F-51F7-82D1-48D8-9BA732760C27}"/>
                </a:ext>
              </a:extLst>
            </p:cNvPr>
            <p:cNvSpPr/>
            <p:nvPr/>
          </p:nvSpPr>
          <p:spPr>
            <a:xfrm>
              <a:off x="529734" y="3912426"/>
              <a:ext cx="1262219" cy="2254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FB79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F31068-1609-2435-C4CC-24601F1A776B}"/>
              </a:ext>
            </a:extLst>
          </p:cNvPr>
          <p:cNvGrpSpPr/>
          <p:nvPr/>
        </p:nvGrpSpPr>
        <p:grpSpPr>
          <a:xfrm>
            <a:off x="7717607" y="3830411"/>
            <a:ext cx="3167536" cy="1847161"/>
            <a:chOff x="529734" y="3912426"/>
            <a:chExt cx="1387127" cy="135307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C9AEC8-969E-6FCF-6FDC-DB2E2179FAFE}"/>
                </a:ext>
              </a:extLst>
            </p:cNvPr>
            <p:cNvSpPr/>
            <p:nvPr/>
          </p:nvSpPr>
          <p:spPr>
            <a:xfrm>
              <a:off x="654642" y="4267549"/>
              <a:ext cx="1262219" cy="997950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285750" indent="-285750">
                <a:lnSpc>
                  <a:spcPts val="27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Advanced Predictive Intelligence</a:t>
              </a:r>
            </a:p>
            <a:p>
              <a:pPr marL="285750" indent="-285750">
                <a:lnSpc>
                  <a:spcPts val="27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</a:rPr>
                <a:t>Document Intelligence Capabilities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482FC7-3B47-2AB1-5A9A-3A3B3E1BCBD0}"/>
                </a:ext>
              </a:extLst>
            </p:cNvPr>
            <p:cNvSpPr/>
            <p:nvPr/>
          </p:nvSpPr>
          <p:spPr>
            <a:xfrm>
              <a:off x="529734" y="3912426"/>
              <a:ext cx="1262219" cy="2254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FB79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3</a:t>
              </a:r>
            </a:p>
          </p:txBody>
        </p:sp>
      </p:grpSp>
      <p:sp>
        <p:nvSpPr>
          <p:cNvPr id="18" name="Freeform: Shape 44">
            <a:extLst>
              <a:ext uri="{FF2B5EF4-FFF2-40B4-BE49-F238E27FC236}">
                <a16:creationId xmlns:a16="http://schemas.microsoft.com/office/drawing/2014/main" id="{40C13D2D-353B-733D-EEBD-013B19415683}"/>
              </a:ext>
            </a:extLst>
          </p:cNvPr>
          <p:cNvSpPr/>
          <p:nvPr/>
        </p:nvSpPr>
        <p:spPr>
          <a:xfrm rot="2700000">
            <a:off x="6961892" y="2056741"/>
            <a:ext cx="1301092" cy="1322857"/>
          </a:xfrm>
          <a:custGeom>
            <a:avLst/>
            <a:gdLst>
              <a:gd name="connsiteX0" fmla="*/ 0 w 953071"/>
              <a:gd name="connsiteY0" fmla="*/ 793423 h 953071"/>
              <a:gd name="connsiteX1" fmla="*/ 793423 w 953071"/>
              <a:gd name="connsiteY1" fmla="*/ 0 h 953071"/>
              <a:gd name="connsiteX2" fmla="*/ 793423 w 953071"/>
              <a:gd name="connsiteY2" fmla="*/ 7248 h 953071"/>
              <a:gd name="connsiteX3" fmla="*/ 945826 w 953071"/>
              <a:gd name="connsiteY3" fmla="*/ 159651 h 953071"/>
              <a:gd name="connsiteX4" fmla="*/ 953071 w 953071"/>
              <a:gd name="connsiteY4" fmla="*/ 159651 h 953071"/>
              <a:gd name="connsiteX5" fmla="*/ 159651 w 953071"/>
              <a:gd name="connsiteY5" fmla="*/ 953071 h 953071"/>
              <a:gd name="connsiteX6" fmla="*/ 159651 w 953071"/>
              <a:gd name="connsiteY6" fmla="*/ 945826 h 953071"/>
              <a:gd name="connsiteX7" fmla="*/ 7248 w 953071"/>
              <a:gd name="connsiteY7" fmla="*/ 793423 h 953071"/>
              <a:gd name="connsiteX8" fmla="*/ 0 w 953071"/>
              <a:gd name="connsiteY8" fmla="*/ 793423 h 95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3071" h="953071">
                <a:moveTo>
                  <a:pt x="0" y="793423"/>
                </a:moveTo>
                <a:lnTo>
                  <a:pt x="793423" y="0"/>
                </a:lnTo>
                <a:lnTo>
                  <a:pt x="793423" y="7248"/>
                </a:lnTo>
                <a:cubicBezTo>
                  <a:pt x="793423" y="91418"/>
                  <a:pt x="861656" y="159651"/>
                  <a:pt x="945826" y="159651"/>
                </a:cubicBezTo>
                <a:lnTo>
                  <a:pt x="953071" y="159651"/>
                </a:lnTo>
                <a:lnTo>
                  <a:pt x="159651" y="953071"/>
                </a:lnTo>
                <a:lnTo>
                  <a:pt x="159651" y="945826"/>
                </a:lnTo>
                <a:cubicBezTo>
                  <a:pt x="159651" y="861656"/>
                  <a:pt x="91418" y="793423"/>
                  <a:pt x="7248" y="793423"/>
                </a:cubicBezTo>
                <a:lnTo>
                  <a:pt x="0" y="793423"/>
                </a:lnTo>
                <a:close/>
              </a:path>
            </a:pathLst>
          </a:custGeom>
          <a:solidFill>
            <a:srgbClr val="7FB7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Graphic 27" descr="Rocket outline">
            <a:extLst>
              <a:ext uri="{FF2B5EF4-FFF2-40B4-BE49-F238E27FC236}">
                <a16:creationId xmlns:a16="http://schemas.microsoft.com/office/drawing/2014/main" id="{4AB67EDE-0F41-B1C1-1A42-7B089D0B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7947" y="2404329"/>
            <a:ext cx="627676" cy="627676"/>
          </a:xfrm>
          <a:prstGeom prst="rect">
            <a:avLst/>
          </a:prstGeom>
        </p:spPr>
      </p:pic>
      <p:pic>
        <p:nvPicPr>
          <p:cNvPr id="29" name="Graphic 28" descr="Maximise outline">
            <a:extLst>
              <a:ext uri="{FF2B5EF4-FFF2-40B4-BE49-F238E27FC236}">
                <a16:creationId xmlns:a16="http://schemas.microsoft.com/office/drawing/2014/main" id="{0A6D85FE-B778-407B-97B3-A7E3AA6C8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1489" y="2404330"/>
            <a:ext cx="627676" cy="627676"/>
          </a:xfrm>
          <a:prstGeom prst="rect">
            <a:avLst/>
          </a:prstGeom>
        </p:spPr>
      </p:pic>
      <p:pic>
        <p:nvPicPr>
          <p:cNvPr id="30" name="Graphic 29" descr="Right And Left Brain outline">
            <a:extLst>
              <a:ext uri="{FF2B5EF4-FFF2-40B4-BE49-F238E27FC236}">
                <a16:creationId xmlns:a16="http://schemas.microsoft.com/office/drawing/2014/main" id="{374D750F-CD82-F430-8E42-D6E878C5C6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44121" y="2352165"/>
            <a:ext cx="629273" cy="62927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2244003-8620-4E91-561F-12BDB2F9B45C}"/>
              </a:ext>
            </a:extLst>
          </p:cNvPr>
          <p:cNvSpPr txBox="1"/>
          <p:nvPr/>
        </p:nvSpPr>
        <p:spPr>
          <a:xfrm>
            <a:off x="551542" y="558279"/>
            <a:ext cx="9857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Generative AI: Release Roadmap</a:t>
            </a:r>
          </a:p>
        </p:txBody>
      </p:sp>
    </p:spTree>
    <p:extLst>
      <p:ext uri="{BB962C8B-B14F-4D97-AF65-F5344CB8AC3E}">
        <p14:creationId xmlns:p14="http://schemas.microsoft.com/office/powerpoint/2010/main" val="376095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C3C4FA-97D0-4693-7B62-A6FC24E7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4F273-FB44-FC43-3670-99DD005E144C}"/>
              </a:ext>
            </a:extLst>
          </p:cNvPr>
          <p:cNvSpPr txBox="1"/>
          <p:nvPr/>
        </p:nvSpPr>
        <p:spPr>
          <a:xfrm>
            <a:off x="393204" y="356789"/>
            <a:ext cx="8851900" cy="76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Virtual Agent: 24/7 Self-Service</a:t>
            </a:r>
          </a:p>
        </p:txBody>
      </p:sp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7C81BB2C-0B22-B30F-D425-26E7501FA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1603057"/>
            <a:ext cx="3651885" cy="365188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DF68A39-1278-F8D0-28D2-55C3C1102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99" y="1603057"/>
            <a:ext cx="3651885" cy="3651885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470F070-5B26-6705-F28A-38F7A53C2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399" y="1603056"/>
            <a:ext cx="3651885" cy="3651885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CC92EA6D-CFD9-7C1E-1BCB-07FAD15E2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398" y="1603056"/>
            <a:ext cx="3651885" cy="365188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A83236-57D9-6B45-AC01-D8E23469F1E4}"/>
              </a:ext>
            </a:extLst>
          </p:cNvPr>
          <p:cNvGrpSpPr/>
          <p:nvPr/>
        </p:nvGrpSpPr>
        <p:grpSpPr>
          <a:xfrm>
            <a:off x="6954258" y="2026682"/>
            <a:ext cx="566976" cy="566976"/>
            <a:chOff x="8274368" y="3169682"/>
            <a:chExt cx="566976" cy="566976"/>
          </a:xfrm>
        </p:grpSpPr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796CADF0-491E-CFE2-B034-72868723EF2B}"/>
                </a:ext>
              </a:extLst>
            </p:cNvPr>
            <p:cNvSpPr/>
            <p:nvPr/>
          </p:nvSpPr>
          <p:spPr>
            <a:xfrm>
              <a:off x="8274368" y="316968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E0E0EC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3" descr="preencoded.png">
              <a:extLst>
                <a:ext uri="{FF2B5EF4-FFF2-40B4-BE49-F238E27FC236}">
                  <a16:creationId xmlns:a16="http://schemas.microsoft.com/office/drawing/2014/main" id="{5DEC8E3A-D651-AE11-701C-A6290E377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30220" y="3293626"/>
              <a:ext cx="255151" cy="31896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982DC2-8846-146E-BF9D-EEE65B48D85D}"/>
              </a:ext>
            </a:extLst>
          </p:cNvPr>
          <p:cNvGrpSpPr/>
          <p:nvPr/>
        </p:nvGrpSpPr>
        <p:grpSpPr>
          <a:xfrm>
            <a:off x="6954258" y="4214099"/>
            <a:ext cx="566976" cy="566976"/>
            <a:chOff x="8274368" y="5655112"/>
            <a:chExt cx="566976" cy="566976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61615580-5D9A-1AB2-E4CF-2EA1A33DCC2B}"/>
                </a:ext>
              </a:extLst>
            </p:cNvPr>
            <p:cNvSpPr/>
            <p:nvPr/>
          </p:nvSpPr>
          <p:spPr>
            <a:xfrm>
              <a:off x="8274368" y="565511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E0E0EC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729F37B0-BDA1-429F-1503-9E6B79A0D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220" y="5779056"/>
              <a:ext cx="255151" cy="31896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4A3072-664B-128F-BA1D-A512F972ADDE}"/>
              </a:ext>
            </a:extLst>
          </p:cNvPr>
          <p:cNvGrpSpPr/>
          <p:nvPr/>
        </p:nvGrpSpPr>
        <p:grpSpPr>
          <a:xfrm>
            <a:off x="4252238" y="2046773"/>
            <a:ext cx="566976" cy="566976"/>
            <a:chOff x="5788938" y="3169682"/>
            <a:chExt cx="566976" cy="566976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462E2CFB-B167-8D14-D334-DA979A76274D}"/>
                </a:ext>
              </a:extLst>
            </p:cNvPr>
            <p:cNvSpPr/>
            <p:nvPr/>
          </p:nvSpPr>
          <p:spPr>
            <a:xfrm>
              <a:off x="5788938" y="316968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E0E0EC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6217EDE3-F7DF-9FA1-86A4-22F203E71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44791" y="3293626"/>
              <a:ext cx="255151" cy="31896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84F32A-2F75-9EF2-F5E6-48ED809FB9A8}"/>
              </a:ext>
            </a:extLst>
          </p:cNvPr>
          <p:cNvGrpSpPr/>
          <p:nvPr/>
        </p:nvGrpSpPr>
        <p:grpSpPr>
          <a:xfrm>
            <a:off x="4252178" y="4214039"/>
            <a:ext cx="566976" cy="566976"/>
            <a:chOff x="5788938" y="5655112"/>
            <a:chExt cx="566976" cy="566976"/>
          </a:xfrm>
        </p:grpSpPr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439E43E9-59C1-AD13-CF12-DF4A62A22846}"/>
                </a:ext>
              </a:extLst>
            </p:cNvPr>
            <p:cNvSpPr/>
            <p:nvPr/>
          </p:nvSpPr>
          <p:spPr>
            <a:xfrm>
              <a:off x="5788938" y="5655112"/>
              <a:ext cx="566976" cy="566976"/>
            </a:xfrm>
            <a:prstGeom prst="roundRect">
              <a:avLst>
                <a:gd name="adj" fmla="val 1611154"/>
              </a:avLst>
            </a:prstGeom>
            <a:solidFill>
              <a:srgbClr val="E0E0EC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7" descr="preencoded.png">
              <a:extLst>
                <a:ext uri="{FF2B5EF4-FFF2-40B4-BE49-F238E27FC236}">
                  <a16:creationId xmlns:a16="http://schemas.microsoft.com/office/drawing/2014/main" id="{A742D23C-2A81-8EE0-DFA6-C0F79F6FF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4791" y="5779056"/>
              <a:ext cx="255151" cy="318968"/>
            </a:xfrm>
            <a:prstGeom prst="rect">
              <a:avLst/>
            </a:prstGeom>
          </p:spPr>
        </p:pic>
      </p:grpSp>
      <p:sp>
        <p:nvSpPr>
          <p:cNvPr id="21" name="Text 1">
            <a:extLst>
              <a:ext uri="{FF2B5EF4-FFF2-40B4-BE49-F238E27FC236}">
                <a16:creationId xmlns:a16="http://schemas.microsoft.com/office/drawing/2014/main" id="{F4630CC8-E598-9E49-E0C8-18C476F7D963}"/>
              </a:ext>
            </a:extLst>
          </p:cNvPr>
          <p:cNvSpPr/>
          <p:nvPr/>
        </p:nvSpPr>
        <p:spPr>
          <a:xfrm>
            <a:off x="627277" y="2026682"/>
            <a:ext cx="324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Self-Service Interactions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14F82AE3-EDD1-8B57-EE16-156B1298397B}"/>
              </a:ext>
            </a:extLst>
          </p:cNvPr>
          <p:cNvSpPr/>
          <p:nvPr/>
        </p:nvSpPr>
        <p:spPr>
          <a:xfrm>
            <a:off x="430731" y="2517101"/>
            <a:ext cx="34386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50"/>
              </a:lnSpc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Automated issue resolution</a:t>
            </a: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95F925A-A7E1-03F5-2BDC-AD31E4A2112B}"/>
              </a:ext>
            </a:extLst>
          </p:cNvPr>
          <p:cNvSpPr/>
          <p:nvPr/>
        </p:nvSpPr>
        <p:spPr>
          <a:xfrm>
            <a:off x="479316" y="4214039"/>
            <a:ext cx="3372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Service Portal Integration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EE1D75A-6C1F-8E4A-2EDB-9D24B74D7BBC}"/>
              </a:ext>
            </a:extLst>
          </p:cNvPr>
          <p:cNvSpPr/>
          <p:nvPr/>
        </p:nvSpPr>
        <p:spPr>
          <a:xfrm>
            <a:off x="-503307" y="4704457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r">
              <a:lnSpc>
                <a:spcPts val="2850"/>
              </a:lnSpc>
              <a:buNone/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Connected experience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7BD457A-0659-D249-9F8D-4BE46D08BA77}"/>
              </a:ext>
            </a:extLst>
          </p:cNvPr>
          <p:cNvSpPr/>
          <p:nvPr/>
        </p:nvSpPr>
        <p:spPr>
          <a:xfrm>
            <a:off x="8218757" y="2026682"/>
            <a:ext cx="3078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NLU Intent Recognition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DDF99571-7BE2-A3C4-44D0-3849A996E9AC}"/>
              </a:ext>
            </a:extLst>
          </p:cNvPr>
          <p:cNvSpPr/>
          <p:nvPr/>
        </p:nvSpPr>
        <p:spPr>
          <a:xfrm>
            <a:off x="8117157" y="2517101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850"/>
              </a:lnSpc>
              <a:buNone/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Smart conversation understanding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0BA0596-5D18-56F5-16D9-27BD1188885F}"/>
              </a:ext>
            </a:extLst>
          </p:cNvPr>
          <p:cNvSpPr/>
          <p:nvPr/>
        </p:nvSpPr>
        <p:spPr>
          <a:xfrm>
            <a:off x="8124967" y="4186805"/>
            <a:ext cx="3350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Live Agent Handoff</a:t>
            </a: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812ABC27-CCA7-03DA-5977-43E3F1EEBB1D}"/>
              </a:ext>
            </a:extLst>
          </p:cNvPr>
          <p:cNvSpPr/>
          <p:nvPr/>
        </p:nvSpPr>
        <p:spPr>
          <a:xfrm>
            <a:off x="8124967" y="4647158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Seamless escalation process</a:t>
            </a:r>
          </a:p>
        </p:txBody>
      </p:sp>
    </p:spTree>
    <p:extLst>
      <p:ext uri="{BB962C8B-B14F-4D97-AF65-F5344CB8AC3E}">
        <p14:creationId xmlns:p14="http://schemas.microsoft.com/office/powerpoint/2010/main" val="43825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F9A8A-6D99-ADEA-0E5C-A9574C77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6566C-1AB2-B48D-66C8-F8576C2C52F1}"/>
              </a:ext>
            </a:extLst>
          </p:cNvPr>
          <p:cNvSpPr txBox="1"/>
          <p:nvPr/>
        </p:nvSpPr>
        <p:spPr>
          <a:xfrm>
            <a:off x="776716" y="280062"/>
            <a:ext cx="8481584" cy="76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5550"/>
              </a:lnSpc>
              <a:spcBef>
                <a:spcPct val="0"/>
              </a:spcBef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Measuring Success: Key Metrics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E9566A-4DD3-4B98-8B8E-020EEAF2566F}"/>
              </a:ext>
            </a:extLst>
          </p:cNvPr>
          <p:cNvGrpSpPr/>
          <p:nvPr/>
        </p:nvGrpSpPr>
        <p:grpSpPr>
          <a:xfrm>
            <a:off x="1359462" y="1775870"/>
            <a:ext cx="3370883" cy="1203719"/>
            <a:chOff x="559362" y="2128116"/>
            <a:chExt cx="3370883" cy="1203719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9A936440-8E8F-CA18-4739-8526E73BF661}"/>
                </a:ext>
              </a:extLst>
            </p:cNvPr>
            <p:cNvSpPr/>
            <p:nvPr/>
          </p:nvSpPr>
          <p:spPr>
            <a:xfrm>
              <a:off x="776716" y="2128116"/>
              <a:ext cx="3153529" cy="4992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900"/>
                </a:lnSpc>
                <a:buNone/>
              </a:pPr>
              <a:r>
                <a:rPr lang="en-US" sz="3900" b="1" dirty="0">
                  <a:solidFill>
                    <a:srgbClr val="7FB793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85%</a:t>
              </a:r>
              <a:endParaRPr lang="en-US" sz="3900" dirty="0">
                <a:solidFill>
                  <a:srgbClr val="7FB793"/>
                </a:solidFill>
              </a:endParaRPr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D2032752-45D2-B5AA-07D6-B6FB54E21971}"/>
                </a:ext>
              </a:extLst>
            </p:cNvPr>
            <p:cNvSpPr/>
            <p:nvPr/>
          </p:nvSpPr>
          <p:spPr>
            <a:xfrm>
              <a:off x="1775646" y="2809856"/>
              <a:ext cx="1155668" cy="3013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850"/>
                </a:lnSpc>
                <a:buNone/>
              </a:pPr>
              <a:r>
                <a:rPr lang="en-US" sz="24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Portal Adoption</a:t>
              </a:r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91E7D874-7979-BBD4-FA98-0DB2F9232818}"/>
                </a:ext>
              </a:extLst>
            </p:cNvPr>
            <p:cNvSpPr/>
            <p:nvPr/>
          </p:nvSpPr>
          <p:spPr>
            <a:xfrm>
              <a:off x="559362" y="3089781"/>
              <a:ext cx="3153529" cy="2420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algn="r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chemeClr val="dk1"/>
                  </a:solidFill>
                  <a:latin typeface="Aptos" panose="020B0004020202020204" pitchFamily="34" charset="0"/>
                </a:rPr>
                <a:t>Target user engagement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E56796-E23C-C733-1771-99CDCC8C788B}"/>
              </a:ext>
            </a:extLst>
          </p:cNvPr>
          <p:cNvGrpSpPr/>
          <p:nvPr/>
        </p:nvGrpSpPr>
        <p:grpSpPr>
          <a:xfrm>
            <a:off x="6778763" y="1775869"/>
            <a:ext cx="3153530" cy="1257538"/>
            <a:chOff x="6778763" y="1775869"/>
            <a:chExt cx="3153530" cy="1257538"/>
          </a:xfrm>
        </p:grpSpPr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135D917E-DE14-24AC-FBE6-5ED7F2B6D9A2}"/>
                </a:ext>
              </a:extLst>
            </p:cNvPr>
            <p:cNvSpPr/>
            <p:nvPr/>
          </p:nvSpPr>
          <p:spPr>
            <a:xfrm>
              <a:off x="6778763" y="1775869"/>
              <a:ext cx="3153529" cy="49922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ctr">
                <a:lnSpc>
                  <a:spcPts val="3900"/>
                </a:lnSpc>
                <a:buNone/>
              </a:pPr>
              <a:r>
                <a:rPr lang="en-US" sz="3900" b="1" dirty="0">
                  <a:solidFill>
                    <a:srgbClr val="7FB793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40%</a:t>
              </a:r>
              <a:endParaRPr lang="en-US" sz="3900" dirty="0">
                <a:solidFill>
                  <a:srgbClr val="7FB793"/>
                </a:solidFill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F07C620E-BA29-82F2-7F20-2829272F8AE4}"/>
                </a:ext>
              </a:extLst>
            </p:cNvPr>
            <p:cNvSpPr/>
            <p:nvPr/>
          </p:nvSpPr>
          <p:spPr>
            <a:xfrm>
              <a:off x="8184566" y="2490038"/>
              <a:ext cx="816780" cy="23645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ctr">
                <a:lnSpc>
                  <a:spcPts val="1850"/>
                </a:lnSpc>
                <a:buNone/>
              </a:pPr>
              <a:r>
                <a:rPr lang="en-US" sz="24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Virtual Agent Deflection</a:t>
              </a: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483AD68C-99CC-6BD6-59D2-DF76914DAD30}"/>
                </a:ext>
              </a:extLst>
            </p:cNvPr>
            <p:cNvSpPr/>
            <p:nvPr/>
          </p:nvSpPr>
          <p:spPr>
            <a:xfrm>
              <a:off x="6778764" y="2791353"/>
              <a:ext cx="3153529" cy="2420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r">
                <a:lnSpc>
                  <a:spcPts val="2850"/>
                </a:lnSpc>
              </a:pPr>
              <a:r>
                <a:rPr lang="en-US" sz="2000" dirty="0">
                  <a:solidFill>
                    <a:schemeClr val="dk1"/>
                  </a:solidFill>
                  <a:latin typeface="Aptos" panose="020B0004020202020204" pitchFamily="34" charset="0"/>
                  <a:ea typeface="+mn-ea"/>
                  <a:cs typeface="+mn-cs"/>
                </a:rPr>
                <a:t>Reduced support tickets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56C732-131A-61CB-A82B-D3A8FD82F763}"/>
              </a:ext>
            </a:extLst>
          </p:cNvPr>
          <p:cNvGrpSpPr/>
          <p:nvPr/>
        </p:nvGrpSpPr>
        <p:grpSpPr>
          <a:xfrm>
            <a:off x="923178" y="4030979"/>
            <a:ext cx="4460804" cy="1279438"/>
            <a:chOff x="0" y="4230656"/>
            <a:chExt cx="4460804" cy="1279438"/>
          </a:xfrm>
        </p:grpSpPr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25D2034E-B3B6-8263-1754-164405425075}"/>
                </a:ext>
              </a:extLst>
            </p:cNvPr>
            <p:cNvSpPr/>
            <p:nvPr/>
          </p:nvSpPr>
          <p:spPr>
            <a:xfrm>
              <a:off x="0" y="4230656"/>
              <a:ext cx="4272254" cy="49922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ctr">
                <a:lnSpc>
                  <a:spcPts val="3900"/>
                </a:lnSpc>
                <a:buNone/>
              </a:pPr>
              <a:r>
                <a:rPr lang="en-US" sz="3900" b="1" dirty="0">
                  <a:solidFill>
                    <a:srgbClr val="7FB793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30%</a:t>
              </a:r>
              <a:endParaRPr lang="en-US" sz="3900" dirty="0">
                <a:solidFill>
                  <a:srgbClr val="7FB793"/>
                </a:solidFill>
              </a:endParaRP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D2DAB313-2487-17FA-C6DE-0EB6ACFEA5AD}"/>
                </a:ext>
              </a:extLst>
            </p:cNvPr>
            <p:cNvSpPr/>
            <p:nvPr/>
          </p:nvSpPr>
          <p:spPr>
            <a:xfrm>
              <a:off x="1824981" y="4943849"/>
              <a:ext cx="999393" cy="23645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ctr">
                <a:lnSpc>
                  <a:spcPts val="1850"/>
                </a:lnSpc>
              </a:pPr>
              <a:r>
                <a:rPr lang="en-US" sz="24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MTTR Improvement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D9B90AA5-B5C3-19F4-CF2E-31461ED5DF71}"/>
                </a:ext>
              </a:extLst>
            </p:cNvPr>
            <p:cNvSpPr/>
            <p:nvPr/>
          </p:nvSpPr>
          <p:spPr>
            <a:xfrm>
              <a:off x="188550" y="5268040"/>
              <a:ext cx="4272254" cy="2420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indent="0" algn="ctr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chemeClr val="dk1"/>
                  </a:solidFill>
                  <a:latin typeface="Aptos" panose="020B0004020202020204" pitchFamily="34" charset="0"/>
                  <a:ea typeface="+mn-ea"/>
                  <a:cs typeface="+mn-cs"/>
                </a:rPr>
                <a:t>Faster issue resolution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7778D7-CB9C-2CB3-6A64-4D7DCDE64B8E}"/>
              </a:ext>
            </a:extLst>
          </p:cNvPr>
          <p:cNvGrpSpPr/>
          <p:nvPr/>
        </p:nvGrpSpPr>
        <p:grpSpPr>
          <a:xfrm>
            <a:off x="6739222" y="4052879"/>
            <a:ext cx="3153529" cy="1257538"/>
            <a:chOff x="7108071" y="4222489"/>
            <a:chExt cx="3153529" cy="1257538"/>
          </a:xfrm>
        </p:grpSpPr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9DBD2688-1EE6-23C5-054E-5CE33C02CA3D}"/>
                </a:ext>
              </a:extLst>
            </p:cNvPr>
            <p:cNvSpPr/>
            <p:nvPr/>
          </p:nvSpPr>
          <p:spPr>
            <a:xfrm>
              <a:off x="7108071" y="4222489"/>
              <a:ext cx="3153529" cy="49922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ctr">
                <a:lnSpc>
                  <a:spcPts val="3900"/>
                </a:lnSpc>
                <a:buNone/>
              </a:pPr>
              <a:r>
                <a:rPr lang="en-US" sz="3900" b="1" dirty="0">
                  <a:solidFill>
                    <a:srgbClr val="7FB793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25%</a:t>
              </a:r>
              <a:endParaRPr lang="en-US" sz="3900" dirty="0">
                <a:solidFill>
                  <a:srgbClr val="7FB793"/>
                </a:solidFill>
              </a:endParaRPr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B470D33-962A-0C5F-8E0E-E5581C58FC60}"/>
                </a:ext>
              </a:extLst>
            </p:cNvPr>
            <p:cNvSpPr/>
            <p:nvPr/>
          </p:nvSpPr>
          <p:spPr>
            <a:xfrm>
              <a:off x="8315988" y="4943849"/>
              <a:ext cx="737693" cy="23645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indent="0" algn="ctr">
                <a:lnSpc>
                  <a:spcPts val="1850"/>
                </a:lnSpc>
                <a:buNone/>
              </a:pPr>
              <a:r>
                <a:rPr lang="en-US" sz="2400" b="1" dirty="0">
                  <a:solidFill>
                    <a:srgbClr val="80B894"/>
                  </a:solidFill>
                  <a:latin typeface="Aptos" panose="020B0004020202020204" pitchFamily="34" charset="0"/>
                  <a:ea typeface="微软雅黑"/>
                  <a:cs typeface="Posterama" panose="020B0504020200020000" pitchFamily="34" charset="0"/>
                </a:rPr>
                <a:t>Productivity Gain</a:t>
              </a:r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670BB6C0-B8DD-E9A8-7A07-DA57852ABAB4}"/>
                </a:ext>
              </a:extLst>
            </p:cNvPr>
            <p:cNvSpPr/>
            <p:nvPr/>
          </p:nvSpPr>
          <p:spPr>
            <a:xfrm>
              <a:off x="7108071" y="5237973"/>
              <a:ext cx="3153529" cy="2420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r">
                <a:lnSpc>
                  <a:spcPts val="2850"/>
                </a:lnSpc>
              </a:pPr>
              <a:r>
                <a:rPr lang="en-US" sz="2000" dirty="0">
                  <a:solidFill>
                    <a:schemeClr val="dk1"/>
                  </a:solidFill>
                  <a:latin typeface="Aptos" panose="020B0004020202020204" pitchFamily="34" charset="0"/>
                  <a:ea typeface="+mn-ea"/>
                  <a:cs typeface="+mn-cs"/>
                </a:rPr>
                <a:t>Agent efficiency increase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722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D66B4F1A-91CA-DD5E-C298-5298DD21C908}"/>
              </a:ext>
            </a:extLst>
          </p:cNvPr>
          <p:cNvSpPr/>
          <p:nvPr/>
        </p:nvSpPr>
        <p:spPr>
          <a:xfrm rot="5400000">
            <a:off x="552861" y="4947243"/>
            <a:ext cx="1195885" cy="1199880"/>
          </a:xfrm>
          <a:custGeom>
            <a:avLst/>
            <a:gdLst>
              <a:gd name="connsiteX0" fmla="*/ 0 w 3465147"/>
              <a:gd name="connsiteY0" fmla="*/ 0 h 1386058"/>
              <a:gd name="connsiteX1" fmla="*/ 2772118 w 3465147"/>
              <a:gd name="connsiteY1" fmla="*/ 0 h 1386058"/>
              <a:gd name="connsiteX2" fmla="*/ 3465147 w 3465147"/>
              <a:gd name="connsiteY2" fmla="*/ 693029 h 1386058"/>
              <a:gd name="connsiteX3" fmla="*/ 2772118 w 3465147"/>
              <a:gd name="connsiteY3" fmla="*/ 1386058 h 1386058"/>
              <a:gd name="connsiteX4" fmla="*/ 0 w 3465147"/>
              <a:gd name="connsiteY4" fmla="*/ 1386058 h 1386058"/>
              <a:gd name="connsiteX5" fmla="*/ 693029 w 3465147"/>
              <a:gd name="connsiteY5" fmla="*/ 693029 h 1386058"/>
              <a:gd name="connsiteX6" fmla="*/ 0 w 3465147"/>
              <a:gd name="connsiteY6" fmla="*/ 0 h 138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5147" h="1386058">
                <a:moveTo>
                  <a:pt x="0" y="0"/>
                </a:moveTo>
                <a:lnTo>
                  <a:pt x="2772118" y="0"/>
                </a:lnTo>
                <a:lnTo>
                  <a:pt x="3465147" y="693029"/>
                </a:lnTo>
                <a:lnTo>
                  <a:pt x="2772118" y="1386058"/>
                </a:lnTo>
                <a:lnTo>
                  <a:pt x="0" y="1386058"/>
                </a:lnTo>
                <a:lnTo>
                  <a:pt x="693029" y="693029"/>
                </a:lnTo>
                <a:lnTo>
                  <a:pt x="0" y="0"/>
                </a:lnTo>
                <a:close/>
              </a:path>
            </a:pathLst>
          </a:custGeom>
          <a:solidFill>
            <a:srgbClr val="7FB793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9056" tIns="72009" rIns="765038" bIns="72009" numCol="1" spcCol="1270" anchor="ctr" anchorCtr="0">
            <a:noAutofit/>
          </a:bodyPr>
          <a:lstStyle/>
          <a:p>
            <a:pPr marL="0" lvl="0" indent="0"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5400" kern="12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6075616-2843-895E-0BEB-E6C511028E8D}"/>
              </a:ext>
            </a:extLst>
          </p:cNvPr>
          <p:cNvSpPr/>
          <p:nvPr/>
        </p:nvSpPr>
        <p:spPr>
          <a:xfrm rot="5400000">
            <a:off x="552861" y="3751359"/>
            <a:ext cx="1195885" cy="1199880"/>
          </a:xfrm>
          <a:custGeom>
            <a:avLst/>
            <a:gdLst>
              <a:gd name="connsiteX0" fmla="*/ 0 w 3465147"/>
              <a:gd name="connsiteY0" fmla="*/ 0 h 1386058"/>
              <a:gd name="connsiteX1" fmla="*/ 2772118 w 3465147"/>
              <a:gd name="connsiteY1" fmla="*/ 0 h 1386058"/>
              <a:gd name="connsiteX2" fmla="*/ 3465147 w 3465147"/>
              <a:gd name="connsiteY2" fmla="*/ 693029 h 1386058"/>
              <a:gd name="connsiteX3" fmla="*/ 2772118 w 3465147"/>
              <a:gd name="connsiteY3" fmla="*/ 1386058 h 1386058"/>
              <a:gd name="connsiteX4" fmla="*/ 0 w 3465147"/>
              <a:gd name="connsiteY4" fmla="*/ 1386058 h 1386058"/>
              <a:gd name="connsiteX5" fmla="*/ 693029 w 3465147"/>
              <a:gd name="connsiteY5" fmla="*/ 693029 h 1386058"/>
              <a:gd name="connsiteX6" fmla="*/ 0 w 3465147"/>
              <a:gd name="connsiteY6" fmla="*/ 0 h 138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5147" h="1386058">
                <a:moveTo>
                  <a:pt x="0" y="0"/>
                </a:moveTo>
                <a:lnTo>
                  <a:pt x="2772118" y="0"/>
                </a:lnTo>
                <a:lnTo>
                  <a:pt x="3465147" y="693029"/>
                </a:lnTo>
                <a:lnTo>
                  <a:pt x="2772118" y="1386058"/>
                </a:lnTo>
                <a:lnTo>
                  <a:pt x="0" y="1386058"/>
                </a:lnTo>
                <a:lnTo>
                  <a:pt x="693029" y="693029"/>
                </a:lnTo>
                <a:lnTo>
                  <a:pt x="0" y="0"/>
                </a:lnTo>
                <a:close/>
              </a:path>
            </a:pathLst>
          </a:custGeom>
          <a:solidFill>
            <a:srgbClr val="7FB793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9056" tIns="72009" rIns="765038" bIns="72009" numCol="1" spcCol="1270" anchor="ctr" anchorCtr="0">
            <a:noAutofit/>
          </a:bodyPr>
          <a:lstStyle/>
          <a:p>
            <a:pPr marL="0" lvl="0" indent="0"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5400" kern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979F26-8B63-95BA-FF64-A05E50D5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Confidential | @2025 ServiceWow. All Rights Reserved</a:t>
            </a:r>
            <a:endParaRPr lang="en-IN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4EE3D42-1B2B-5D7E-86B6-0DB10946EAD6}"/>
              </a:ext>
            </a:extLst>
          </p:cNvPr>
          <p:cNvSpPr/>
          <p:nvPr/>
        </p:nvSpPr>
        <p:spPr>
          <a:xfrm rot="5400000">
            <a:off x="552856" y="1407276"/>
            <a:ext cx="1195885" cy="1199880"/>
          </a:xfrm>
          <a:custGeom>
            <a:avLst/>
            <a:gdLst>
              <a:gd name="connsiteX0" fmla="*/ 0 w 3465147"/>
              <a:gd name="connsiteY0" fmla="*/ 0 h 1386058"/>
              <a:gd name="connsiteX1" fmla="*/ 2772118 w 3465147"/>
              <a:gd name="connsiteY1" fmla="*/ 0 h 1386058"/>
              <a:gd name="connsiteX2" fmla="*/ 3465147 w 3465147"/>
              <a:gd name="connsiteY2" fmla="*/ 693029 h 1386058"/>
              <a:gd name="connsiteX3" fmla="*/ 2772118 w 3465147"/>
              <a:gd name="connsiteY3" fmla="*/ 1386058 h 1386058"/>
              <a:gd name="connsiteX4" fmla="*/ 0 w 3465147"/>
              <a:gd name="connsiteY4" fmla="*/ 1386058 h 1386058"/>
              <a:gd name="connsiteX5" fmla="*/ 693029 w 3465147"/>
              <a:gd name="connsiteY5" fmla="*/ 693029 h 1386058"/>
              <a:gd name="connsiteX6" fmla="*/ 0 w 3465147"/>
              <a:gd name="connsiteY6" fmla="*/ 0 h 138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5147" h="1386058">
                <a:moveTo>
                  <a:pt x="0" y="0"/>
                </a:moveTo>
                <a:lnTo>
                  <a:pt x="2772118" y="0"/>
                </a:lnTo>
                <a:lnTo>
                  <a:pt x="3465147" y="693029"/>
                </a:lnTo>
                <a:lnTo>
                  <a:pt x="2772118" y="1386058"/>
                </a:lnTo>
                <a:lnTo>
                  <a:pt x="0" y="1386058"/>
                </a:lnTo>
                <a:lnTo>
                  <a:pt x="693029" y="693029"/>
                </a:lnTo>
                <a:lnTo>
                  <a:pt x="0" y="0"/>
                </a:lnTo>
                <a:close/>
              </a:path>
            </a:pathLst>
          </a:custGeom>
          <a:solidFill>
            <a:srgbClr val="7FB793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9056" tIns="72009" rIns="765038" bIns="72009" numCol="1" spcCol="1270" anchor="ctr" anchorCtr="0">
            <a:noAutofit/>
          </a:bodyPr>
          <a:lstStyle/>
          <a:p>
            <a:pPr marL="0" lvl="0" indent="0"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5400" kern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77D03-DE4B-0B9B-ADAF-F1EA3519947C}"/>
              </a:ext>
            </a:extLst>
          </p:cNvPr>
          <p:cNvSpPr txBox="1"/>
          <p:nvPr/>
        </p:nvSpPr>
        <p:spPr>
          <a:xfrm>
            <a:off x="2256147" y="1729744"/>
            <a:ext cx="4687773" cy="68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50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Confirm Requirements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Finalize design specifications</a:t>
            </a:r>
            <a:r>
              <a:rPr lang="en-IN" sz="2000" dirty="0">
                <a:solidFill>
                  <a:schemeClr val="dk1"/>
                </a:solidFill>
                <a:latin typeface="Aptos" panose="020B0004020202020204" pitchFamily="34" charset="0"/>
              </a:rPr>
              <a:t>work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E515E1D-D2AE-D6C7-DF2E-B63513DF3AFB}"/>
              </a:ext>
            </a:extLst>
          </p:cNvPr>
          <p:cNvSpPr/>
          <p:nvPr/>
        </p:nvSpPr>
        <p:spPr>
          <a:xfrm rot="5400000">
            <a:off x="552857" y="2603161"/>
            <a:ext cx="1195885" cy="1199880"/>
          </a:xfrm>
          <a:custGeom>
            <a:avLst/>
            <a:gdLst>
              <a:gd name="connsiteX0" fmla="*/ 0 w 3465147"/>
              <a:gd name="connsiteY0" fmla="*/ 0 h 1386058"/>
              <a:gd name="connsiteX1" fmla="*/ 2772118 w 3465147"/>
              <a:gd name="connsiteY1" fmla="*/ 0 h 1386058"/>
              <a:gd name="connsiteX2" fmla="*/ 3465147 w 3465147"/>
              <a:gd name="connsiteY2" fmla="*/ 693029 h 1386058"/>
              <a:gd name="connsiteX3" fmla="*/ 2772118 w 3465147"/>
              <a:gd name="connsiteY3" fmla="*/ 1386058 h 1386058"/>
              <a:gd name="connsiteX4" fmla="*/ 0 w 3465147"/>
              <a:gd name="connsiteY4" fmla="*/ 1386058 h 1386058"/>
              <a:gd name="connsiteX5" fmla="*/ 693029 w 3465147"/>
              <a:gd name="connsiteY5" fmla="*/ 693029 h 1386058"/>
              <a:gd name="connsiteX6" fmla="*/ 0 w 3465147"/>
              <a:gd name="connsiteY6" fmla="*/ 0 h 138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65147" h="1386058">
                <a:moveTo>
                  <a:pt x="0" y="0"/>
                </a:moveTo>
                <a:lnTo>
                  <a:pt x="2772118" y="0"/>
                </a:lnTo>
                <a:lnTo>
                  <a:pt x="3465147" y="693029"/>
                </a:lnTo>
                <a:lnTo>
                  <a:pt x="2772118" y="1386058"/>
                </a:lnTo>
                <a:lnTo>
                  <a:pt x="0" y="1386058"/>
                </a:lnTo>
                <a:lnTo>
                  <a:pt x="693029" y="693029"/>
                </a:lnTo>
                <a:lnTo>
                  <a:pt x="0" y="0"/>
                </a:lnTo>
                <a:close/>
              </a:path>
            </a:pathLst>
          </a:custGeom>
          <a:solidFill>
            <a:srgbClr val="7FB793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9056" tIns="72009" rIns="765038" bIns="72009" numCol="1" spcCol="1270" anchor="ctr" anchorCtr="0">
            <a:noAutofit/>
          </a:bodyPr>
          <a:lstStyle/>
          <a:p>
            <a:pPr marL="0" lvl="0" indent="0"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5400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16758-5ABB-E2D0-1534-FD2D9D1D31A7}"/>
              </a:ext>
            </a:extLst>
          </p:cNvPr>
          <p:cNvSpPr txBox="1"/>
          <p:nvPr/>
        </p:nvSpPr>
        <p:spPr>
          <a:xfrm>
            <a:off x="2266485" y="2887398"/>
            <a:ext cx="4687772" cy="68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Begin Development</a:t>
            </a:r>
          </a:p>
          <a:p>
            <a:pPr indent="0">
              <a:lnSpc>
                <a:spcPts val="2850"/>
              </a:lnSpc>
              <a:buNone/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Service Portal and Virtual Agent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F6A9-95BC-D025-6BB2-CD92202C6EE5}"/>
              </a:ext>
            </a:extLst>
          </p:cNvPr>
          <p:cNvSpPr txBox="1"/>
          <p:nvPr/>
        </p:nvSpPr>
        <p:spPr>
          <a:xfrm>
            <a:off x="2266485" y="4056039"/>
            <a:ext cx="4540714" cy="68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50"/>
              </a:lnSpc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Initiate Gen AI Pilot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Test key functionality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7DBE8-5FC8-A2DF-D51A-6AC47A755A4A}"/>
              </a:ext>
            </a:extLst>
          </p:cNvPr>
          <p:cNvSpPr txBox="1"/>
          <p:nvPr/>
        </p:nvSpPr>
        <p:spPr>
          <a:xfrm>
            <a:off x="2266486" y="5263083"/>
            <a:ext cx="4380373" cy="68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80B894"/>
                </a:solidFill>
                <a:latin typeface="Aptos" panose="020B0004020202020204" pitchFamily="34" charset="0"/>
                <a:ea typeface="微软雅黑"/>
                <a:cs typeface="Posterama" panose="020B0504020200020000" pitchFamily="34" charset="0"/>
              </a:rPr>
              <a:t>Establish Governance</a:t>
            </a:r>
          </a:p>
          <a:p>
            <a:pPr indent="0">
              <a:lnSpc>
                <a:spcPts val="2850"/>
              </a:lnSpc>
              <a:buNone/>
            </a:pPr>
            <a:r>
              <a:rPr lang="en-US" sz="2000" dirty="0">
                <a:solidFill>
                  <a:schemeClr val="dk1"/>
                </a:solidFill>
                <a:latin typeface="Aptos" panose="020B0004020202020204" pitchFamily="34" charset="0"/>
              </a:rPr>
              <a:t>Responsible AI 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07E17-8A50-12D9-1870-4DA36B1D52E7}"/>
              </a:ext>
            </a:extLst>
          </p:cNvPr>
          <p:cNvSpPr txBox="1"/>
          <p:nvPr/>
        </p:nvSpPr>
        <p:spPr>
          <a:xfrm>
            <a:off x="550859" y="251206"/>
            <a:ext cx="6096000" cy="76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C4A3C9-E886-09D1-A0F7-757F50BBC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16" name="Graphic 15" descr="Shield Tick outline">
            <a:extLst>
              <a:ext uri="{FF2B5EF4-FFF2-40B4-BE49-F238E27FC236}">
                <a16:creationId xmlns:a16="http://schemas.microsoft.com/office/drawing/2014/main" id="{11330A6E-EE40-C5D7-7F36-425692D5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567" y="5204237"/>
            <a:ext cx="752459" cy="752459"/>
          </a:xfrm>
          <a:prstGeom prst="rect">
            <a:avLst/>
          </a:prstGeom>
        </p:spPr>
      </p:pic>
      <p:pic>
        <p:nvPicPr>
          <p:cNvPr id="18" name="Graphic 17" descr="Flask outline">
            <a:extLst>
              <a:ext uri="{FF2B5EF4-FFF2-40B4-BE49-F238E27FC236}">
                <a16:creationId xmlns:a16="http://schemas.microsoft.com/office/drawing/2014/main" id="{C953B9B2-F8A9-0507-186E-C924DB0FF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851" y="4056039"/>
            <a:ext cx="685893" cy="685893"/>
          </a:xfrm>
          <a:prstGeom prst="rect">
            <a:avLst/>
          </a:prstGeom>
        </p:spPr>
      </p:pic>
      <p:pic>
        <p:nvPicPr>
          <p:cNvPr id="20" name="Graphic 19" descr="Badge Tick1 outline">
            <a:extLst>
              <a:ext uri="{FF2B5EF4-FFF2-40B4-BE49-F238E27FC236}">
                <a16:creationId xmlns:a16="http://schemas.microsoft.com/office/drawing/2014/main" id="{C8F4ACE2-A652-E03C-ED3D-FD0C7E1216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249" y="1738510"/>
            <a:ext cx="585099" cy="585099"/>
          </a:xfrm>
          <a:prstGeom prst="rect">
            <a:avLst/>
          </a:prstGeom>
        </p:spPr>
      </p:pic>
      <p:pic>
        <p:nvPicPr>
          <p:cNvPr id="22" name="Graphic 21" descr="Programmer male outline">
            <a:extLst>
              <a:ext uri="{FF2B5EF4-FFF2-40B4-BE49-F238E27FC236}">
                <a16:creationId xmlns:a16="http://schemas.microsoft.com/office/drawing/2014/main" id="{4A16253B-C64C-CCA6-1AF7-C083253EBE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849" y="2887397"/>
            <a:ext cx="685893" cy="6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9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/>
      <p:bldP spid="3" grpId="0" animBg="1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2F704-FBB7-EC42-6AB4-883F3B62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C7A3F41-462F-36A9-A859-9BA7B329E1F5}"/>
              </a:ext>
            </a:extLst>
          </p:cNvPr>
          <p:cNvSpPr/>
          <p:nvPr/>
        </p:nvSpPr>
        <p:spPr>
          <a:xfrm>
            <a:off x="11793186" y="1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E68BE249-4C3F-8099-4B5C-59F5A7795535}"/>
              </a:ext>
            </a:extLst>
          </p:cNvPr>
          <p:cNvSpPr/>
          <p:nvPr/>
        </p:nvSpPr>
        <p:spPr>
          <a:xfrm>
            <a:off x="0" y="217084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C8F1B4-9952-717C-0339-FB1AABFA8E33}"/>
              </a:ext>
            </a:extLst>
          </p:cNvPr>
          <p:cNvSpPr/>
          <p:nvPr/>
        </p:nvSpPr>
        <p:spPr>
          <a:xfrm>
            <a:off x="-4916" y="3316302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E487E7-23AA-09FA-CFCD-ABE5D6893D71}"/>
              </a:ext>
            </a:extLst>
          </p:cNvPr>
          <p:cNvSpPr/>
          <p:nvPr/>
        </p:nvSpPr>
        <p:spPr>
          <a:xfrm>
            <a:off x="14751" y="4456844"/>
            <a:ext cx="398811" cy="263460"/>
          </a:xfrm>
          <a:custGeom>
            <a:avLst/>
            <a:gdLst>
              <a:gd name="connsiteX0" fmla="*/ 341684 w 398811"/>
              <a:gd name="connsiteY0" fmla="*/ 142391 h 397859"/>
              <a:gd name="connsiteX1" fmla="*/ 256531 w 398811"/>
              <a:gd name="connsiteY1" fmla="*/ 142391 h 397859"/>
              <a:gd name="connsiteX2" fmla="*/ 256531 w 398811"/>
              <a:gd name="connsiteY2" fmla="*/ 57333 h 397859"/>
              <a:gd name="connsiteX3" fmla="*/ 199381 w 398811"/>
              <a:gd name="connsiteY3" fmla="*/ 183 h 397859"/>
              <a:gd name="connsiteX4" fmla="*/ 199381 w 398811"/>
              <a:gd name="connsiteY4" fmla="*/ 183 h 397859"/>
              <a:gd name="connsiteX5" fmla="*/ 142231 w 398811"/>
              <a:gd name="connsiteY5" fmla="*/ 57333 h 397859"/>
              <a:gd name="connsiteX6" fmla="*/ 142231 w 398811"/>
              <a:gd name="connsiteY6" fmla="*/ 142391 h 397859"/>
              <a:gd name="connsiteX7" fmla="*/ 57172 w 398811"/>
              <a:gd name="connsiteY7" fmla="*/ 142391 h 397859"/>
              <a:gd name="connsiteX8" fmla="*/ 22 w 398811"/>
              <a:gd name="connsiteY8" fmla="*/ 199541 h 397859"/>
              <a:gd name="connsiteX9" fmla="*/ 22 w 398811"/>
              <a:gd name="connsiteY9" fmla="*/ 199541 h 397859"/>
              <a:gd name="connsiteX10" fmla="*/ 57172 w 398811"/>
              <a:gd name="connsiteY10" fmla="*/ 256215 h 397859"/>
              <a:gd name="connsiteX11" fmla="*/ 142231 w 398811"/>
              <a:gd name="connsiteY11" fmla="*/ 256215 h 397859"/>
              <a:gd name="connsiteX12" fmla="*/ 142231 w 398811"/>
              <a:gd name="connsiteY12" fmla="*/ 341368 h 397859"/>
              <a:gd name="connsiteX13" fmla="*/ 199381 w 398811"/>
              <a:gd name="connsiteY13" fmla="*/ 398042 h 397859"/>
              <a:gd name="connsiteX14" fmla="*/ 199381 w 398811"/>
              <a:gd name="connsiteY14" fmla="*/ 398042 h 397859"/>
              <a:gd name="connsiteX15" fmla="*/ 256531 w 398811"/>
              <a:gd name="connsiteY15" fmla="*/ 341368 h 397859"/>
              <a:gd name="connsiteX16" fmla="*/ 256531 w 398811"/>
              <a:gd name="connsiteY16" fmla="*/ 255834 h 397859"/>
              <a:gd name="connsiteX17" fmla="*/ 341684 w 398811"/>
              <a:gd name="connsiteY17" fmla="*/ 255834 h 397859"/>
              <a:gd name="connsiteX18" fmla="*/ 398834 w 398811"/>
              <a:gd name="connsiteY18" fmla="*/ 199160 h 397859"/>
              <a:gd name="connsiteX19" fmla="*/ 398834 w 398811"/>
              <a:gd name="connsiteY19" fmla="*/ 199160 h 397859"/>
              <a:gd name="connsiteX20" fmla="*/ 341684 w 398811"/>
              <a:gd name="connsiteY20" fmla="*/ 142391 h 397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8811" h="397859">
                <a:moveTo>
                  <a:pt x="341684" y="142391"/>
                </a:moveTo>
                <a:lnTo>
                  <a:pt x="256531" y="142391"/>
                </a:lnTo>
                <a:lnTo>
                  <a:pt x="256531" y="57333"/>
                </a:lnTo>
                <a:cubicBezTo>
                  <a:pt x="256531" y="25770"/>
                  <a:pt x="230947" y="183"/>
                  <a:pt x="199381" y="183"/>
                </a:cubicBezTo>
                <a:lnTo>
                  <a:pt x="199381" y="183"/>
                </a:lnTo>
                <a:cubicBezTo>
                  <a:pt x="167815" y="183"/>
                  <a:pt x="142231" y="25770"/>
                  <a:pt x="142231" y="57333"/>
                </a:cubicBezTo>
                <a:lnTo>
                  <a:pt x="142231" y="142391"/>
                </a:lnTo>
                <a:lnTo>
                  <a:pt x="57172" y="142391"/>
                </a:lnTo>
                <a:cubicBezTo>
                  <a:pt x="25606" y="142391"/>
                  <a:pt x="22" y="167978"/>
                  <a:pt x="22" y="199541"/>
                </a:cubicBezTo>
                <a:lnTo>
                  <a:pt x="22" y="199541"/>
                </a:lnTo>
                <a:cubicBezTo>
                  <a:pt x="279" y="230918"/>
                  <a:pt x="25797" y="256216"/>
                  <a:pt x="57172" y="256215"/>
                </a:cubicBezTo>
                <a:lnTo>
                  <a:pt x="142231" y="256215"/>
                </a:lnTo>
                <a:lnTo>
                  <a:pt x="142231" y="341368"/>
                </a:lnTo>
                <a:cubicBezTo>
                  <a:pt x="142487" y="372745"/>
                  <a:pt x="168005" y="398043"/>
                  <a:pt x="199381" y="398042"/>
                </a:cubicBezTo>
                <a:lnTo>
                  <a:pt x="199381" y="398042"/>
                </a:lnTo>
                <a:cubicBezTo>
                  <a:pt x="230756" y="398043"/>
                  <a:pt x="256274" y="372745"/>
                  <a:pt x="256531" y="341368"/>
                </a:cubicBezTo>
                <a:lnTo>
                  <a:pt x="256531" y="255834"/>
                </a:lnTo>
                <a:lnTo>
                  <a:pt x="341684" y="255834"/>
                </a:lnTo>
                <a:cubicBezTo>
                  <a:pt x="373059" y="255835"/>
                  <a:pt x="398577" y="230537"/>
                  <a:pt x="398834" y="199160"/>
                </a:cubicBezTo>
                <a:lnTo>
                  <a:pt x="398834" y="199160"/>
                </a:lnTo>
                <a:cubicBezTo>
                  <a:pt x="398625" y="167746"/>
                  <a:pt x="373097" y="142390"/>
                  <a:pt x="341684" y="142391"/>
                </a:cubicBezTo>
                <a:close/>
              </a:path>
            </a:pathLst>
          </a:custGeom>
          <a:noFill/>
          <a:ln w="80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104F24-F3B7-91E6-67E8-CE20537D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IN" dirty="0"/>
              <a:t>Confidential | @2025 </a:t>
            </a:r>
            <a:r>
              <a:rPr lang="en-IN" dirty="0" err="1"/>
              <a:t>ServiceWow</a:t>
            </a:r>
            <a:r>
              <a:rPr lang="en-IN" dirty="0"/>
              <a:t>. All Rights Reserved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16E268-2AF6-117E-66B8-20C1E2E3C46B}"/>
              </a:ext>
            </a:extLst>
          </p:cNvPr>
          <p:cNvSpPr txBox="1">
            <a:spLocks/>
          </p:cNvSpPr>
          <p:nvPr/>
        </p:nvSpPr>
        <p:spPr>
          <a:xfrm>
            <a:off x="806115" y="409483"/>
            <a:ext cx="9628361" cy="8172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6"/>
                </a:solidFill>
              </a:rPr>
              <a:t>Key Takeaways</a:t>
            </a:r>
          </a:p>
        </p:txBody>
      </p:sp>
      <p:sp>
        <p:nvSpPr>
          <p:cNvPr id="7" name="Google Shape;353;p10">
            <a:extLst>
              <a:ext uri="{FF2B5EF4-FFF2-40B4-BE49-F238E27FC236}">
                <a16:creationId xmlns:a16="http://schemas.microsoft.com/office/drawing/2014/main" id="{E3F507C2-6ACF-C422-4392-B0393DFB1D5F}"/>
              </a:ext>
            </a:extLst>
          </p:cNvPr>
          <p:cNvSpPr/>
          <p:nvPr/>
        </p:nvSpPr>
        <p:spPr>
          <a:xfrm>
            <a:off x="1363310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A6F9CF-1077-BC14-802B-8A2112E465AF}"/>
              </a:ext>
            </a:extLst>
          </p:cNvPr>
          <p:cNvGrpSpPr/>
          <p:nvPr/>
        </p:nvGrpSpPr>
        <p:grpSpPr>
          <a:xfrm>
            <a:off x="413562" y="2030531"/>
            <a:ext cx="2643750" cy="2835001"/>
            <a:chOff x="1363310" y="2030531"/>
            <a:chExt cx="2643750" cy="2835001"/>
          </a:xfrm>
        </p:grpSpPr>
        <p:sp>
          <p:nvSpPr>
            <p:cNvPr id="3" name="Google Shape;351;p10">
              <a:extLst>
                <a:ext uri="{FF2B5EF4-FFF2-40B4-BE49-F238E27FC236}">
                  <a16:creationId xmlns:a16="http://schemas.microsoft.com/office/drawing/2014/main" id="{C0A062C7-1ED8-1A74-4AEB-E0FEE7593F88}"/>
                </a:ext>
              </a:extLst>
            </p:cNvPr>
            <p:cNvSpPr/>
            <p:nvPr/>
          </p:nvSpPr>
          <p:spPr>
            <a:xfrm>
              <a:off x="1878842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52;p10">
              <a:extLst>
                <a:ext uri="{FF2B5EF4-FFF2-40B4-BE49-F238E27FC236}">
                  <a16:creationId xmlns:a16="http://schemas.microsoft.com/office/drawing/2014/main" id="{486E18E8-A28D-E2EB-EFFD-06067BD5490B}"/>
                </a:ext>
              </a:extLst>
            </p:cNvPr>
            <p:cNvSpPr/>
            <p:nvPr/>
          </p:nvSpPr>
          <p:spPr>
            <a:xfrm>
              <a:off x="2222529" y="2374219"/>
              <a:ext cx="925312" cy="9253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354;p10">
              <a:extLst>
                <a:ext uri="{FF2B5EF4-FFF2-40B4-BE49-F238E27FC236}">
                  <a16:creationId xmlns:a16="http://schemas.microsoft.com/office/drawing/2014/main" id="{3FBCDEE2-3DEA-9CEC-92D0-3887FCDA71A4}"/>
                </a:ext>
              </a:extLst>
            </p:cNvPr>
            <p:cNvSpPr txBox="1"/>
            <p:nvPr/>
          </p:nvSpPr>
          <p:spPr>
            <a:xfrm>
              <a:off x="1363310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MODERNIZED EXPERIENCE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sp>
        <p:nvSpPr>
          <p:cNvPr id="13" name="Google Shape;357;p10">
            <a:extLst>
              <a:ext uri="{FF2B5EF4-FFF2-40B4-BE49-F238E27FC236}">
                <a16:creationId xmlns:a16="http://schemas.microsoft.com/office/drawing/2014/main" id="{F341ED37-7C8A-DDA2-0C37-980F483404B9}"/>
              </a:ext>
            </a:extLst>
          </p:cNvPr>
          <p:cNvSpPr/>
          <p:nvPr/>
        </p:nvSpPr>
        <p:spPr>
          <a:xfrm>
            <a:off x="4469717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61;p10">
            <a:extLst>
              <a:ext uri="{FF2B5EF4-FFF2-40B4-BE49-F238E27FC236}">
                <a16:creationId xmlns:a16="http://schemas.microsoft.com/office/drawing/2014/main" id="{386BAC15-0C9E-035F-2006-AE54A46FB3B5}"/>
              </a:ext>
            </a:extLst>
          </p:cNvPr>
          <p:cNvSpPr/>
          <p:nvPr/>
        </p:nvSpPr>
        <p:spPr>
          <a:xfrm>
            <a:off x="7576123" y="4145532"/>
            <a:ext cx="264375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AA935-5DF6-266C-D693-2B35DA81237C}"/>
              </a:ext>
            </a:extLst>
          </p:cNvPr>
          <p:cNvGrpSpPr/>
          <p:nvPr/>
        </p:nvGrpSpPr>
        <p:grpSpPr>
          <a:xfrm>
            <a:off x="8837492" y="2049611"/>
            <a:ext cx="2643750" cy="2835001"/>
            <a:chOff x="7576123" y="2030531"/>
            <a:chExt cx="2643750" cy="2835001"/>
          </a:xfrm>
        </p:grpSpPr>
        <p:sp>
          <p:nvSpPr>
            <p:cNvPr id="15" name="Google Shape;359;p10">
              <a:extLst>
                <a:ext uri="{FF2B5EF4-FFF2-40B4-BE49-F238E27FC236}">
                  <a16:creationId xmlns:a16="http://schemas.microsoft.com/office/drawing/2014/main" id="{6AED665E-4E78-D8E4-D34E-6C59216E2115}"/>
                </a:ext>
              </a:extLst>
            </p:cNvPr>
            <p:cNvSpPr/>
            <p:nvPr/>
          </p:nvSpPr>
          <p:spPr>
            <a:xfrm>
              <a:off x="8091654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60;p10">
              <a:extLst>
                <a:ext uri="{FF2B5EF4-FFF2-40B4-BE49-F238E27FC236}">
                  <a16:creationId xmlns:a16="http://schemas.microsoft.com/office/drawing/2014/main" id="{5E13CF9E-B915-84BF-DDB2-A16DA93C0E59}"/>
                </a:ext>
              </a:extLst>
            </p:cNvPr>
            <p:cNvSpPr/>
            <p:nvPr/>
          </p:nvSpPr>
          <p:spPr>
            <a:xfrm>
              <a:off x="8435342" y="2374219"/>
              <a:ext cx="925312" cy="9253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5875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362;p10">
              <a:extLst>
                <a:ext uri="{FF2B5EF4-FFF2-40B4-BE49-F238E27FC236}">
                  <a16:creationId xmlns:a16="http://schemas.microsoft.com/office/drawing/2014/main" id="{055D2B81-B044-E899-AFB5-37DAE09423B2}"/>
                </a:ext>
              </a:extLst>
            </p:cNvPr>
            <p:cNvSpPr txBox="1"/>
            <p:nvPr/>
          </p:nvSpPr>
          <p:spPr>
            <a:xfrm>
              <a:off x="7576123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500"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MEASURED SUCCESS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EDE1DE1-53D0-C693-8A4E-FD33987C2A27}"/>
              </a:ext>
            </a:extLst>
          </p:cNvPr>
          <p:cNvGrpSpPr/>
          <p:nvPr/>
        </p:nvGrpSpPr>
        <p:grpSpPr>
          <a:xfrm>
            <a:off x="3004437" y="2049611"/>
            <a:ext cx="2643750" cy="2835001"/>
            <a:chOff x="2915177" y="2030531"/>
            <a:chExt cx="2643750" cy="2835001"/>
          </a:xfrm>
        </p:grpSpPr>
        <p:sp>
          <p:nvSpPr>
            <p:cNvPr id="11" name="Google Shape;355;p10">
              <a:extLst>
                <a:ext uri="{FF2B5EF4-FFF2-40B4-BE49-F238E27FC236}">
                  <a16:creationId xmlns:a16="http://schemas.microsoft.com/office/drawing/2014/main" id="{9C125732-5391-58BD-77CD-237C714AF718}"/>
                </a:ext>
              </a:extLst>
            </p:cNvPr>
            <p:cNvSpPr/>
            <p:nvPr/>
          </p:nvSpPr>
          <p:spPr>
            <a:xfrm>
              <a:off x="3430708" y="203053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58;p10">
              <a:extLst>
                <a:ext uri="{FF2B5EF4-FFF2-40B4-BE49-F238E27FC236}">
                  <a16:creationId xmlns:a16="http://schemas.microsoft.com/office/drawing/2014/main" id="{907C3B7D-A102-E873-302D-22DD4F257BBD}"/>
                </a:ext>
              </a:extLst>
            </p:cNvPr>
            <p:cNvSpPr txBox="1"/>
            <p:nvPr/>
          </p:nvSpPr>
          <p:spPr>
            <a:xfrm>
              <a:off x="2915177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AI AUTOMATION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  <p:pic>
          <p:nvPicPr>
            <p:cNvPr id="5" name="Graphic 4" descr="Continuous Improvement with solid fill">
              <a:extLst>
                <a:ext uri="{FF2B5EF4-FFF2-40B4-BE49-F238E27FC236}">
                  <a16:creationId xmlns:a16="http://schemas.microsoft.com/office/drawing/2014/main" id="{07D346A4-7944-F076-84E1-E2E111C35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79851" y="2410531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513972-A8A3-BFC1-718F-FFE7AAEE72EB}"/>
              </a:ext>
            </a:extLst>
          </p:cNvPr>
          <p:cNvGrpSpPr/>
          <p:nvPr/>
        </p:nvGrpSpPr>
        <p:grpSpPr>
          <a:xfrm>
            <a:off x="5830189" y="2049611"/>
            <a:ext cx="2643750" cy="2815921"/>
            <a:chOff x="5820271" y="2049611"/>
            <a:chExt cx="2643750" cy="2815921"/>
          </a:xfrm>
        </p:grpSpPr>
        <p:sp>
          <p:nvSpPr>
            <p:cNvPr id="25" name="Google Shape;355;p10">
              <a:extLst>
                <a:ext uri="{FF2B5EF4-FFF2-40B4-BE49-F238E27FC236}">
                  <a16:creationId xmlns:a16="http://schemas.microsoft.com/office/drawing/2014/main" id="{8DF92A30-2BF5-3147-2792-08E58A03D549}"/>
                </a:ext>
              </a:extLst>
            </p:cNvPr>
            <p:cNvSpPr/>
            <p:nvPr/>
          </p:nvSpPr>
          <p:spPr>
            <a:xfrm>
              <a:off x="6314149" y="2049611"/>
              <a:ext cx="1612687" cy="1612687"/>
            </a:xfrm>
            <a:prstGeom prst="ellipse">
              <a:avLst/>
            </a:prstGeom>
            <a:solidFill>
              <a:srgbClr val="80B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" name="Graphic 23" descr="Selfie with solid fill">
              <a:extLst>
                <a:ext uri="{FF2B5EF4-FFF2-40B4-BE49-F238E27FC236}">
                  <a16:creationId xmlns:a16="http://schemas.microsoft.com/office/drawing/2014/main" id="{BBD05691-05D4-E46D-EAEB-F99A0326D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7702" y="2423231"/>
              <a:ext cx="914400" cy="914400"/>
            </a:xfrm>
            <a:prstGeom prst="rect">
              <a:avLst/>
            </a:prstGeom>
          </p:spPr>
        </p:pic>
        <p:sp>
          <p:nvSpPr>
            <p:cNvPr id="26" name="Google Shape;358;p10">
              <a:extLst>
                <a:ext uri="{FF2B5EF4-FFF2-40B4-BE49-F238E27FC236}">
                  <a16:creationId xmlns:a16="http://schemas.microsoft.com/office/drawing/2014/main" id="{9B605109-B3F3-9235-D595-AB457E1C314D}"/>
                </a:ext>
              </a:extLst>
            </p:cNvPr>
            <p:cNvSpPr txBox="1"/>
            <p:nvPr/>
          </p:nvSpPr>
          <p:spPr>
            <a:xfrm>
              <a:off x="5820271" y="4145532"/>
              <a:ext cx="26437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entury Gothic"/>
                <a:buNone/>
              </a:pPr>
              <a:r>
                <a:rPr lang="en-US" dirty="0">
                  <a:solidFill>
                    <a:schemeClr val="dk1"/>
                  </a:solidFill>
                  <a:latin typeface="Aptos" panose="020B0004020202020204" pitchFamily="34" charset="0"/>
                  <a:sym typeface="Century Gothic"/>
                </a:rPr>
                <a:t>24/7 SELF-SERVICE</a:t>
              </a:r>
              <a:endParaRPr dirty="0">
                <a:solidFill>
                  <a:schemeClr val="dk1"/>
                </a:solidFill>
                <a:latin typeface="Aptos" panose="020B0004020202020204" pitchFamily="34" charset="0"/>
                <a:sym typeface="Century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847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Barlow" panose="00000500000000000000" pitchFamily="2" charset="0"/>
              </a:rPr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3916218" cy="1879791"/>
          </a:xfrm>
        </p:spPr>
        <p:txBody>
          <a:bodyPr/>
          <a:lstStyle/>
          <a:p>
            <a:pPr lvl="0"/>
            <a:r>
              <a:rPr lang="en-US" dirty="0"/>
              <a:t>www.servicewow-consultancy.com</a:t>
            </a: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Flowchart: Preparation 1">
            <a:extLst>
              <a:ext uri="{FF2B5EF4-FFF2-40B4-BE49-F238E27FC236}">
                <a16:creationId xmlns:a16="http://schemas.microsoft.com/office/drawing/2014/main" id="{7630E8AE-021C-FA4D-EAFC-43FF4AA82AC8}"/>
              </a:ext>
            </a:extLst>
          </p:cNvPr>
          <p:cNvSpPr/>
          <p:nvPr/>
        </p:nvSpPr>
        <p:spPr>
          <a:xfrm>
            <a:off x="1574993" y="444403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Preparation 1">
            <a:extLst>
              <a:ext uri="{FF2B5EF4-FFF2-40B4-BE49-F238E27FC236}">
                <a16:creationId xmlns:a16="http://schemas.microsoft.com/office/drawing/2014/main" id="{0AB4CE49-CB6E-9C7E-912B-D420B35534BF}"/>
              </a:ext>
            </a:extLst>
          </p:cNvPr>
          <p:cNvSpPr/>
          <p:nvPr/>
        </p:nvSpPr>
        <p:spPr>
          <a:xfrm>
            <a:off x="3948599" y="4570802"/>
            <a:ext cx="1464783" cy="1278385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1">
                <a:moveTo>
                  <a:pt x="0" y="5000"/>
                </a:moveTo>
                <a:lnTo>
                  <a:pt x="2461" y="1"/>
                </a:lnTo>
                <a:lnTo>
                  <a:pt x="7561" y="0"/>
                </a:lnTo>
                <a:lnTo>
                  <a:pt x="10000" y="4988"/>
                </a:lnTo>
                <a:lnTo>
                  <a:pt x="7528" y="9976"/>
                </a:lnTo>
                <a:lnTo>
                  <a:pt x="2461" y="10001"/>
                </a:lnTo>
                <a:lnTo>
                  <a:pt x="0" y="5000"/>
                </a:lnTo>
                <a:close/>
              </a:path>
            </a:pathLst>
          </a:custGeom>
          <a:solidFill>
            <a:srgbClr val="7FB793"/>
          </a:solidFill>
          <a:ln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Preparation 1">
            <a:extLst>
              <a:ext uri="{FF2B5EF4-FFF2-40B4-BE49-F238E27FC236}">
                <a16:creationId xmlns:a16="http://schemas.microsoft.com/office/drawing/2014/main" id="{D2373485-6F36-CBE4-5A7F-933119A666AE}"/>
              </a:ext>
            </a:extLst>
          </p:cNvPr>
          <p:cNvSpPr/>
          <p:nvPr/>
        </p:nvSpPr>
        <p:spPr>
          <a:xfrm>
            <a:off x="1575023" y="3175528"/>
            <a:ext cx="1464783" cy="1275189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0 w 9523"/>
              <a:gd name="connsiteY0" fmla="*/ 5049 h 10000"/>
              <a:gd name="connsiteX1" fmla="*/ 1523 w 9523"/>
              <a:gd name="connsiteY1" fmla="*/ 0 h 10000"/>
              <a:gd name="connsiteX2" fmla="*/ 7523 w 9523"/>
              <a:gd name="connsiteY2" fmla="*/ 0 h 10000"/>
              <a:gd name="connsiteX3" fmla="*/ 9523 w 9523"/>
              <a:gd name="connsiteY3" fmla="*/ 5000 h 10000"/>
              <a:gd name="connsiteX4" fmla="*/ 7523 w 9523"/>
              <a:gd name="connsiteY4" fmla="*/ 10000 h 10000"/>
              <a:gd name="connsiteX5" fmla="*/ 1523 w 9523"/>
              <a:gd name="connsiteY5" fmla="*/ 10000 h 10000"/>
              <a:gd name="connsiteX6" fmla="*/ 0 w 9523"/>
              <a:gd name="connsiteY6" fmla="*/ 5049 h 10000"/>
              <a:gd name="connsiteX0" fmla="*/ 0 w 10409"/>
              <a:gd name="connsiteY0" fmla="*/ 4901 h 10000"/>
              <a:gd name="connsiteX1" fmla="*/ 2008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008 w 10409"/>
              <a:gd name="connsiteY5" fmla="*/ 10000 h 10000"/>
              <a:gd name="connsiteX6" fmla="*/ 0 w 10409"/>
              <a:gd name="connsiteY6" fmla="*/ 4901 h 10000"/>
              <a:gd name="connsiteX0" fmla="*/ 0 w 10409"/>
              <a:gd name="connsiteY0" fmla="*/ 4901 h 10000"/>
              <a:gd name="connsiteX1" fmla="*/ 2463 w 10409"/>
              <a:gd name="connsiteY1" fmla="*/ 0 h 10000"/>
              <a:gd name="connsiteX2" fmla="*/ 8309 w 10409"/>
              <a:gd name="connsiteY2" fmla="*/ 0 h 10000"/>
              <a:gd name="connsiteX3" fmla="*/ 10409 w 10409"/>
              <a:gd name="connsiteY3" fmla="*/ 5000 h 10000"/>
              <a:gd name="connsiteX4" fmla="*/ 8309 w 10409"/>
              <a:gd name="connsiteY4" fmla="*/ 10000 h 10000"/>
              <a:gd name="connsiteX5" fmla="*/ 2463 w 10409"/>
              <a:gd name="connsiteY5" fmla="*/ 9951 h 10000"/>
              <a:gd name="connsiteX6" fmla="*/ 0 w 10409"/>
              <a:gd name="connsiteY6" fmla="*/ 4901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99 w 10545"/>
              <a:gd name="connsiteY5" fmla="*/ 9951 h 10000"/>
              <a:gd name="connsiteX6" fmla="*/ 0 w 10545"/>
              <a:gd name="connsiteY6" fmla="*/ 4883 h 10000"/>
              <a:gd name="connsiteX0" fmla="*/ 0 w 10545"/>
              <a:gd name="connsiteY0" fmla="*/ 4883 h 10000"/>
              <a:gd name="connsiteX1" fmla="*/ 2599 w 10545"/>
              <a:gd name="connsiteY1" fmla="*/ 0 h 10000"/>
              <a:gd name="connsiteX2" fmla="*/ 8445 w 10545"/>
              <a:gd name="connsiteY2" fmla="*/ 0 h 10000"/>
              <a:gd name="connsiteX3" fmla="*/ 10545 w 10545"/>
              <a:gd name="connsiteY3" fmla="*/ 5000 h 10000"/>
              <a:gd name="connsiteX4" fmla="*/ 8445 w 10545"/>
              <a:gd name="connsiteY4" fmla="*/ 10000 h 10000"/>
              <a:gd name="connsiteX5" fmla="*/ 2582 w 10545"/>
              <a:gd name="connsiteY5" fmla="*/ 9840 h 10000"/>
              <a:gd name="connsiteX6" fmla="*/ 0 w 10545"/>
              <a:gd name="connsiteY6" fmla="*/ 4883 h 10000"/>
              <a:gd name="connsiteX0" fmla="*/ 0 w 10545"/>
              <a:gd name="connsiteY0" fmla="*/ 4883 h 9840"/>
              <a:gd name="connsiteX1" fmla="*/ 2599 w 10545"/>
              <a:gd name="connsiteY1" fmla="*/ 0 h 9840"/>
              <a:gd name="connsiteX2" fmla="*/ 8445 w 10545"/>
              <a:gd name="connsiteY2" fmla="*/ 0 h 9840"/>
              <a:gd name="connsiteX3" fmla="*/ 10545 w 10545"/>
              <a:gd name="connsiteY3" fmla="*/ 5000 h 9840"/>
              <a:gd name="connsiteX4" fmla="*/ 7899 w 10545"/>
              <a:gd name="connsiteY4" fmla="*/ 9815 h 9840"/>
              <a:gd name="connsiteX5" fmla="*/ 2582 w 10545"/>
              <a:gd name="connsiteY5" fmla="*/ 9840 h 9840"/>
              <a:gd name="connsiteX6" fmla="*/ 0 w 10545"/>
              <a:gd name="connsiteY6" fmla="*/ 4883 h 9840"/>
              <a:gd name="connsiteX0" fmla="*/ 0 w 10000"/>
              <a:gd name="connsiteY0" fmla="*/ 4962 h 10000"/>
              <a:gd name="connsiteX1" fmla="*/ 2465 w 10000"/>
              <a:gd name="connsiteY1" fmla="*/ 0 h 10000"/>
              <a:gd name="connsiteX2" fmla="*/ 8009 w 10000"/>
              <a:gd name="connsiteY2" fmla="*/ 0 h 10000"/>
              <a:gd name="connsiteX3" fmla="*/ 10000 w 10000"/>
              <a:gd name="connsiteY3" fmla="*/ 4950 h 10000"/>
              <a:gd name="connsiteX4" fmla="*/ 7491 w 10000"/>
              <a:gd name="connsiteY4" fmla="*/ 9975 h 10000"/>
              <a:gd name="connsiteX5" fmla="*/ 2449 w 10000"/>
              <a:gd name="connsiteY5" fmla="*/ 10000 h 10000"/>
              <a:gd name="connsiteX6" fmla="*/ 0 w 10000"/>
              <a:gd name="connsiteY6" fmla="*/ 4962 h 10000"/>
              <a:gd name="connsiteX0" fmla="*/ 0 w 10000"/>
              <a:gd name="connsiteY0" fmla="*/ 5000 h 10038"/>
              <a:gd name="connsiteX1" fmla="*/ 2465 w 10000"/>
              <a:gd name="connsiteY1" fmla="*/ 38 h 10038"/>
              <a:gd name="connsiteX2" fmla="*/ 7524 w 10000"/>
              <a:gd name="connsiteY2" fmla="*/ 0 h 10038"/>
              <a:gd name="connsiteX3" fmla="*/ 10000 w 10000"/>
              <a:gd name="connsiteY3" fmla="*/ 4988 h 10038"/>
              <a:gd name="connsiteX4" fmla="*/ 7491 w 10000"/>
              <a:gd name="connsiteY4" fmla="*/ 10013 h 10038"/>
              <a:gd name="connsiteX5" fmla="*/ 2449 w 10000"/>
              <a:gd name="connsiteY5" fmla="*/ 10038 h 10038"/>
              <a:gd name="connsiteX6" fmla="*/ 0 w 10000"/>
              <a:gd name="connsiteY6" fmla="*/ 5000 h 10038"/>
              <a:gd name="connsiteX0" fmla="*/ 0 w 10000"/>
              <a:gd name="connsiteY0" fmla="*/ 5056 h 10094"/>
              <a:gd name="connsiteX1" fmla="*/ 2449 w 10000"/>
              <a:gd name="connsiteY1" fmla="*/ 0 h 10094"/>
              <a:gd name="connsiteX2" fmla="*/ 7524 w 10000"/>
              <a:gd name="connsiteY2" fmla="*/ 56 h 10094"/>
              <a:gd name="connsiteX3" fmla="*/ 10000 w 10000"/>
              <a:gd name="connsiteY3" fmla="*/ 5044 h 10094"/>
              <a:gd name="connsiteX4" fmla="*/ 7491 w 10000"/>
              <a:gd name="connsiteY4" fmla="*/ 10069 h 10094"/>
              <a:gd name="connsiteX5" fmla="*/ 2449 w 10000"/>
              <a:gd name="connsiteY5" fmla="*/ 10094 h 10094"/>
              <a:gd name="connsiteX6" fmla="*/ 0 w 10000"/>
              <a:gd name="connsiteY6" fmla="*/ 5056 h 10094"/>
              <a:gd name="connsiteX0" fmla="*/ 0 w 9951"/>
              <a:gd name="connsiteY0" fmla="*/ 5056 h 10094"/>
              <a:gd name="connsiteX1" fmla="*/ 2449 w 9951"/>
              <a:gd name="connsiteY1" fmla="*/ 0 h 10094"/>
              <a:gd name="connsiteX2" fmla="*/ 7524 w 9951"/>
              <a:gd name="connsiteY2" fmla="*/ 56 h 10094"/>
              <a:gd name="connsiteX3" fmla="*/ 9951 w 9951"/>
              <a:gd name="connsiteY3" fmla="*/ 5044 h 10094"/>
              <a:gd name="connsiteX4" fmla="*/ 7491 w 9951"/>
              <a:gd name="connsiteY4" fmla="*/ 10069 h 10094"/>
              <a:gd name="connsiteX5" fmla="*/ 2449 w 9951"/>
              <a:gd name="connsiteY5" fmla="*/ 10094 h 10094"/>
              <a:gd name="connsiteX6" fmla="*/ 0 w 9951"/>
              <a:gd name="connsiteY6" fmla="*/ 5056 h 10094"/>
              <a:gd name="connsiteX0" fmla="*/ 0 w 10000"/>
              <a:gd name="connsiteY0" fmla="*/ 4990 h 9981"/>
              <a:gd name="connsiteX1" fmla="*/ 2461 w 10000"/>
              <a:gd name="connsiteY1" fmla="*/ 0 h 9981"/>
              <a:gd name="connsiteX2" fmla="*/ 7561 w 10000"/>
              <a:gd name="connsiteY2" fmla="*/ 36 h 9981"/>
              <a:gd name="connsiteX3" fmla="*/ 10000 w 10000"/>
              <a:gd name="connsiteY3" fmla="*/ 4978 h 9981"/>
              <a:gd name="connsiteX4" fmla="*/ 7528 w 10000"/>
              <a:gd name="connsiteY4" fmla="*/ 9956 h 9981"/>
              <a:gd name="connsiteX5" fmla="*/ 2461 w 10000"/>
              <a:gd name="connsiteY5" fmla="*/ 9981 h 9981"/>
              <a:gd name="connsiteX6" fmla="*/ 0 w 10000"/>
              <a:gd name="connsiteY6" fmla="*/ 4990 h 9981"/>
              <a:gd name="connsiteX0" fmla="*/ 0 w 10000"/>
              <a:gd name="connsiteY0" fmla="*/ 5000 h 10001"/>
              <a:gd name="connsiteX1" fmla="*/ 2461 w 10000"/>
              <a:gd name="connsiteY1" fmla="*/ 1 h 10001"/>
              <a:gd name="connsiteX2" fmla="*/ 7561 w 10000"/>
              <a:gd name="connsiteY2" fmla="*/ 0 h 10001"/>
              <a:gd name="connsiteX3" fmla="*/ 10000 w 10000"/>
              <a:gd name="connsiteY3" fmla="*/ 4988 h 10001"/>
              <a:gd name="connsiteX4" fmla="*/ 7528 w 10000"/>
              <a:gd name="connsiteY4" fmla="*/ 9976 h 10001"/>
              <a:gd name="connsiteX5" fmla="*/ 2461 w 10000"/>
              <a:gd name="connsiteY5" fmla="*/ 10001 h 10001"/>
              <a:gd name="connsiteX6" fmla="*/ 0 w 10000"/>
              <a:gd name="connsiteY6" fmla="*/ 5000 h 10001"/>
              <a:gd name="connsiteX0" fmla="*/ 0 w 10000"/>
              <a:gd name="connsiteY0" fmla="*/ 5000 h 9976"/>
              <a:gd name="connsiteX1" fmla="*/ 2461 w 10000"/>
              <a:gd name="connsiteY1" fmla="*/ 1 h 9976"/>
              <a:gd name="connsiteX2" fmla="*/ 7561 w 10000"/>
              <a:gd name="connsiteY2" fmla="*/ 0 h 9976"/>
              <a:gd name="connsiteX3" fmla="*/ 10000 w 10000"/>
              <a:gd name="connsiteY3" fmla="*/ 4988 h 9976"/>
              <a:gd name="connsiteX4" fmla="*/ 7528 w 10000"/>
              <a:gd name="connsiteY4" fmla="*/ 9976 h 9976"/>
              <a:gd name="connsiteX5" fmla="*/ 2526 w 10000"/>
              <a:gd name="connsiteY5" fmla="*/ 9976 h 9976"/>
              <a:gd name="connsiteX6" fmla="*/ 0 w 10000"/>
              <a:gd name="connsiteY6" fmla="*/ 5000 h 9976"/>
              <a:gd name="connsiteX0" fmla="*/ 0 w 10000"/>
              <a:gd name="connsiteY0" fmla="*/ 5012 h 10000"/>
              <a:gd name="connsiteX1" fmla="*/ 2461 w 10000"/>
              <a:gd name="connsiteY1" fmla="*/ 1 h 10000"/>
              <a:gd name="connsiteX2" fmla="*/ 7496 w 10000"/>
              <a:gd name="connsiteY2" fmla="*/ 0 h 10000"/>
              <a:gd name="connsiteX3" fmla="*/ 10000 w 10000"/>
              <a:gd name="connsiteY3" fmla="*/ 5000 h 10000"/>
              <a:gd name="connsiteX4" fmla="*/ 7528 w 10000"/>
              <a:gd name="connsiteY4" fmla="*/ 10000 h 10000"/>
              <a:gd name="connsiteX5" fmla="*/ 2526 w 10000"/>
              <a:gd name="connsiteY5" fmla="*/ 10000 h 10000"/>
              <a:gd name="connsiteX6" fmla="*/ 0 w 10000"/>
              <a:gd name="connsiteY6" fmla="*/ 5012 h 10000"/>
              <a:gd name="connsiteX0" fmla="*/ 0 w 10000"/>
              <a:gd name="connsiteY0" fmla="*/ 5012 h 10000"/>
              <a:gd name="connsiteX1" fmla="*/ 2526 w 10000"/>
              <a:gd name="connsiteY1" fmla="*/ 1 h 10000"/>
              <a:gd name="connsiteX2" fmla="*/ 7496 w 10000"/>
              <a:gd name="connsiteY2" fmla="*/ 0 h 10000"/>
              <a:gd name="connsiteX3" fmla="*/ 10000 w 10000"/>
              <a:gd name="connsiteY3" fmla="*/ 5000 h 10000"/>
              <a:gd name="connsiteX4" fmla="*/ 7528 w 10000"/>
              <a:gd name="connsiteY4" fmla="*/ 10000 h 10000"/>
              <a:gd name="connsiteX5" fmla="*/ 2526 w 10000"/>
              <a:gd name="connsiteY5" fmla="*/ 10000 h 10000"/>
              <a:gd name="connsiteX6" fmla="*/ 0 w 10000"/>
              <a:gd name="connsiteY6" fmla="*/ 501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0" y="5012"/>
                </a:moveTo>
                <a:lnTo>
                  <a:pt x="2526" y="1"/>
                </a:lnTo>
                <a:lnTo>
                  <a:pt x="7496" y="0"/>
                </a:lnTo>
                <a:lnTo>
                  <a:pt x="10000" y="5000"/>
                </a:lnTo>
                <a:lnTo>
                  <a:pt x="7528" y="10000"/>
                </a:lnTo>
                <a:lnTo>
                  <a:pt x="2526" y="10000"/>
                </a:lnTo>
                <a:lnTo>
                  <a:pt x="0" y="5012"/>
                </a:lnTo>
                <a:close/>
              </a:path>
            </a:pathLst>
          </a:custGeom>
          <a:noFill/>
          <a:ln w="28575">
            <a:solidFill>
              <a:srgbClr val="7FB79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2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3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theme/themeOverride4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0F253E"/>
    </a:dk2>
    <a:lt2>
      <a:srgbClr val="E7E6E6"/>
    </a:lt2>
    <a:accent1>
      <a:srgbClr val="4472C4"/>
    </a:accent1>
    <a:accent2>
      <a:srgbClr val="B83803"/>
    </a:accent2>
    <a:accent3>
      <a:srgbClr val="DCD3CC"/>
    </a:accent3>
    <a:accent4>
      <a:srgbClr val="F79320"/>
    </a:accent4>
    <a:accent5>
      <a:srgbClr val="44668D"/>
    </a:accent5>
    <a:accent6>
      <a:srgbClr val="0F253E"/>
    </a:accent6>
    <a:hlink>
      <a:srgbClr val="AEC0D9"/>
    </a:hlink>
    <a:folHlink>
      <a:srgbClr val="B83903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D1F660-49A5-E847-97EA-A216F5773A95}">
  <we:reference id="be13a235-7700-1110-ffca-78847a5a99ab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AD51DF-C727-4608-B606-5D6C957D4C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573</Words>
  <Application>Microsoft Office PowerPoint</Application>
  <PresentationFormat>Widescreen</PresentationFormat>
  <Paragraphs>139</Paragraphs>
  <Slides>16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等线</vt:lpstr>
      <vt:lpstr>Abadi</vt:lpstr>
      <vt:lpstr>Aptos</vt:lpstr>
      <vt:lpstr>Aptos Display</vt:lpstr>
      <vt:lpstr>Arial</vt:lpstr>
      <vt:lpstr>Barlow</vt:lpstr>
      <vt:lpstr>Calibri</vt:lpstr>
      <vt:lpstr>Century Gothic</vt:lpstr>
      <vt:lpstr>DM Sans Semi Bold</vt:lpstr>
      <vt:lpstr>Inter Medium</vt:lpstr>
      <vt:lpstr>Playfair Display Bold</vt:lpstr>
      <vt:lpstr>Posterama</vt:lpstr>
      <vt:lpstr>Posterama Text Black</vt:lpstr>
      <vt:lpstr>Posterama Text SemiBold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2023-09-14T06:03:51Z</dcterms:created>
  <dcterms:modified xsi:type="dcterms:W3CDTF">2025-04-02T09:43:16Z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a7295cc1-d279-42ac-ab4d-3b0f4fece050_Enabled">
    <vt:lpwstr>true</vt:lpwstr>
  </property>
  <property fmtid="{D5CDD505-2E9C-101B-9397-08002B2CF9AE}" pid="5" name="MSIP_Label_a7295cc1-d279-42ac-ab4d-3b0f4fece050_SetDate">
    <vt:lpwstr>2025-02-11T09:30:08Z</vt:lpwstr>
  </property>
  <property fmtid="{D5CDD505-2E9C-101B-9397-08002B2CF9AE}" pid="6" name="MSIP_Label_a7295cc1-d279-42ac-ab4d-3b0f4fece050_Method">
    <vt:lpwstr>Standard</vt:lpwstr>
  </property>
  <property fmtid="{D5CDD505-2E9C-101B-9397-08002B2CF9AE}" pid="7" name="MSIP_Label_a7295cc1-d279-42ac-ab4d-3b0f4fece050_Name">
    <vt:lpwstr>FUJITSU-RESTRICTED​</vt:lpwstr>
  </property>
  <property fmtid="{D5CDD505-2E9C-101B-9397-08002B2CF9AE}" pid="8" name="MSIP_Label_a7295cc1-d279-42ac-ab4d-3b0f4fece050_SiteId">
    <vt:lpwstr>a19f121d-81e1-4858-a9d8-736e267fd4c7</vt:lpwstr>
  </property>
  <property fmtid="{D5CDD505-2E9C-101B-9397-08002B2CF9AE}" pid="9" name="MSIP_Label_a7295cc1-d279-42ac-ab4d-3b0f4fece050_ActionId">
    <vt:lpwstr>95278961-6634-494c-b22a-8a8e584a4a75</vt:lpwstr>
  </property>
  <property fmtid="{D5CDD505-2E9C-101B-9397-08002B2CF9AE}" pid="10" name="MSIP_Label_a7295cc1-d279-42ac-ab4d-3b0f4fece050_ContentBits">
    <vt:lpwstr>0</vt:lpwstr>
  </property>
</Properties>
</file>