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271" r:id="rId4"/>
  </p:sldMasterIdLst>
  <p:notesMasterIdLst>
    <p:notesMasterId r:id="rId19"/>
  </p:notesMasterIdLst>
  <p:handoutMasterIdLst>
    <p:handoutMasterId r:id="rId20"/>
  </p:handoutMasterIdLst>
  <p:sldIdLst>
    <p:sldId id="2147483221" r:id="rId5"/>
    <p:sldId id="2147483234" r:id="rId6"/>
    <p:sldId id="2147483235" r:id="rId7"/>
    <p:sldId id="2147483236" r:id="rId8"/>
    <p:sldId id="2147483237" r:id="rId9"/>
    <p:sldId id="2147483238" r:id="rId10"/>
    <p:sldId id="2147483253" r:id="rId11"/>
    <p:sldId id="2147483254" r:id="rId12"/>
    <p:sldId id="2147483255" r:id="rId13"/>
    <p:sldId id="2147483239" r:id="rId14"/>
    <p:sldId id="2147483240" r:id="rId15"/>
    <p:sldId id="2147483241" r:id="rId16"/>
    <p:sldId id="2147483242" r:id="rId17"/>
    <p:sldId id="2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B793"/>
    <a:srgbClr val="80B894"/>
    <a:srgbClr val="BEE9D2"/>
    <a:srgbClr val="078136"/>
    <a:srgbClr val="087A33"/>
    <a:srgbClr val="097531"/>
    <a:srgbClr val="0E5B28"/>
    <a:srgbClr val="00F06B"/>
    <a:srgbClr val="00AC4D"/>
    <a:srgbClr val="BFE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99BA1C-12D8-48C1-BA69-BBC5E14B8466}" v="227" dt="2025-03-04T10:32:01.7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72235" autoAdjust="0"/>
  </p:normalViewPr>
  <p:slideViewPr>
    <p:cSldViewPr snapToGrid="0" showGuides="1">
      <p:cViewPr varScale="1">
        <p:scale>
          <a:sx n="80" d="100"/>
          <a:sy n="80" d="100"/>
        </p:scale>
        <p:origin x="1104" y="8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3120"/>
    </p:cViewPr>
  </p:sorterViewPr>
  <p:notesViewPr>
    <p:cSldViewPr snapToGrid="0">
      <p:cViewPr varScale="1">
        <p:scale>
          <a:sx n="120" d="100"/>
          <a:sy n="120" d="100"/>
        </p:scale>
        <p:origin x="510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3/4/2025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ED2950FC-64C0-50D7-5101-884A13ED2F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CEA88831-A930-596B-0685-672024BE2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A3FD0A0-F4FB-BC20-358F-C4F179AA89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D389891-233D-6282-224F-6B8EC0182D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61DD8-56E8-44DB-8D68-9188DEA50502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F2A2D99A-04B6-3AD9-B6DA-EEE29FB0D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EF4F81C-C1F0-7738-A271-96AF417D7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4C781-2765-427A-A960-385CE0D0C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Hello, my name is Vaibhav Maheshwari, it’s a pleasure to be here, bringing solutions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14797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3FCAF-B17D-2A91-FCC1-839B4969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5D0CD-8EFF-2079-5FFD-5320A10A8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61D82-9F4D-832D-6F72-A46E244E4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01964-D35A-63B6-30C7-641BFBD39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49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003E-AF78-5908-3DA6-DF4EFDFD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79A99-10D2-BC30-C338-4A28F3029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FF078-E83E-5DDA-DEAE-CD8226902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1F45D-498C-4953-E1D0-161B5F23D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2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DA7DA-6C5B-34CC-C550-8E92A819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DF698-6AA4-87AC-6F7F-1D69128E5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4B6BA-7434-98E1-409B-98C87CFC4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u="sng" dirty="0"/>
              <a:t>Drive your transformation vision</a:t>
            </a:r>
          </a:p>
          <a:p>
            <a:r>
              <a:rPr lang="en-US" b="0" dirty="0"/>
              <a:t>Establish a Technical Governance Board to align all ServiceNow investments with the bank’s strategic goals.</a:t>
            </a:r>
          </a:p>
          <a:p>
            <a:r>
              <a:rPr lang="en-US" b="1" dirty="0"/>
              <a:t>Example: </a:t>
            </a:r>
            <a:r>
              <a:rPr lang="en-US" b="0" dirty="0"/>
              <a:t>Instead of customizing ServiceNow to fit old Remedy processes, governance ensures that processes are standardized to align with ServiceNow best practices and long-term scalability.</a:t>
            </a:r>
            <a:endParaRPr lang="en-US" b="0" u="sng" dirty="0"/>
          </a:p>
          <a:p>
            <a:endParaRPr lang="en-US" b="0" u="sng" dirty="0"/>
          </a:p>
          <a:p>
            <a:r>
              <a:rPr lang="en-US" b="0" u="sng" dirty="0"/>
              <a:t>Deliver the right work at the right time</a:t>
            </a:r>
          </a:p>
          <a:p>
            <a:r>
              <a:rPr lang="en-US" b="0" dirty="0"/>
              <a:t>Implement an incremental release strategy (phased rollouts) to avoid bottlenecks and misalignment.</a:t>
            </a:r>
          </a:p>
          <a:p>
            <a:r>
              <a:rPr lang="en-US" b="1" dirty="0"/>
              <a:t>Example: </a:t>
            </a:r>
            <a:r>
              <a:rPr lang="en-US" b="0" dirty="0"/>
              <a:t>Instead of launching ITSM, ITOM, and HR all at once, governance mandates a staggered rollout—first focusing on ITSM &amp; CMDB, followed by ITOM &amp; CSM, ensuring each phase is optimized before moving to the next.</a:t>
            </a:r>
          </a:p>
          <a:p>
            <a:endParaRPr lang="en-US" b="0" dirty="0"/>
          </a:p>
          <a:p>
            <a:r>
              <a:rPr lang="en-US" b="0" u="sng" dirty="0"/>
              <a:t>Maintain the integrity of your ServiceNow implementation</a:t>
            </a:r>
          </a:p>
          <a:p>
            <a:r>
              <a:rPr lang="en-US" b="0" dirty="0"/>
              <a:t>Enforce strict platform guardrails to prevent unnecessary customizations that may lead to technical debt.</a:t>
            </a:r>
          </a:p>
          <a:p>
            <a:r>
              <a:rPr lang="en-US" b="1" dirty="0"/>
              <a:t>Example: </a:t>
            </a:r>
            <a:r>
              <a:rPr lang="en-US" b="0" dirty="0"/>
              <a:t>Governance policies define customization limits (e.g., prioritizing configuration over scripting), ensuring the platform remains upgradeable and compliant with financial regulations.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F3BD7-8A87-25DC-FBF5-D2FB6D365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247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4B3AC-E05E-C7F1-C586-143B73D9F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E1C23-A737-B9F0-A995-19A2E3BF0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ACB8D-EEC1-4F35-8AD7-6B6C4A92B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C2BAF-4817-66D7-9DE5-16AD47BDF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26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E898A-43EB-96DD-CC8B-4C8F2586F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CE153-9A7F-231C-E074-19116586C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0713E-F859-BDBA-DC8C-C6C2852A1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5D8E4-8D92-C646-6C1B-8868924AE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42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DA7DA-6C5B-34CC-C550-8E92A819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DF698-6AA4-87AC-6F7F-1D69128E5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4B6BA-7434-98E1-409B-98C87CFC4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F3BD7-8A87-25DC-FBF5-D2FB6D365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80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DA7DA-6C5B-34CC-C550-8E92A819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DF698-6AA4-87AC-6F7F-1D69128E5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4B6BA-7434-98E1-409B-98C87CFC4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F3BD7-8A87-25DC-FBF5-D2FB6D365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82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DA7DA-6C5B-34CC-C550-8E92A819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DF698-6AA4-87AC-6F7F-1D69128E5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4B6BA-7434-98E1-409B-98C87CFC4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F3BD7-8A87-25DC-FBF5-D2FB6D365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70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C48BB-2765-BCA7-DD74-7F500274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7C808-1E9E-22CF-DACD-12764E343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CF037-2445-5431-7587-82AACE51A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45E9E-9B8B-61F1-5358-676EBDC82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29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C6479-F493-9961-F488-B173F719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1EE66-FC74-D9C9-DE49-2B5EBA4CB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39DD2-9E2D-3E28-FDF9-1C791FAE5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DB6B3-9ED6-7E85-3189-AFDC6A643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88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715D-35DA-B8AD-92D4-5B12B5620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F3D62-6FA9-6C90-0DBB-5A19C8582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ECC5E-E4E1-D2E4-DFED-C26715087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64424-6A00-27FB-BAF6-EAC587CBF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98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D05BB-58A0-2019-A936-D1860718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B6425-236D-8CFB-4680-F99848F7A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116AC-4906-C1F3-6915-338FA47A1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8B991-F039-EE01-09E7-AA33AAEC2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5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3929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2" name="Straight Connector 2">
            <a:extLst>
              <a:ext uri="{FF2B5EF4-FFF2-40B4-BE49-F238E27FC236}">
                <a16:creationId xmlns:a16="http://schemas.microsoft.com/office/drawing/2014/main" id="{6A7982A7-920A-4645-4656-C0FBECBF2B8C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4" name="Freeform: Shape 11">
            <a:extLst>
              <a:ext uri="{FF2B5EF4-FFF2-40B4-BE49-F238E27FC236}">
                <a16:creationId xmlns:a16="http://schemas.microsoft.com/office/drawing/2014/main" id="{78857595-B175-D151-DD86-68239766C9E8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9B591F0-AC54-42C5-CB41-9A74A7D6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41941" y="644182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pic>
        <p:nvPicPr>
          <p:cNvPr id="6" name="Picture 5" descr="A logo with a crown&#10;&#10;Description automatically generated">
            <a:extLst>
              <a:ext uri="{FF2B5EF4-FFF2-40B4-BE49-F238E27FC236}">
                <a16:creationId xmlns:a16="http://schemas.microsoft.com/office/drawing/2014/main" id="{2C6F5B23-F4B2-4D0D-CF96-A615921FA7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2013BF-4700-0256-AFDD-3BF11763E2BA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73844D-7B6A-5139-4232-01F52B483112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682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41740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Confidential | @2025 </a:t>
            </a:r>
            <a:r>
              <a:rPr lang="en-US" dirty="0" err="1"/>
              <a:t>ServiceWow</a:t>
            </a:r>
            <a:r>
              <a:rPr lang="en-US" dirty="0"/>
              <a:t>. All Rights Reserved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2" name="Picture 1" descr="A logo with a crown&#10;&#10;Description automatically generated">
            <a:extLst>
              <a:ext uri="{FF2B5EF4-FFF2-40B4-BE49-F238E27FC236}">
                <a16:creationId xmlns:a16="http://schemas.microsoft.com/office/drawing/2014/main" id="{ABA32842-5658-CFAD-8A2C-8F44EAC66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6F9984-3D08-80CA-9536-BA8E18EA7736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5736D4-49F3-0B13-F286-272141C3BD78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18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Picture 1" descr="A logo with a crown&#10;&#10;Description automatically generated">
            <a:extLst>
              <a:ext uri="{FF2B5EF4-FFF2-40B4-BE49-F238E27FC236}">
                <a16:creationId xmlns:a16="http://schemas.microsoft.com/office/drawing/2014/main" id="{593B70B0-9A9D-F99F-9E63-1B086806AD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AE5787-775A-4E42-2320-6DA2E6CBAE6E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D2E09C-3014-829B-BD7A-2BE665C4DFEC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84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4" name="Picture 3" descr="A logo with a crown&#10;&#10;Description automatically generated">
            <a:extLst>
              <a:ext uri="{FF2B5EF4-FFF2-40B4-BE49-F238E27FC236}">
                <a16:creationId xmlns:a16="http://schemas.microsoft.com/office/drawing/2014/main" id="{E0092B73-EDD0-9376-02C6-D9B62F581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D84FE9-6B27-628D-0302-26763B5C561D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A52979-DE77-9C5A-B409-290ABAD61873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801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3" name="Freeform: Shape 5">
            <a:extLst>
              <a:ext uri="{FF2B5EF4-FFF2-40B4-BE49-F238E27FC236}">
                <a16:creationId xmlns:a16="http://schemas.microsoft.com/office/drawing/2014/main" id="{13392F38-D3A8-47E9-458D-FCC8E7D887DD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1A27A9EF-5A5E-4671-2A18-8E4E47AA4208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A67EE5C4-21D9-73B2-C6B0-B11B196E7363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7" name="Picture 6" descr="A logo with a crown&#10;&#10;Description automatically generated">
            <a:extLst>
              <a:ext uri="{FF2B5EF4-FFF2-40B4-BE49-F238E27FC236}">
                <a16:creationId xmlns:a16="http://schemas.microsoft.com/office/drawing/2014/main" id="{DCCB100D-7755-6B12-E956-A79197E79E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4B3717-6D9B-B138-5252-65FD3074DA4B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887E12-9A7F-0D76-1AFE-0BFC5672F1A4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319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Confidential | @2025 ServiceWow. All Rights Reserved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5A3ACB7A-B0C9-6744-0C1C-7561B8F5E27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6">
            <a:extLst>
              <a:ext uri="{FF2B5EF4-FFF2-40B4-BE49-F238E27FC236}">
                <a16:creationId xmlns:a16="http://schemas.microsoft.com/office/drawing/2014/main" id="{89FFA020-313A-3281-8CF6-27856F16F753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12" name="Freeform: Shape 7">
            <a:extLst>
              <a:ext uri="{FF2B5EF4-FFF2-40B4-BE49-F238E27FC236}">
                <a16:creationId xmlns:a16="http://schemas.microsoft.com/office/drawing/2014/main" id="{6C34495B-A0F8-713E-E83F-435C1800EB8F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09F74EAC-1F6B-E923-BD00-D16EFF564534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14" name="Picture 13" descr="A logo with a crown&#10;&#10;Description automatically generated">
            <a:extLst>
              <a:ext uri="{FF2B5EF4-FFF2-40B4-BE49-F238E27FC236}">
                <a16:creationId xmlns:a16="http://schemas.microsoft.com/office/drawing/2014/main" id="{FF9A5411-DC8E-E52E-BDDE-0612F4E90E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AA5D00-8DD2-30A7-B616-F60792F749B9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C43AEC-1DB1-AA98-FAFD-384CA455B768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183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47094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634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FDBE8922-EA97-52DF-8899-DA42B074BC21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92DDB195-BB90-9167-8EF3-2195913B9AD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9C679D6F-52C2-58C9-A366-6597A31F0C20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Freeform: Shape 9">
            <a:extLst>
              <a:ext uri="{FF2B5EF4-FFF2-40B4-BE49-F238E27FC236}">
                <a16:creationId xmlns:a16="http://schemas.microsoft.com/office/drawing/2014/main" id="{92F11A42-17BF-DAD3-4FEF-DACCD1F37609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63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Confidential | @2025 ServiceWow. All Rights Reserved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907360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D95ECE17-6113-300F-8980-E757B717409A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" name="Freeform: Shape 26">
            <a:extLst>
              <a:ext uri="{FF2B5EF4-FFF2-40B4-BE49-F238E27FC236}">
                <a16:creationId xmlns:a16="http://schemas.microsoft.com/office/drawing/2014/main" id="{19259001-34E0-A1EF-E833-E737FB4F256E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Freeform: Shape 27">
            <a:extLst>
              <a:ext uri="{FF2B5EF4-FFF2-40B4-BE49-F238E27FC236}">
                <a16:creationId xmlns:a16="http://schemas.microsoft.com/office/drawing/2014/main" id="{5F2904B8-2FF4-FE7C-AABC-77B0542DD038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" name="Freeform: Shape 28">
            <a:extLst>
              <a:ext uri="{FF2B5EF4-FFF2-40B4-BE49-F238E27FC236}">
                <a16:creationId xmlns:a16="http://schemas.microsoft.com/office/drawing/2014/main" id="{91E281E0-E27F-316F-B835-3BE4D111F0F7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29">
            <a:extLst>
              <a:ext uri="{FF2B5EF4-FFF2-40B4-BE49-F238E27FC236}">
                <a16:creationId xmlns:a16="http://schemas.microsoft.com/office/drawing/2014/main" id="{C71408D2-A5E9-3744-E8D5-9D2C7EE1C855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0" name="Freeform: Shape 30">
            <a:extLst>
              <a:ext uri="{FF2B5EF4-FFF2-40B4-BE49-F238E27FC236}">
                <a16:creationId xmlns:a16="http://schemas.microsoft.com/office/drawing/2014/main" id="{AE56CB67-1BB9-BAC8-09E9-7353CE85FCE6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1" name="Freeform: Shape 31">
            <a:extLst>
              <a:ext uri="{FF2B5EF4-FFF2-40B4-BE49-F238E27FC236}">
                <a16:creationId xmlns:a16="http://schemas.microsoft.com/office/drawing/2014/main" id="{6FC02613-BF99-EC06-88D6-0AED79BD76EB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2" name="Freeform: Shape 34">
            <a:extLst>
              <a:ext uri="{FF2B5EF4-FFF2-40B4-BE49-F238E27FC236}">
                <a16:creationId xmlns:a16="http://schemas.microsoft.com/office/drawing/2014/main" id="{EDFD5414-9863-8249-A3E1-4F9A3BA30941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3" name="Freeform: Shape 45">
            <a:extLst>
              <a:ext uri="{FF2B5EF4-FFF2-40B4-BE49-F238E27FC236}">
                <a16:creationId xmlns:a16="http://schemas.microsoft.com/office/drawing/2014/main" id="{A0D1433A-BA7B-BAE4-0FC6-095541DA3B06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46">
            <a:extLst>
              <a:ext uri="{FF2B5EF4-FFF2-40B4-BE49-F238E27FC236}">
                <a16:creationId xmlns:a16="http://schemas.microsoft.com/office/drawing/2014/main" id="{4FD2C3EE-A618-188A-D52C-1FB5C2DB5095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5" name="Freeform: Shape 47">
            <a:extLst>
              <a:ext uri="{FF2B5EF4-FFF2-40B4-BE49-F238E27FC236}">
                <a16:creationId xmlns:a16="http://schemas.microsoft.com/office/drawing/2014/main" id="{8F054020-80C9-2B40-FD7B-D2D471FD2876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6" name="Freeform: Shape 48">
            <a:extLst>
              <a:ext uri="{FF2B5EF4-FFF2-40B4-BE49-F238E27FC236}">
                <a16:creationId xmlns:a16="http://schemas.microsoft.com/office/drawing/2014/main" id="{1E675F91-FC4F-6F86-8B30-1B2D0CAADC82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7" name="Freeform: Shape 49">
            <a:extLst>
              <a:ext uri="{FF2B5EF4-FFF2-40B4-BE49-F238E27FC236}">
                <a16:creationId xmlns:a16="http://schemas.microsoft.com/office/drawing/2014/main" id="{4A4C5EDD-33C1-1B2E-69B8-BBC9F2880771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8" name="Freeform: Shape 50">
            <a:extLst>
              <a:ext uri="{FF2B5EF4-FFF2-40B4-BE49-F238E27FC236}">
                <a16:creationId xmlns:a16="http://schemas.microsoft.com/office/drawing/2014/main" id="{CBABAEFD-E9A2-8BD6-2750-D2F4D4A16BB8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9" name="Freeform: Shape 51">
            <a:extLst>
              <a:ext uri="{FF2B5EF4-FFF2-40B4-BE49-F238E27FC236}">
                <a16:creationId xmlns:a16="http://schemas.microsoft.com/office/drawing/2014/main" id="{DC403B29-E3CF-AD3A-5744-C7F3C4883CBC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0" name="Freeform: Shape 52">
            <a:extLst>
              <a:ext uri="{FF2B5EF4-FFF2-40B4-BE49-F238E27FC236}">
                <a16:creationId xmlns:a16="http://schemas.microsoft.com/office/drawing/2014/main" id="{C61D323C-922C-316E-0255-F38324B1E1F4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1" name="Freeform: Shape 53">
            <a:extLst>
              <a:ext uri="{FF2B5EF4-FFF2-40B4-BE49-F238E27FC236}">
                <a16:creationId xmlns:a16="http://schemas.microsoft.com/office/drawing/2014/main" id="{9A69E028-D961-DF20-A3D2-23628082C9E1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2" name="Freeform: Shape 54">
            <a:extLst>
              <a:ext uri="{FF2B5EF4-FFF2-40B4-BE49-F238E27FC236}">
                <a16:creationId xmlns:a16="http://schemas.microsoft.com/office/drawing/2014/main" id="{41F59892-41A7-C30F-1AF9-0DB2B1DCDFD6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3" name="Freeform: Shape 55">
            <a:extLst>
              <a:ext uri="{FF2B5EF4-FFF2-40B4-BE49-F238E27FC236}">
                <a16:creationId xmlns:a16="http://schemas.microsoft.com/office/drawing/2014/main" id="{3A283FEE-D257-9310-6541-681B9AAE237B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863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3067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Freeform 14">
            <a:extLst>
              <a:ext uri="{FF2B5EF4-FFF2-40B4-BE49-F238E27FC236}">
                <a16:creationId xmlns:a16="http://schemas.microsoft.com/office/drawing/2014/main" id="{8CEEB1BB-C35C-FF66-A61C-C84ECD3662E7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Freeform 15">
            <a:extLst>
              <a:ext uri="{FF2B5EF4-FFF2-40B4-BE49-F238E27FC236}">
                <a16:creationId xmlns:a16="http://schemas.microsoft.com/office/drawing/2014/main" id="{1532ACFA-B782-DA04-3CB2-E2FD9CBA3B1B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Freeform: Shape 24">
            <a:extLst>
              <a:ext uri="{FF2B5EF4-FFF2-40B4-BE49-F238E27FC236}">
                <a16:creationId xmlns:a16="http://schemas.microsoft.com/office/drawing/2014/main" id="{AFEE9FB2-14A7-999C-7857-549663B6752E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532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4" name="Freeform: Shape 25">
            <a:extLst>
              <a:ext uri="{FF2B5EF4-FFF2-40B4-BE49-F238E27FC236}">
                <a16:creationId xmlns:a16="http://schemas.microsoft.com/office/drawing/2014/main" id="{30723C91-463B-67A9-FB31-379B8E823A75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11">
            <a:extLst>
              <a:ext uri="{FF2B5EF4-FFF2-40B4-BE49-F238E27FC236}">
                <a16:creationId xmlns:a16="http://schemas.microsoft.com/office/drawing/2014/main" id="{23D06D76-09A1-0DB5-9197-8F24E71781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4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" name="Freeform 46">
            <a:extLst>
              <a:ext uri="{FF2B5EF4-FFF2-40B4-BE49-F238E27FC236}">
                <a16:creationId xmlns:a16="http://schemas.microsoft.com/office/drawing/2014/main" id="{8DF9BB61-B257-09F3-569E-4B91A5BEECA9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Hexagon 15">
            <a:extLst>
              <a:ext uri="{FF2B5EF4-FFF2-40B4-BE49-F238E27FC236}">
                <a16:creationId xmlns:a16="http://schemas.microsoft.com/office/drawing/2014/main" id="{4E3D3082-C7F9-809D-9857-6AC0E9B1B68F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Hexagon 17">
            <a:extLst>
              <a:ext uri="{FF2B5EF4-FFF2-40B4-BE49-F238E27FC236}">
                <a16:creationId xmlns:a16="http://schemas.microsoft.com/office/drawing/2014/main" id="{1FF07CEA-CF9B-EEEB-3C46-5A613D3EC781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Hexagon 19">
            <a:extLst>
              <a:ext uri="{FF2B5EF4-FFF2-40B4-BE49-F238E27FC236}">
                <a16:creationId xmlns:a16="http://schemas.microsoft.com/office/drawing/2014/main" id="{5108FE8B-F99E-67B8-37D4-2254FFFA9C2A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Hexagon 21">
            <a:extLst>
              <a:ext uri="{FF2B5EF4-FFF2-40B4-BE49-F238E27FC236}">
                <a16:creationId xmlns:a16="http://schemas.microsoft.com/office/drawing/2014/main" id="{303B5DF6-FDFB-4F9A-CDBA-7A9B8A338E80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 43">
            <a:extLst>
              <a:ext uri="{FF2B5EF4-FFF2-40B4-BE49-F238E27FC236}">
                <a16:creationId xmlns:a16="http://schemas.microsoft.com/office/drawing/2014/main" id="{5420840F-B1BA-0BCE-2E68-C97C8A0A84C3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Hexagon 27">
            <a:extLst>
              <a:ext uri="{FF2B5EF4-FFF2-40B4-BE49-F238E27FC236}">
                <a16:creationId xmlns:a16="http://schemas.microsoft.com/office/drawing/2014/main" id="{1E3EB9D9-D382-C3B9-10ED-61111410F4CC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Hexagon 28">
            <a:extLst>
              <a:ext uri="{FF2B5EF4-FFF2-40B4-BE49-F238E27FC236}">
                <a16:creationId xmlns:a16="http://schemas.microsoft.com/office/drawing/2014/main" id="{D866B6A5-04E1-9067-4727-D55BA3AC7395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42">
            <a:extLst>
              <a:ext uri="{FF2B5EF4-FFF2-40B4-BE49-F238E27FC236}">
                <a16:creationId xmlns:a16="http://schemas.microsoft.com/office/drawing/2014/main" id="{5720A854-B8D7-B230-1A22-51C93610FD70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7" name="Hexagon 31">
            <a:extLst>
              <a:ext uri="{FF2B5EF4-FFF2-40B4-BE49-F238E27FC236}">
                <a16:creationId xmlns:a16="http://schemas.microsoft.com/office/drawing/2014/main" id="{04325738-0FCF-D515-4665-6AE6A8EFECC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9" name="Freeform 45">
            <a:extLst>
              <a:ext uri="{FF2B5EF4-FFF2-40B4-BE49-F238E27FC236}">
                <a16:creationId xmlns:a16="http://schemas.microsoft.com/office/drawing/2014/main" id="{CA863A24-78F5-690C-A073-132576DC1F90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 39">
            <a:extLst>
              <a:ext uri="{FF2B5EF4-FFF2-40B4-BE49-F238E27FC236}">
                <a16:creationId xmlns:a16="http://schemas.microsoft.com/office/drawing/2014/main" id="{254A0D4D-F4C5-2CDD-7112-C55A2C0C3D2B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21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954258" y="631686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04002" y="6316864"/>
            <a:ext cx="458592" cy="365125"/>
          </a:xfrm>
        </p:spPr>
        <p:txBody>
          <a:bodyPr/>
          <a:lstStyle/>
          <a:p>
            <a:fld id="{57C6766F-3134-40E5-95A4-B13AE993C634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5" name="Picture 4" descr="A logo with a crown&#10;&#10;Description automatically generated">
            <a:extLst>
              <a:ext uri="{FF2B5EF4-FFF2-40B4-BE49-F238E27FC236}">
                <a16:creationId xmlns:a16="http://schemas.microsoft.com/office/drawing/2014/main" id="{FB3F38D7-ADDC-BF22-01AD-F44AFDD227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74F96E-843E-A87C-A844-83954F4AFEA0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E6B87B-7DBE-CF7B-F8C1-70DE9B023E28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965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pic>
        <p:nvPicPr>
          <p:cNvPr id="2" name="Picture 1" descr="A logo with a crown&#10;&#10;Description automatically generated">
            <a:extLst>
              <a:ext uri="{FF2B5EF4-FFF2-40B4-BE49-F238E27FC236}">
                <a16:creationId xmlns:a16="http://schemas.microsoft.com/office/drawing/2014/main" id="{ADE478DC-0703-D93B-2B7A-57E5D69996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0377B0-F310-70CC-3029-479FAD3E7E26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08908A-3C45-C2BA-00C5-52D3E2120062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0DA063-EFAA-B116-1829-DE1976E8E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5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2" r:id="rId1"/>
    <p:sldLayoutId id="2147484273" r:id="rId2"/>
    <p:sldLayoutId id="2147484274" r:id="rId3"/>
    <p:sldLayoutId id="2147484275" r:id="rId4"/>
    <p:sldLayoutId id="2147484276" r:id="rId5"/>
    <p:sldLayoutId id="2147484277" r:id="rId6"/>
    <p:sldLayoutId id="2147484278" r:id="rId7"/>
    <p:sldLayoutId id="2147484279" r:id="rId8"/>
    <p:sldLayoutId id="2147484280" r:id="rId9"/>
    <p:sldLayoutId id="2147484281" r:id="rId10"/>
    <p:sldLayoutId id="2147484282" r:id="rId11"/>
    <p:sldLayoutId id="2147484283" r:id="rId12"/>
    <p:sldLayoutId id="2147484284" r:id="rId13"/>
    <p:sldLayoutId id="2147484285" r:id="rId14"/>
    <p:sldLayoutId id="2147484286" r:id="rId15"/>
    <p:sldLayoutId id="2147484287" r:id="rId16"/>
    <p:sldLayoutId id="2147484288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6.svg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svg"/><Relationship Id="rId12" Type="http://schemas.openxmlformats.org/officeDocument/2006/relationships/slide" Target="slide9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9.png"/><Relationship Id="rId11" Type="http://schemas.openxmlformats.org/officeDocument/2006/relationships/slide" Target="slide8.xml"/><Relationship Id="rId5" Type="http://schemas.openxmlformats.org/officeDocument/2006/relationships/image" Target="../media/image8.svg"/><Relationship Id="rId10" Type="http://schemas.openxmlformats.org/officeDocument/2006/relationships/slide" Target="slide7.xml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7255" y="4251704"/>
            <a:ext cx="2852647" cy="760288"/>
          </a:xfrm>
        </p:spPr>
        <p:txBody>
          <a:bodyPr/>
          <a:lstStyle/>
          <a:p>
            <a:r>
              <a:rPr lang="en-US" dirty="0"/>
              <a:t>Vaibhav Maheshwari</a:t>
            </a:r>
          </a:p>
          <a:p>
            <a:r>
              <a:rPr lang="en-US" dirty="0"/>
              <a:t>Architect @</a:t>
            </a:r>
            <a:r>
              <a:rPr lang="en-US" dirty="0" err="1"/>
              <a:t>ServiceWow</a:t>
            </a:r>
            <a:r>
              <a:rPr lang="en-US" dirty="0"/>
              <a:t> </a:t>
            </a: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" r="4"/>
          <a:stretch/>
        </p:blipFill>
        <p:spPr/>
      </p:pic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7FB793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C981278-5DDD-7E76-0CED-FE794E757691}"/>
              </a:ext>
            </a:extLst>
          </p:cNvPr>
          <p:cNvSpPr txBox="1">
            <a:spLocks/>
          </p:cNvSpPr>
          <p:nvPr/>
        </p:nvSpPr>
        <p:spPr>
          <a:xfrm>
            <a:off x="907255" y="2141570"/>
            <a:ext cx="5257793" cy="20574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Sovereign Bank</a:t>
            </a:r>
            <a:br>
              <a:rPr lang="en-US" altLang="zh-CN" dirty="0"/>
            </a:br>
            <a:r>
              <a:rPr lang="en-US" altLang="zh-CN" sz="2800" dirty="0"/>
              <a:t>Governance and Release strategy</a:t>
            </a:r>
            <a:endParaRPr lang="en-US" sz="2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162B1A-716A-524C-4BB8-677688B94333}"/>
              </a:ext>
            </a:extLst>
          </p:cNvPr>
          <p:cNvGrpSpPr/>
          <p:nvPr/>
        </p:nvGrpSpPr>
        <p:grpSpPr>
          <a:xfrm>
            <a:off x="394134" y="6272870"/>
            <a:ext cx="1764322" cy="534076"/>
            <a:chOff x="394134" y="6272870"/>
            <a:chExt cx="1764322" cy="534076"/>
          </a:xfrm>
        </p:grpSpPr>
        <p:pic>
          <p:nvPicPr>
            <p:cNvPr id="8" name="Picture 7" descr="A logo with a crown&#10;&#10;Description automatically generated">
              <a:extLst>
                <a:ext uri="{FF2B5EF4-FFF2-40B4-BE49-F238E27FC236}">
                  <a16:creationId xmlns:a16="http://schemas.microsoft.com/office/drawing/2014/main" id="{040A3C40-A419-B0FF-7502-B948F15FE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0515" y="6272870"/>
              <a:ext cx="527941" cy="453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92B895-6A28-732F-8D5C-ED6283662B64}"/>
                </a:ext>
              </a:extLst>
            </p:cNvPr>
            <p:cNvSpPr txBox="1"/>
            <p:nvPr/>
          </p:nvSpPr>
          <p:spPr>
            <a:xfrm>
              <a:off x="394134" y="6333181"/>
              <a:ext cx="13881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i="0" kern="12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Aptos Display" panose="020B0004020202020204" pitchFamily="34" charset="0"/>
                  <a:ea typeface="+mn-ea"/>
                  <a:cs typeface="+mn-cs"/>
                </a:rPr>
                <a:t>ServiceWow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D8163AB-4F13-DB27-5959-0A915484E70A}"/>
                </a:ext>
              </a:extLst>
            </p:cNvPr>
            <p:cNvCxnSpPr>
              <a:cxnSpLocks/>
            </p:cNvCxnSpPr>
            <p:nvPr/>
          </p:nvCxnSpPr>
          <p:spPr>
            <a:xfrm>
              <a:off x="1630515" y="6272870"/>
              <a:ext cx="0" cy="53407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C3A2A2-3C4A-4BD8-EEE7-0B5EFB15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373715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73745-A912-5EF4-4F1B-EE858C2D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BD5438A-CE3F-42C7-C39B-89DB6C5DBABF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ABA000E0-6057-3E6B-18D1-E971550ABF0E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214822D-F536-9F24-FE59-56CEEDF9E0F9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36B0B8-AA70-45EA-D20C-75326A87C9CD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AD9AC2-7711-D464-D9FF-172890A81582}"/>
              </a:ext>
            </a:extLst>
          </p:cNvPr>
          <p:cNvSpPr txBox="1">
            <a:spLocks/>
          </p:cNvSpPr>
          <p:nvPr/>
        </p:nvSpPr>
        <p:spPr>
          <a:xfrm>
            <a:off x="987684" y="2668650"/>
            <a:ext cx="5214191" cy="11958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900" dirty="0">
                <a:solidFill>
                  <a:srgbClr val="80B894"/>
                </a:solidFill>
                <a:latin typeface="Aptos Display" panose="020B0004020202020204" pitchFamily="34" charset="0"/>
              </a:rPr>
              <a:t>Agenda</a:t>
            </a: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7854FEC5-DAC6-9D52-8D6F-2C5A961AD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579860"/>
              </p:ext>
            </p:extLst>
          </p:nvPr>
        </p:nvGraphicFramePr>
        <p:xfrm>
          <a:off x="5678285" y="1389770"/>
          <a:ext cx="5668040" cy="3853063"/>
        </p:xfrm>
        <a:graphic>
          <a:graphicData uri="http://schemas.openxmlformats.org/drawingml/2006/table">
            <a:tbl>
              <a:tblPr firstRow="1" bandRow="1"/>
              <a:tblGrid>
                <a:gridCol w="5668040">
                  <a:extLst>
                    <a:ext uri="{9D8B030D-6E8A-4147-A177-3AD203B41FA5}">
                      <a16:colId xmlns:a16="http://schemas.microsoft.com/office/drawing/2014/main" val="1011347985"/>
                    </a:ext>
                  </a:extLst>
                </a:gridCol>
              </a:tblGrid>
              <a:tr h="7441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Governance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97526"/>
                  </a:ext>
                </a:extLst>
              </a:tr>
              <a:tr h="7239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noProof="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Agile Framework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9640011"/>
                  </a:ext>
                </a:extLst>
              </a:tr>
              <a:tr h="7390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noProof="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Instance Structure</a:t>
                      </a:r>
                      <a:endParaRPr lang="en-US" sz="2400" b="1" i="0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378910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noProof="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Release Strategy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612384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noProof="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Key Takeaways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4248878"/>
                  </a:ext>
                </a:extLst>
              </a:tr>
            </a:tbl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15A7239-3D90-09EB-0781-F00C6D07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76400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40563-8A24-1912-3E8E-81520F93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09C1746-7A1A-B892-847C-E8B277E92282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7AC939C0-2ECF-AC5E-A7B6-C1C97154677E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A7B1C40-B190-2570-6261-A2972431DB3E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3BA0A19-040E-BD71-66D9-E8074FBEA2B9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B567EC-E801-3E28-2B35-98470917394E}"/>
              </a:ext>
            </a:extLst>
          </p:cNvPr>
          <p:cNvSpPr txBox="1">
            <a:spLocks/>
          </p:cNvSpPr>
          <p:nvPr/>
        </p:nvSpPr>
        <p:spPr>
          <a:xfrm>
            <a:off x="845675" y="419285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What is governance?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0BBD1-1E62-51F3-1250-2E67AE99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sp>
        <p:nvSpPr>
          <p:cNvPr id="6" name="Freeform: Shape 2">
            <a:extLst>
              <a:ext uri="{FF2B5EF4-FFF2-40B4-BE49-F238E27FC236}">
                <a16:creationId xmlns:a16="http://schemas.microsoft.com/office/drawing/2014/main" id="{D9945B93-883C-90BC-0E12-03DBD202B511}"/>
              </a:ext>
            </a:extLst>
          </p:cNvPr>
          <p:cNvSpPr/>
          <p:nvPr/>
        </p:nvSpPr>
        <p:spPr>
          <a:xfrm>
            <a:off x="-4916" y="1424809"/>
            <a:ext cx="12191999" cy="1009493"/>
          </a:xfrm>
          <a:custGeom>
            <a:avLst/>
            <a:gdLst>
              <a:gd name="connsiteX0" fmla="*/ 0 w 7569326"/>
              <a:gd name="connsiteY0" fmla="*/ 0 h 2568702"/>
              <a:gd name="connsiteX1" fmla="*/ 7569327 w 7569326"/>
              <a:gd name="connsiteY1" fmla="*/ 0 h 2568702"/>
              <a:gd name="connsiteX2" fmla="*/ 7569327 w 7569326"/>
              <a:gd name="connsiteY2" fmla="*/ 2568702 h 2568702"/>
              <a:gd name="connsiteX3" fmla="*/ 0 w 7569326"/>
              <a:gd name="connsiteY3" fmla="*/ 2568702 h 2568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69326" h="2568702">
                <a:moveTo>
                  <a:pt x="0" y="0"/>
                </a:moveTo>
                <a:lnTo>
                  <a:pt x="7569327" y="0"/>
                </a:lnTo>
                <a:lnTo>
                  <a:pt x="7569327" y="2568702"/>
                </a:lnTo>
                <a:lnTo>
                  <a:pt x="0" y="2568702"/>
                </a:lnTo>
                <a:close/>
              </a:path>
            </a:pathLst>
          </a:custGeom>
          <a:solidFill>
            <a:srgbClr val="078136">
              <a:alpha val="50196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Governance is a </a:t>
            </a:r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</a:rPr>
              <a:t>decision-making framework</a:t>
            </a:r>
            <a:r>
              <a:rPr lang="en-IN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that </a:t>
            </a:r>
          </a:p>
          <a:p>
            <a:pPr algn="ctr"/>
            <a:r>
              <a:rPr lang="en-IN" sz="2800" b="1" dirty="0">
                <a:solidFill>
                  <a:schemeClr val="bg1"/>
                </a:solidFill>
                <a:latin typeface="Aptos Display" panose="020B0004020202020204" pitchFamily="34" charset="0"/>
              </a:rPr>
              <a:t>accelerates outcomes</a:t>
            </a:r>
            <a:r>
              <a:rPr lang="en-IN" sz="2800" dirty="0">
                <a:solidFill>
                  <a:schemeClr val="bg1"/>
                </a:solidFill>
                <a:latin typeface="Aptos Display" panose="020B0004020202020204" pitchFamily="34" charset="0"/>
              </a:rPr>
              <a:t> by defining: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DDD15B0-70FC-E23D-AD50-DDDB36B46B98}"/>
              </a:ext>
            </a:extLst>
          </p:cNvPr>
          <p:cNvGrpSpPr/>
          <p:nvPr/>
        </p:nvGrpSpPr>
        <p:grpSpPr>
          <a:xfrm>
            <a:off x="1406496" y="3425738"/>
            <a:ext cx="2069798" cy="1908072"/>
            <a:chOff x="1406496" y="3425738"/>
            <a:chExt cx="2069798" cy="1908072"/>
          </a:xfrm>
        </p:grpSpPr>
        <p:sp>
          <p:nvSpPr>
            <p:cNvPr id="19" name="Graphic 9" descr="Badge Tick1 with solid fill">
              <a:extLst>
                <a:ext uri="{FF2B5EF4-FFF2-40B4-BE49-F238E27FC236}">
                  <a16:creationId xmlns:a16="http://schemas.microsoft.com/office/drawing/2014/main" id="{E714B3DD-A299-9EC9-0B4D-AAFACBAF9CE9}"/>
                </a:ext>
              </a:extLst>
            </p:cNvPr>
            <p:cNvSpPr/>
            <p:nvPr/>
          </p:nvSpPr>
          <p:spPr>
            <a:xfrm>
              <a:off x="2153921" y="3425738"/>
              <a:ext cx="574951" cy="526072"/>
            </a:xfrm>
            <a:custGeom>
              <a:avLst/>
              <a:gdLst>
                <a:gd name="connsiteX0" fmla="*/ 361750 w 723499"/>
                <a:gd name="connsiteY0" fmla="*/ 0 h 723499"/>
                <a:gd name="connsiteX1" fmla="*/ 0 w 723499"/>
                <a:gd name="connsiteY1" fmla="*/ 361750 h 723499"/>
                <a:gd name="connsiteX2" fmla="*/ 361750 w 723499"/>
                <a:gd name="connsiteY2" fmla="*/ 723500 h 723499"/>
                <a:gd name="connsiteX3" fmla="*/ 723500 w 723499"/>
                <a:gd name="connsiteY3" fmla="*/ 361750 h 723499"/>
                <a:gd name="connsiteX4" fmla="*/ 723500 w 723499"/>
                <a:gd name="connsiteY4" fmla="*/ 361721 h 723499"/>
                <a:gd name="connsiteX5" fmla="*/ 362026 w 723499"/>
                <a:gd name="connsiteY5" fmla="*/ 0 h 723499"/>
                <a:gd name="connsiteX6" fmla="*/ 361750 w 723499"/>
                <a:gd name="connsiteY6" fmla="*/ 0 h 723499"/>
                <a:gd name="connsiteX7" fmla="*/ 449380 w 723499"/>
                <a:gd name="connsiteY7" fmla="*/ 379028 h 723499"/>
                <a:gd name="connsiteX8" fmla="*/ 290312 w 723499"/>
                <a:gd name="connsiteY8" fmla="*/ 538258 h 723499"/>
                <a:gd name="connsiteX9" fmla="*/ 154010 w 723499"/>
                <a:gd name="connsiteY9" fmla="*/ 401955 h 723499"/>
                <a:gd name="connsiteX10" fmla="*/ 199549 w 723499"/>
                <a:gd name="connsiteY10" fmla="*/ 356416 h 723499"/>
                <a:gd name="connsiteX11" fmla="*/ 290312 w 723499"/>
                <a:gd name="connsiteY11" fmla="*/ 447180 h 723499"/>
                <a:gd name="connsiteX12" fmla="*/ 421757 w 723499"/>
                <a:gd name="connsiteY12" fmla="*/ 314030 h 723499"/>
                <a:gd name="connsiteX13" fmla="*/ 534543 w 723499"/>
                <a:gd name="connsiteY13" fmla="*/ 202673 h 723499"/>
                <a:gd name="connsiteX14" fmla="*/ 538648 w 723499"/>
                <a:gd name="connsiteY14" fmla="*/ 198863 h 723499"/>
                <a:gd name="connsiteX15" fmla="*/ 542458 w 723499"/>
                <a:gd name="connsiteY15" fmla="*/ 194748 h 723499"/>
                <a:gd name="connsiteX16" fmla="*/ 588636 w 723499"/>
                <a:gd name="connsiteY16" fmla="*/ 240287 h 723499"/>
                <a:gd name="connsiteX17" fmla="*/ 449370 w 723499"/>
                <a:gd name="connsiteY17" fmla="*/ 379000 h 72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23499" h="723499">
                  <a:moveTo>
                    <a:pt x="361750" y="0"/>
                  </a:moveTo>
                  <a:cubicBezTo>
                    <a:pt x="161961" y="0"/>
                    <a:pt x="0" y="161961"/>
                    <a:pt x="0" y="361750"/>
                  </a:cubicBezTo>
                  <a:cubicBezTo>
                    <a:pt x="0" y="561539"/>
                    <a:pt x="161961" y="723500"/>
                    <a:pt x="361750" y="723500"/>
                  </a:cubicBezTo>
                  <a:cubicBezTo>
                    <a:pt x="561539" y="723500"/>
                    <a:pt x="723500" y="561539"/>
                    <a:pt x="723500" y="361750"/>
                  </a:cubicBezTo>
                  <a:cubicBezTo>
                    <a:pt x="723500" y="361740"/>
                    <a:pt x="723500" y="361731"/>
                    <a:pt x="723500" y="361721"/>
                  </a:cubicBezTo>
                  <a:cubicBezTo>
                    <a:pt x="723569" y="162016"/>
                    <a:pt x="561731" y="69"/>
                    <a:pt x="362026" y="0"/>
                  </a:cubicBezTo>
                  <a:cubicBezTo>
                    <a:pt x="361934" y="0"/>
                    <a:pt x="361842" y="0"/>
                    <a:pt x="361750" y="0"/>
                  </a:cubicBezTo>
                  <a:close/>
                  <a:moveTo>
                    <a:pt x="449380" y="379028"/>
                  </a:moveTo>
                  <a:cubicBezTo>
                    <a:pt x="396675" y="431638"/>
                    <a:pt x="343652" y="484715"/>
                    <a:pt x="290312" y="538258"/>
                  </a:cubicBezTo>
                  <a:cubicBezTo>
                    <a:pt x="244986" y="492716"/>
                    <a:pt x="199552" y="447282"/>
                    <a:pt x="154010" y="401955"/>
                  </a:cubicBezTo>
                  <a:lnTo>
                    <a:pt x="199549" y="356416"/>
                  </a:lnTo>
                  <a:lnTo>
                    <a:pt x="290312" y="447180"/>
                  </a:lnTo>
                  <a:cubicBezTo>
                    <a:pt x="334375" y="402482"/>
                    <a:pt x="378190" y="358099"/>
                    <a:pt x="421757" y="314030"/>
                  </a:cubicBezTo>
                  <a:cubicBezTo>
                    <a:pt x="465296" y="269967"/>
                    <a:pt x="489385" y="246317"/>
                    <a:pt x="534543" y="202673"/>
                  </a:cubicBezTo>
                  <a:cubicBezTo>
                    <a:pt x="535810" y="201406"/>
                    <a:pt x="537172" y="200149"/>
                    <a:pt x="538648" y="198863"/>
                  </a:cubicBezTo>
                  <a:cubicBezTo>
                    <a:pt x="540079" y="197649"/>
                    <a:pt x="541358" y="196268"/>
                    <a:pt x="542458" y="194748"/>
                  </a:cubicBezTo>
                  <a:lnTo>
                    <a:pt x="588636" y="240287"/>
                  </a:lnTo>
                  <a:cubicBezTo>
                    <a:pt x="535000" y="293627"/>
                    <a:pt x="502082" y="326393"/>
                    <a:pt x="449370" y="379000"/>
                  </a:cubicBezTo>
                  <a:close/>
                </a:path>
              </a:pathLst>
            </a:custGeom>
            <a:noFill/>
            <a:ln w="28575" cap="flat">
              <a:solidFill>
                <a:srgbClr val="80B89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A01D03-C110-B489-1C5A-A2AD0D017AE7}"/>
                </a:ext>
              </a:extLst>
            </p:cNvPr>
            <p:cNvSpPr txBox="1"/>
            <p:nvPr/>
          </p:nvSpPr>
          <p:spPr>
            <a:xfrm>
              <a:off x="1406496" y="4410480"/>
              <a:ext cx="2069798" cy="92333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sz="1800" b="1" dirty="0">
                  <a:solidFill>
                    <a:srgbClr val="80B894"/>
                  </a:solidFill>
                  <a:latin typeface="Aptos" panose="020B0004020202020204" pitchFamily="34" charset="0"/>
                  <a:ea typeface="微软雅黑"/>
                  <a:cs typeface="Posterama" panose="020B0504020200020000" pitchFamily="34" charset="0"/>
                </a:rPr>
                <a:t>What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</a:rPr>
                <a:t>decision need to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</a:rPr>
                <a:t>be made and when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B3BA4AB-ADDD-4F43-FF89-FDDF9FE1F709}"/>
              </a:ext>
            </a:extLst>
          </p:cNvPr>
          <p:cNvGrpSpPr/>
          <p:nvPr/>
        </p:nvGrpSpPr>
        <p:grpSpPr>
          <a:xfrm>
            <a:off x="5332945" y="3359106"/>
            <a:ext cx="1837362" cy="1924725"/>
            <a:chOff x="5332945" y="3359106"/>
            <a:chExt cx="1837362" cy="1924725"/>
          </a:xfrm>
        </p:grpSpPr>
        <p:pic>
          <p:nvPicPr>
            <p:cNvPr id="16" name="Graphic 15" descr="Users outline">
              <a:extLst>
                <a:ext uri="{FF2B5EF4-FFF2-40B4-BE49-F238E27FC236}">
                  <a16:creationId xmlns:a16="http://schemas.microsoft.com/office/drawing/2014/main" id="{C3C3ED2E-3309-CF71-2D32-B8EDD8CD1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01799" y="3359106"/>
              <a:ext cx="699655" cy="71697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6F7CE6D-C309-968A-C22D-CD31E8B775AA}"/>
                </a:ext>
              </a:extLst>
            </p:cNvPr>
            <p:cNvSpPr txBox="1"/>
            <p:nvPr/>
          </p:nvSpPr>
          <p:spPr>
            <a:xfrm>
              <a:off x="5332945" y="4360501"/>
              <a:ext cx="1837362" cy="92333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sz="1800" b="1" dirty="0">
                  <a:solidFill>
                    <a:srgbClr val="80B894"/>
                  </a:solidFill>
                  <a:latin typeface="Aptos" panose="020B0004020202020204" pitchFamily="34" charset="0"/>
                  <a:ea typeface="微软雅黑"/>
                  <a:cs typeface="Posterama" panose="020B0504020200020000" pitchFamily="34" charset="0"/>
                </a:rPr>
                <a:t>Who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</a:rPr>
                <a:t>is involved in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</a:rPr>
                <a:t>decision-making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0876700-6491-F24E-D2EF-5294F776CA8C}"/>
              </a:ext>
            </a:extLst>
          </p:cNvPr>
          <p:cNvGrpSpPr/>
          <p:nvPr/>
        </p:nvGrpSpPr>
        <p:grpSpPr>
          <a:xfrm>
            <a:off x="9393707" y="3392422"/>
            <a:ext cx="1122488" cy="1835282"/>
            <a:chOff x="9393707" y="3392422"/>
            <a:chExt cx="1122488" cy="1835282"/>
          </a:xfrm>
        </p:grpSpPr>
        <p:pic>
          <p:nvPicPr>
            <p:cNvPr id="25" name="Graphic 24" descr="Decision chart outline">
              <a:extLst>
                <a:ext uri="{FF2B5EF4-FFF2-40B4-BE49-F238E27FC236}">
                  <a16:creationId xmlns:a16="http://schemas.microsoft.com/office/drawing/2014/main" id="{29130548-D018-56FB-0120-EC2ED510C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497751" y="3392422"/>
              <a:ext cx="914400" cy="59270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D3EFF5A-7462-F9FB-7F6C-0C00CDB2AC16}"/>
                </a:ext>
              </a:extLst>
            </p:cNvPr>
            <p:cNvSpPr txBox="1"/>
            <p:nvPr/>
          </p:nvSpPr>
          <p:spPr>
            <a:xfrm>
              <a:off x="9393707" y="4304374"/>
              <a:ext cx="1122488" cy="92333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sz="1800" b="1" dirty="0">
                  <a:solidFill>
                    <a:srgbClr val="80B894"/>
                  </a:solidFill>
                  <a:latin typeface="Aptos" panose="020B0004020202020204" pitchFamily="34" charset="0"/>
                  <a:ea typeface="微软雅黑"/>
                  <a:cs typeface="Posterama" panose="020B0504020200020000" pitchFamily="34" charset="0"/>
                </a:rPr>
                <a:t>How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</a:rPr>
                <a:t>decision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</a:rPr>
                <a:t>are made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7971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B393A-2894-6F4B-8DAC-A8FA390F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9D9D032-333E-4966-1137-F645709C0113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C876B796-2D60-6341-1972-5B93FDD6ACFD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4737F3-15CB-980B-762A-7F63883F5FB9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9F3B757-4952-5693-91A2-C8F22A99C699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379F58-AA68-AB78-CE1D-603135804E22}"/>
              </a:ext>
            </a:extLst>
          </p:cNvPr>
          <p:cNvSpPr txBox="1">
            <a:spLocks/>
          </p:cNvSpPr>
          <p:nvPr/>
        </p:nvSpPr>
        <p:spPr>
          <a:xfrm>
            <a:off x="806115" y="409483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Why invest in governance?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D093FA-320C-1A66-558B-1BB7E469C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3D0A6FE-F091-943B-0DB7-E0BA82907831}"/>
              </a:ext>
            </a:extLst>
          </p:cNvPr>
          <p:cNvGrpSpPr/>
          <p:nvPr/>
        </p:nvGrpSpPr>
        <p:grpSpPr>
          <a:xfrm>
            <a:off x="885232" y="1474659"/>
            <a:ext cx="9549245" cy="1009493"/>
            <a:chOff x="885232" y="1474659"/>
            <a:chExt cx="9549245" cy="1009493"/>
          </a:xfrm>
        </p:grpSpPr>
        <p:sp>
          <p:nvSpPr>
            <p:cNvPr id="50" name="Freeform: Shape 2">
              <a:extLst>
                <a:ext uri="{FF2B5EF4-FFF2-40B4-BE49-F238E27FC236}">
                  <a16:creationId xmlns:a16="http://schemas.microsoft.com/office/drawing/2014/main" id="{6F836F66-DBEF-FE65-C5C2-66D8415B2D89}"/>
                </a:ext>
              </a:extLst>
            </p:cNvPr>
            <p:cNvSpPr/>
            <p:nvPr/>
          </p:nvSpPr>
          <p:spPr>
            <a:xfrm>
              <a:off x="885232" y="1474659"/>
              <a:ext cx="9549245" cy="1009493"/>
            </a:xfrm>
            <a:custGeom>
              <a:avLst/>
              <a:gdLst>
                <a:gd name="connsiteX0" fmla="*/ 0 w 7569326"/>
                <a:gd name="connsiteY0" fmla="*/ 0 h 2568702"/>
                <a:gd name="connsiteX1" fmla="*/ 7569327 w 7569326"/>
                <a:gd name="connsiteY1" fmla="*/ 0 h 2568702"/>
                <a:gd name="connsiteX2" fmla="*/ 7569327 w 7569326"/>
                <a:gd name="connsiteY2" fmla="*/ 2568702 h 2568702"/>
                <a:gd name="connsiteX3" fmla="*/ 0 w 7569326"/>
                <a:gd name="connsiteY3" fmla="*/ 2568702 h 256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69326" h="2568702">
                  <a:moveTo>
                    <a:pt x="0" y="0"/>
                  </a:moveTo>
                  <a:lnTo>
                    <a:pt x="7569327" y="0"/>
                  </a:lnTo>
                  <a:lnTo>
                    <a:pt x="7569327" y="2568702"/>
                  </a:lnTo>
                  <a:lnTo>
                    <a:pt x="0" y="2568702"/>
                  </a:lnTo>
                  <a:close/>
                </a:path>
              </a:pathLst>
            </a:custGeom>
            <a:solidFill>
              <a:schemeClr val="bg2">
                <a:alpha val="50196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 sz="2800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pic>
          <p:nvPicPr>
            <p:cNvPr id="37" name="Graphic 36" descr="Magnifying glass with solid fill">
              <a:extLst>
                <a:ext uri="{FF2B5EF4-FFF2-40B4-BE49-F238E27FC236}">
                  <a16:creationId xmlns:a16="http://schemas.microsoft.com/office/drawing/2014/main" id="{F00BE310-438E-2E2B-350B-0C5556C80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1197003" y="1713642"/>
              <a:ext cx="515534" cy="51553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C2BC794-07CA-BB38-C7BE-A487E6D0BF4E}"/>
                </a:ext>
              </a:extLst>
            </p:cNvPr>
            <p:cNvSpPr txBox="1"/>
            <p:nvPr/>
          </p:nvSpPr>
          <p:spPr>
            <a:xfrm>
              <a:off x="1928839" y="1656241"/>
              <a:ext cx="7773759" cy="64633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Drive your transformation vision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by aligning all ServiceNow investment to support strategy.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824D655-3A03-56AF-239A-494095DF40A2}"/>
              </a:ext>
            </a:extLst>
          </p:cNvPr>
          <p:cNvGrpSpPr/>
          <p:nvPr/>
        </p:nvGrpSpPr>
        <p:grpSpPr>
          <a:xfrm>
            <a:off x="885232" y="2943285"/>
            <a:ext cx="9549245" cy="1009493"/>
            <a:chOff x="885232" y="2943285"/>
            <a:chExt cx="9549245" cy="1009493"/>
          </a:xfrm>
        </p:grpSpPr>
        <p:sp>
          <p:nvSpPr>
            <p:cNvPr id="51" name="Freeform: Shape 2">
              <a:extLst>
                <a:ext uri="{FF2B5EF4-FFF2-40B4-BE49-F238E27FC236}">
                  <a16:creationId xmlns:a16="http://schemas.microsoft.com/office/drawing/2014/main" id="{07FDD891-CE0B-821F-75FD-AABE69C9DD9F}"/>
                </a:ext>
              </a:extLst>
            </p:cNvPr>
            <p:cNvSpPr/>
            <p:nvPr/>
          </p:nvSpPr>
          <p:spPr>
            <a:xfrm>
              <a:off x="885232" y="2943285"/>
              <a:ext cx="9549245" cy="1009493"/>
            </a:xfrm>
            <a:custGeom>
              <a:avLst/>
              <a:gdLst>
                <a:gd name="connsiteX0" fmla="*/ 0 w 7569326"/>
                <a:gd name="connsiteY0" fmla="*/ 0 h 2568702"/>
                <a:gd name="connsiteX1" fmla="*/ 7569327 w 7569326"/>
                <a:gd name="connsiteY1" fmla="*/ 0 h 2568702"/>
                <a:gd name="connsiteX2" fmla="*/ 7569327 w 7569326"/>
                <a:gd name="connsiteY2" fmla="*/ 2568702 h 2568702"/>
                <a:gd name="connsiteX3" fmla="*/ 0 w 7569326"/>
                <a:gd name="connsiteY3" fmla="*/ 2568702 h 256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69326" h="2568702">
                  <a:moveTo>
                    <a:pt x="0" y="0"/>
                  </a:moveTo>
                  <a:lnTo>
                    <a:pt x="7569327" y="0"/>
                  </a:lnTo>
                  <a:lnTo>
                    <a:pt x="7569327" y="2568702"/>
                  </a:lnTo>
                  <a:lnTo>
                    <a:pt x="0" y="2568702"/>
                  </a:lnTo>
                  <a:close/>
                </a:path>
              </a:pathLst>
            </a:custGeom>
            <a:solidFill>
              <a:schemeClr val="bg2">
                <a:alpha val="50196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 sz="2800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pic>
          <p:nvPicPr>
            <p:cNvPr id="39" name="Graphic 38" descr="Rocket with solid fill">
              <a:extLst>
                <a:ext uri="{FF2B5EF4-FFF2-40B4-BE49-F238E27FC236}">
                  <a16:creationId xmlns:a16="http://schemas.microsoft.com/office/drawing/2014/main" id="{B12EDB11-175C-A958-FA10-A28D78DD4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97003" y="3136338"/>
              <a:ext cx="515534" cy="51553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298E571-3292-D613-F66F-94B6AAFD2E93}"/>
                </a:ext>
              </a:extLst>
            </p:cNvPr>
            <p:cNvSpPr txBox="1"/>
            <p:nvPr/>
          </p:nvSpPr>
          <p:spPr>
            <a:xfrm>
              <a:off x="1928838" y="3112697"/>
              <a:ext cx="7773759" cy="64633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Deliver the right work at the right time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by streamlining decisions and removing roadblocks.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665123B-7569-2993-92E6-98BE36A0650C}"/>
              </a:ext>
            </a:extLst>
          </p:cNvPr>
          <p:cNvGrpSpPr/>
          <p:nvPr/>
        </p:nvGrpSpPr>
        <p:grpSpPr>
          <a:xfrm>
            <a:off x="885231" y="4428224"/>
            <a:ext cx="9549245" cy="1009493"/>
            <a:chOff x="885231" y="4428224"/>
            <a:chExt cx="9549245" cy="1009493"/>
          </a:xfrm>
        </p:grpSpPr>
        <p:sp>
          <p:nvSpPr>
            <p:cNvPr id="52" name="Freeform: Shape 2">
              <a:extLst>
                <a:ext uri="{FF2B5EF4-FFF2-40B4-BE49-F238E27FC236}">
                  <a16:creationId xmlns:a16="http://schemas.microsoft.com/office/drawing/2014/main" id="{9BD74553-A00D-76B7-E428-E2387C971AF8}"/>
                </a:ext>
              </a:extLst>
            </p:cNvPr>
            <p:cNvSpPr/>
            <p:nvPr/>
          </p:nvSpPr>
          <p:spPr>
            <a:xfrm>
              <a:off x="885231" y="4428224"/>
              <a:ext cx="9549245" cy="1009493"/>
            </a:xfrm>
            <a:custGeom>
              <a:avLst/>
              <a:gdLst>
                <a:gd name="connsiteX0" fmla="*/ 0 w 7569326"/>
                <a:gd name="connsiteY0" fmla="*/ 0 h 2568702"/>
                <a:gd name="connsiteX1" fmla="*/ 7569327 w 7569326"/>
                <a:gd name="connsiteY1" fmla="*/ 0 h 2568702"/>
                <a:gd name="connsiteX2" fmla="*/ 7569327 w 7569326"/>
                <a:gd name="connsiteY2" fmla="*/ 2568702 h 2568702"/>
                <a:gd name="connsiteX3" fmla="*/ 0 w 7569326"/>
                <a:gd name="connsiteY3" fmla="*/ 2568702 h 256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69326" h="2568702">
                  <a:moveTo>
                    <a:pt x="0" y="0"/>
                  </a:moveTo>
                  <a:lnTo>
                    <a:pt x="7569327" y="0"/>
                  </a:lnTo>
                  <a:lnTo>
                    <a:pt x="7569327" y="2568702"/>
                  </a:lnTo>
                  <a:lnTo>
                    <a:pt x="0" y="2568702"/>
                  </a:lnTo>
                  <a:close/>
                </a:path>
              </a:pathLst>
            </a:custGeom>
            <a:solidFill>
              <a:schemeClr val="bg2">
                <a:alpha val="50196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 sz="2800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pic>
          <p:nvPicPr>
            <p:cNvPr id="41" name="Graphic 40" descr="Tools with solid fill">
              <a:extLst>
                <a:ext uri="{FF2B5EF4-FFF2-40B4-BE49-F238E27FC236}">
                  <a16:creationId xmlns:a16="http://schemas.microsoft.com/office/drawing/2014/main" id="{67561C14-3C1B-7DED-86FE-23E3930D3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97003" y="4584838"/>
              <a:ext cx="559521" cy="559521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4D11BB3-9869-8646-E7EE-F46D0B26F690}"/>
                </a:ext>
              </a:extLst>
            </p:cNvPr>
            <p:cNvSpPr txBox="1"/>
            <p:nvPr/>
          </p:nvSpPr>
          <p:spPr>
            <a:xfrm>
              <a:off x="1928838" y="4584838"/>
              <a:ext cx="7773759" cy="64633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Maintain the integrity of your ServiceNow implementation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buFontTx/>
                <a:buNone/>
              </a:pPr>
              <a:r>
                <a:rPr lang="en-US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by defining and applying the technical best practices.</a:t>
              </a:r>
            </a:p>
          </p:txBody>
        </p:sp>
      </p:grpSp>
      <p:sp>
        <p:nvSpPr>
          <p:cNvPr id="2" name="Action Button: Return 1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96378950-DB35-09B8-F419-1EE2C0071EBA}"/>
              </a:ext>
            </a:extLst>
          </p:cNvPr>
          <p:cNvSpPr/>
          <p:nvPr/>
        </p:nvSpPr>
        <p:spPr>
          <a:xfrm>
            <a:off x="9542189" y="1792798"/>
            <a:ext cx="623914" cy="400376"/>
          </a:xfrm>
          <a:prstGeom prst="actionButtonReturn">
            <a:avLst/>
          </a:prstGeom>
          <a:solidFill>
            <a:srgbClr val="7FB793"/>
          </a:solidFill>
          <a:ln>
            <a:solidFill>
              <a:schemeClr val="bg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Action Button: Return 2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14CBB02D-A1B8-753B-C4C1-D0DA121038E4}"/>
              </a:ext>
            </a:extLst>
          </p:cNvPr>
          <p:cNvSpPr/>
          <p:nvPr/>
        </p:nvSpPr>
        <p:spPr>
          <a:xfrm>
            <a:off x="9542189" y="3256000"/>
            <a:ext cx="623914" cy="400376"/>
          </a:xfrm>
          <a:prstGeom prst="actionButtonReturn">
            <a:avLst/>
          </a:prstGeom>
          <a:solidFill>
            <a:srgbClr val="7FB793"/>
          </a:solidFill>
          <a:ln>
            <a:solidFill>
              <a:schemeClr val="bg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Action Button: Return 4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96873945-C36C-774F-6A70-AF8E143BDA3B}"/>
              </a:ext>
            </a:extLst>
          </p:cNvPr>
          <p:cNvSpPr/>
          <p:nvPr/>
        </p:nvSpPr>
        <p:spPr>
          <a:xfrm>
            <a:off x="9542189" y="4682614"/>
            <a:ext cx="623914" cy="400376"/>
          </a:xfrm>
          <a:prstGeom prst="actionButtonReturn">
            <a:avLst/>
          </a:prstGeom>
          <a:solidFill>
            <a:srgbClr val="7FB793"/>
          </a:solidFill>
          <a:ln>
            <a:solidFill>
              <a:schemeClr val="bg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388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CF4FB-D2AD-C30B-D842-ACD639167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69A3895-3AAB-B4E3-6511-CF0F5A47C8D9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622527B5-BD6C-FDD1-42DF-2C408379E5CA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A1A776C-4FF9-1190-5155-325810CCCDC2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BBC6B31-A471-B357-19D6-9BA4B8DA2322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88B7CCE-21A9-C3FB-65ED-642772B4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4CCD32-6AD0-C597-5F44-EAB14C2BBC19}"/>
              </a:ext>
            </a:extLst>
          </p:cNvPr>
          <p:cNvGrpSpPr/>
          <p:nvPr/>
        </p:nvGrpSpPr>
        <p:grpSpPr>
          <a:xfrm>
            <a:off x="806115" y="409483"/>
            <a:ext cx="10686230" cy="5639127"/>
            <a:chOff x="806115" y="409483"/>
            <a:chExt cx="10686230" cy="5639127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1D78376D-73FF-69A9-E774-D2B26C5A2234}"/>
                </a:ext>
              </a:extLst>
            </p:cNvPr>
            <p:cNvSpPr txBox="1">
              <a:spLocks/>
            </p:cNvSpPr>
            <p:nvPr/>
          </p:nvSpPr>
          <p:spPr>
            <a:xfrm>
              <a:off x="806115" y="409483"/>
              <a:ext cx="9628361" cy="817234"/>
            </a:xfrm>
            <a:prstGeom prst="rect">
              <a:avLst/>
            </a:prstGeom>
          </p:spPr>
          <p:txBody>
            <a:bodyPr vert="horz" lIns="91440" tIns="45720" rIns="91440" bIns="4572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4000" dirty="0">
                  <a:solidFill>
                    <a:schemeClr val="accent6"/>
                  </a:solidFill>
                </a:rPr>
                <a:t>Governance process and Board structure</a:t>
              </a:r>
            </a:p>
          </p:txBody>
        </p:sp>
        <p:pic>
          <p:nvPicPr>
            <p:cNvPr id="2" name="Google Shape;259;p5">
              <a:extLst>
                <a:ext uri="{FF2B5EF4-FFF2-40B4-BE49-F238E27FC236}">
                  <a16:creationId xmlns:a16="http://schemas.microsoft.com/office/drawing/2014/main" id="{0991273F-9382-5F96-E381-20387DF55CF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6115" y="1110913"/>
              <a:ext cx="10686230" cy="493769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9053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D566D-0D93-BCB6-5907-70F0B638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0F900390-968D-C93C-E3B3-5EF624C32CEB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661F51EF-534A-E666-3208-6F426BA1A895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BB73219-C9BE-9C10-7ADA-F5D074506FF2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6B3E7FD-14DC-41F5-BFAF-4A818682DE57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3F9D8B-1D41-38A9-844A-90EFEB8DA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cxnSp>
        <p:nvCxnSpPr>
          <p:cNvPr id="15" name="Google Shape;275;p6">
            <a:extLst>
              <a:ext uri="{FF2B5EF4-FFF2-40B4-BE49-F238E27FC236}">
                <a16:creationId xmlns:a16="http://schemas.microsoft.com/office/drawing/2014/main" id="{CE3D11AB-6B82-209D-9D0E-79CC7B4F43FA}"/>
              </a:ext>
            </a:extLst>
          </p:cNvPr>
          <p:cNvCxnSpPr>
            <a:stCxn id="6" idx="3"/>
            <a:endCxn id="11" idx="1"/>
          </p:cNvCxnSpPr>
          <p:nvPr/>
        </p:nvCxnSpPr>
        <p:spPr>
          <a:xfrm flipV="1">
            <a:off x="3867107" y="3686503"/>
            <a:ext cx="1102619" cy="32157"/>
          </a:xfrm>
          <a:prstGeom prst="straightConnector1">
            <a:avLst/>
          </a:prstGeom>
          <a:noFill/>
          <a:ln w="15875" cap="rnd" cmpd="sng">
            <a:solidFill>
              <a:srgbClr val="92D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276;p6">
            <a:extLst>
              <a:ext uri="{FF2B5EF4-FFF2-40B4-BE49-F238E27FC236}">
                <a16:creationId xmlns:a16="http://schemas.microsoft.com/office/drawing/2014/main" id="{6FD8B46F-4D56-081D-3DF9-AB56EB59D29D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3867107" y="3087999"/>
            <a:ext cx="1070010" cy="630661"/>
          </a:xfrm>
          <a:prstGeom prst="straightConnector1">
            <a:avLst/>
          </a:prstGeom>
          <a:noFill/>
          <a:ln w="15875" cap="rnd" cmpd="sng">
            <a:solidFill>
              <a:srgbClr val="92D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" name="Google Shape;277;p6">
            <a:extLst>
              <a:ext uri="{FF2B5EF4-FFF2-40B4-BE49-F238E27FC236}">
                <a16:creationId xmlns:a16="http://schemas.microsoft.com/office/drawing/2014/main" id="{709B4871-68F8-7A18-DB7A-22809ECE2C65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3867107" y="2483311"/>
            <a:ext cx="1070010" cy="1235349"/>
          </a:xfrm>
          <a:prstGeom prst="straightConnector1">
            <a:avLst/>
          </a:prstGeom>
          <a:noFill/>
          <a:ln w="15875" cap="rnd" cmpd="sng">
            <a:solidFill>
              <a:srgbClr val="92D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" name="Google Shape;278;p6">
            <a:extLst>
              <a:ext uri="{FF2B5EF4-FFF2-40B4-BE49-F238E27FC236}">
                <a16:creationId xmlns:a16="http://schemas.microsoft.com/office/drawing/2014/main" id="{5B09E4B9-7E42-6B56-DBFB-48502EF48306}"/>
              </a:ext>
            </a:extLst>
          </p:cNvPr>
          <p:cNvCxnSpPr>
            <a:stCxn id="6" idx="3"/>
            <a:endCxn id="14" idx="1"/>
          </p:cNvCxnSpPr>
          <p:nvPr/>
        </p:nvCxnSpPr>
        <p:spPr>
          <a:xfrm flipV="1">
            <a:off x="3867107" y="1889316"/>
            <a:ext cx="1050580" cy="1829344"/>
          </a:xfrm>
          <a:prstGeom prst="straightConnector1">
            <a:avLst/>
          </a:prstGeom>
          <a:noFill/>
          <a:ln w="15875" cap="rnd" cmpd="sng">
            <a:solidFill>
              <a:srgbClr val="92D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" name="Google Shape;279;p6">
            <a:extLst>
              <a:ext uri="{FF2B5EF4-FFF2-40B4-BE49-F238E27FC236}">
                <a16:creationId xmlns:a16="http://schemas.microsoft.com/office/drawing/2014/main" id="{3C5F0DC5-FCFB-A391-4518-F6DF20F1FFB1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3867107" y="3718660"/>
            <a:ext cx="1102619" cy="571728"/>
          </a:xfrm>
          <a:prstGeom prst="straightConnector1">
            <a:avLst/>
          </a:prstGeom>
          <a:noFill/>
          <a:ln w="15875" cap="rnd" cmpd="sng">
            <a:solidFill>
              <a:srgbClr val="92D05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59892DA-8210-9311-6BE2-8A92F13FD560}"/>
              </a:ext>
            </a:extLst>
          </p:cNvPr>
          <p:cNvGrpSpPr/>
          <p:nvPr/>
        </p:nvGrpSpPr>
        <p:grpSpPr>
          <a:xfrm>
            <a:off x="806115" y="409483"/>
            <a:ext cx="10198449" cy="5337148"/>
            <a:chOff x="806115" y="409483"/>
            <a:chExt cx="10198449" cy="5337148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0A2DBA07-EC03-79B9-8475-87DBB3B89C24}"/>
                </a:ext>
              </a:extLst>
            </p:cNvPr>
            <p:cNvSpPr txBox="1">
              <a:spLocks/>
            </p:cNvSpPr>
            <p:nvPr/>
          </p:nvSpPr>
          <p:spPr>
            <a:xfrm>
              <a:off x="806115" y="409483"/>
              <a:ext cx="9628361" cy="817234"/>
            </a:xfrm>
            <a:prstGeom prst="rect">
              <a:avLst/>
            </a:prstGeom>
          </p:spPr>
          <p:txBody>
            <a:bodyPr vert="horz" lIns="91440" tIns="45720" rIns="91440" bIns="4572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4000" dirty="0">
                  <a:solidFill>
                    <a:schemeClr val="accent6"/>
                  </a:solidFill>
                </a:rPr>
                <a:t>Key Governance Roles</a:t>
              </a:r>
            </a:p>
          </p:txBody>
        </p:sp>
        <p:sp>
          <p:nvSpPr>
            <p:cNvPr id="6" name="Google Shape;268;p6">
              <a:extLst>
                <a:ext uri="{FF2B5EF4-FFF2-40B4-BE49-F238E27FC236}">
                  <a16:creationId xmlns:a16="http://schemas.microsoft.com/office/drawing/2014/main" id="{0114CF45-656F-8697-2D51-8C80BEA621C0}"/>
                </a:ext>
              </a:extLst>
            </p:cNvPr>
            <p:cNvSpPr/>
            <p:nvPr/>
          </p:nvSpPr>
          <p:spPr>
            <a:xfrm>
              <a:off x="888886" y="1690688"/>
              <a:ext cx="2978221" cy="4055943"/>
            </a:xfrm>
            <a:prstGeom prst="rect">
              <a:avLst/>
            </a:prstGeom>
            <a:solidFill>
              <a:srgbClr val="7FB793"/>
            </a:solidFill>
            <a:ln w="15875" cap="rnd" cmpd="sng">
              <a:solidFill>
                <a:srgbClr val="351B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Governance setup role(s) (e.g., platform owner) </a:t>
              </a:r>
              <a:endParaRPr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• Sets up governance committee structure </a:t>
              </a:r>
              <a:endParaRPr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• Coordinates governance decision-making processes </a:t>
              </a:r>
              <a:endParaRPr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• Documents and updates governance policy and process </a:t>
              </a:r>
              <a:endParaRPr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• Collaborates with enterprise process functions</a:t>
              </a:r>
              <a:endParaRPr dirty="0"/>
            </a:p>
          </p:txBody>
        </p:sp>
        <p:sp>
          <p:nvSpPr>
            <p:cNvPr id="7" name="Google Shape;269;p6">
              <a:extLst>
                <a:ext uri="{FF2B5EF4-FFF2-40B4-BE49-F238E27FC236}">
                  <a16:creationId xmlns:a16="http://schemas.microsoft.com/office/drawing/2014/main" id="{22DCA2CE-8F11-FB74-5504-165091DA5A82}"/>
                </a:ext>
              </a:extLst>
            </p:cNvPr>
            <p:cNvSpPr/>
            <p:nvPr/>
          </p:nvSpPr>
          <p:spPr>
            <a:xfrm>
              <a:off x="4937117" y="2284683"/>
              <a:ext cx="6021659" cy="39725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  <a:latin typeface="+mj-lt"/>
                  <a:ea typeface="+mj-ea"/>
                  <a:cs typeface="+mj-cs"/>
                  <a:sym typeface="Century Gothic"/>
                </a:rPr>
                <a:t>ServiceNow platform team </a:t>
              </a:r>
              <a:endParaRPr dirty="0">
                <a:solidFill>
                  <a:schemeClr val="accent6"/>
                </a:solidFill>
                <a:latin typeface="+mj-lt"/>
                <a:ea typeface="+mj-ea"/>
                <a:cs typeface="+mj-cs"/>
                <a:sym typeface="Century Gothic"/>
              </a:endParaRPr>
            </a:p>
          </p:txBody>
        </p:sp>
        <p:sp>
          <p:nvSpPr>
            <p:cNvPr id="10" name="Google Shape;270;p6">
              <a:extLst>
                <a:ext uri="{FF2B5EF4-FFF2-40B4-BE49-F238E27FC236}">
                  <a16:creationId xmlns:a16="http://schemas.microsoft.com/office/drawing/2014/main" id="{06F6D221-6281-F732-2219-38F06A50A326}"/>
                </a:ext>
              </a:extLst>
            </p:cNvPr>
            <p:cNvSpPr/>
            <p:nvPr/>
          </p:nvSpPr>
          <p:spPr>
            <a:xfrm>
              <a:off x="4937117" y="2889371"/>
              <a:ext cx="6021659" cy="39725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  <a:latin typeface="+mj-lt"/>
                  <a:ea typeface="+mj-ea"/>
                  <a:cs typeface="+mj-cs"/>
                  <a:sym typeface="Century Gothic"/>
                </a:rPr>
                <a:t>IT/ Domain leaders</a:t>
              </a:r>
              <a:endParaRPr dirty="0">
                <a:solidFill>
                  <a:schemeClr val="accent6"/>
                </a:solidFill>
                <a:latin typeface="+mj-lt"/>
                <a:ea typeface="+mj-ea"/>
                <a:cs typeface="+mj-cs"/>
                <a:sym typeface="Century Gothic"/>
              </a:endParaRPr>
            </a:p>
          </p:txBody>
        </p:sp>
        <p:sp>
          <p:nvSpPr>
            <p:cNvPr id="11" name="Google Shape;271;p6">
              <a:extLst>
                <a:ext uri="{FF2B5EF4-FFF2-40B4-BE49-F238E27FC236}">
                  <a16:creationId xmlns:a16="http://schemas.microsoft.com/office/drawing/2014/main" id="{4ED0C90D-D580-9DED-417E-8CBB71C5750F}"/>
                </a:ext>
              </a:extLst>
            </p:cNvPr>
            <p:cNvSpPr/>
            <p:nvPr/>
          </p:nvSpPr>
          <p:spPr>
            <a:xfrm>
              <a:off x="4969726" y="3487875"/>
              <a:ext cx="6021659" cy="39725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  <a:latin typeface="+mj-lt"/>
                  <a:ea typeface="+mj-ea"/>
                  <a:cs typeface="+mj-cs"/>
                  <a:sym typeface="Century Gothic"/>
                </a:rPr>
                <a:t>Service owners and Process owners</a:t>
              </a:r>
              <a:endParaRPr dirty="0">
                <a:solidFill>
                  <a:schemeClr val="accent6"/>
                </a:solidFill>
                <a:latin typeface="+mj-lt"/>
                <a:ea typeface="+mj-ea"/>
                <a:cs typeface="+mj-cs"/>
                <a:sym typeface="Century Gothic"/>
              </a:endParaRPr>
            </a:p>
          </p:txBody>
        </p:sp>
        <p:sp>
          <p:nvSpPr>
            <p:cNvPr id="12" name="Google Shape;272;p6">
              <a:extLst>
                <a:ext uri="{FF2B5EF4-FFF2-40B4-BE49-F238E27FC236}">
                  <a16:creationId xmlns:a16="http://schemas.microsoft.com/office/drawing/2014/main" id="{266EC74C-3D91-52F9-E5A9-0C7FFAE6E324}"/>
                </a:ext>
              </a:extLst>
            </p:cNvPr>
            <p:cNvSpPr/>
            <p:nvPr/>
          </p:nvSpPr>
          <p:spPr>
            <a:xfrm>
              <a:off x="4969726" y="4096547"/>
              <a:ext cx="6021659" cy="387681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  <a:latin typeface="+mj-lt"/>
                  <a:ea typeface="+mj-ea"/>
                  <a:cs typeface="+mj-cs"/>
                  <a:sym typeface="Century Gothic"/>
                </a:rPr>
                <a:t>Program managers (PMO)</a:t>
              </a:r>
              <a:endParaRPr dirty="0">
                <a:solidFill>
                  <a:schemeClr val="accent6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Google Shape;273;p6">
              <a:extLst>
                <a:ext uri="{FF2B5EF4-FFF2-40B4-BE49-F238E27FC236}">
                  <a16:creationId xmlns:a16="http://schemas.microsoft.com/office/drawing/2014/main" id="{C656B605-BF65-34A9-F5D2-0AF4AAF8A0B6}"/>
                </a:ext>
              </a:extLst>
            </p:cNvPr>
            <p:cNvSpPr/>
            <p:nvPr/>
          </p:nvSpPr>
          <p:spPr>
            <a:xfrm>
              <a:off x="4982905" y="4770057"/>
              <a:ext cx="6021659" cy="39725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  <a:latin typeface="+mj-lt"/>
                  <a:ea typeface="+mj-ea"/>
                  <a:cs typeface="+mj-cs"/>
                  <a:sym typeface="Century Gothic"/>
                </a:rPr>
                <a:t>Enterprise architects or platform architects</a:t>
              </a:r>
              <a:endParaRPr dirty="0">
                <a:solidFill>
                  <a:schemeClr val="accent6"/>
                </a:solidFill>
                <a:latin typeface="+mj-lt"/>
                <a:ea typeface="+mj-ea"/>
                <a:cs typeface="+mj-cs"/>
                <a:sym typeface="Century Gothic"/>
              </a:endParaRPr>
            </a:p>
          </p:txBody>
        </p:sp>
        <p:sp>
          <p:nvSpPr>
            <p:cNvPr id="14" name="Google Shape;274;p6">
              <a:extLst>
                <a:ext uri="{FF2B5EF4-FFF2-40B4-BE49-F238E27FC236}">
                  <a16:creationId xmlns:a16="http://schemas.microsoft.com/office/drawing/2014/main" id="{77B1B8E5-3FFD-D282-DBF5-70D92C97D7A0}"/>
                </a:ext>
              </a:extLst>
            </p:cNvPr>
            <p:cNvSpPr/>
            <p:nvPr/>
          </p:nvSpPr>
          <p:spPr>
            <a:xfrm>
              <a:off x="4917687" y="1690688"/>
              <a:ext cx="6021659" cy="39725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accent6"/>
                  </a:solidFill>
                  <a:latin typeface="+mj-lt"/>
                  <a:ea typeface="+mj-ea"/>
                  <a:cs typeface="+mj-cs"/>
                  <a:sym typeface="Century Gothic"/>
                </a:rPr>
                <a:t>ServiceNow executive sponsor</a:t>
              </a:r>
              <a:endParaRPr dirty="0">
                <a:solidFill>
                  <a:schemeClr val="accent6"/>
                </a:solidFill>
                <a:latin typeface="+mj-lt"/>
                <a:ea typeface="+mj-ea"/>
                <a:cs typeface="+mj-cs"/>
              </a:endParaRPr>
            </a:p>
          </p:txBody>
        </p:sp>
        <p:cxnSp>
          <p:nvCxnSpPr>
            <p:cNvPr id="21" name="Google Shape;280;p6">
              <a:extLst>
                <a:ext uri="{FF2B5EF4-FFF2-40B4-BE49-F238E27FC236}">
                  <a16:creationId xmlns:a16="http://schemas.microsoft.com/office/drawing/2014/main" id="{01A62274-A931-63FB-8F19-AD5A463E1045}"/>
                </a:ext>
              </a:extLst>
            </p:cNvPr>
            <p:cNvCxnSpPr>
              <a:stCxn id="6" idx="3"/>
              <a:endCxn id="13" idx="1"/>
            </p:cNvCxnSpPr>
            <p:nvPr/>
          </p:nvCxnSpPr>
          <p:spPr>
            <a:xfrm>
              <a:off x="3867107" y="3718660"/>
              <a:ext cx="1115798" cy="1250025"/>
            </a:xfrm>
            <a:prstGeom prst="straightConnector1">
              <a:avLst/>
            </a:prstGeom>
            <a:noFill/>
            <a:ln w="15875" cap="rnd" cmpd="sng">
              <a:solidFill>
                <a:srgbClr val="92D05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2" name="Google Shape;281;p6">
              <a:extLst>
                <a:ext uri="{FF2B5EF4-FFF2-40B4-BE49-F238E27FC236}">
                  <a16:creationId xmlns:a16="http://schemas.microsoft.com/office/drawing/2014/main" id="{3A835A31-1DB7-A68F-D4FE-E4C34C09A780}"/>
                </a:ext>
              </a:extLst>
            </p:cNvPr>
            <p:cNvSpPr/>
            <p:nvPr/>
          </p:nvSpPr>
          <p:spPr>
            <a:xfrm>
              <a:off x="4982905" y="5349376"/>
              <a:ext cx="6021659" cy="39725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  <a:latin typeface="+mj-lt"/>
                  <a:ea typeface="+mj-ea"/>
                  <a:cs typeface="+mj-cs"/>
                  <a:sym typeface="Century Gothic"/>
                </a:rPr>
                <a:t>Information security team</a:t>
              </a:r>
              <a:endParaRPr dirty="0">
                <a:solidFill>
                  <a:schemeClr val="accent6"/>
                </a:solidFill>
                <a:latin typeface="+mj-lt"/>
                <a:ea typeface="+mj-ea"/>
                <a:cs typeface="+mj-cs"/>
                <a:sym typeface="Century Gothic"/>
              </a:endParaRPr>
            </a:p>
          </p:txBody>
        </p:sp>
        <p:cxnSp>
          <p:nvCxnSpPr>
            <p:cNvPr id="23" name="Google Shape;282;p6">
              <a:extLst>
                <a:ext uri="{FF2B5EF4-FFF2-40B4-BE49-F238E27FC236}">
                  <a16:creationId xmlns:a16="http://schemas.microsoft.com/office/drawing/2014/main" id="{61F3B03D-73A3-D4CE-361B-BE41CAD8FB4E}"/>
                </a:ext>
              </a:extLst>
            </p:cNvPr>
            <p:cNvCxnSpPr>
              <a:stCxn id="6" idx="3"/>
              <a:endCxn id="22" idx="1"/>
            </p:cNvCxnSpPr>
            <p:nvPr/>
          </p:nvCxnSpPr>
          <p:spPr>
            <a:xfrm>
              <a:off x="3867107" y="3718660"/>
              <a:ext cx="1115798" cy="1829344"/>
            </a:xfrm>
            <a:prstGeom prst="straightConnector1">
              <a:avLst/>
            </a:prstGeom>
            <a:noFill/>
            <a:ln w="15875" cap="rnd" cmpd="sng">
              <a:solidFill>
                <a:srgbClr val="92D05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601578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4B393A-2894-6F4B-8DAC-A8FA390F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9D9D032-333E-4966-1137-F645709C0113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C876B796-2D60-6341-1972-5B93FDD6ACFD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4737F3-15CB-980B-762A-7F63883F5FB9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9F3B757-4952-5693-91A2-C8F22A99C699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49231E6-9458-D555-A932-A39F112D5D8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73629" y="2922745"/>
            <a:ext cx="2587718" cy="2880000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b="1" dirty="0"/>
              <a:t>Decision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dirty="0"/>
              <a:t>Standardize configuration vs. customization to align with long-term scalability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r>
              <a:rPr lang="en-US" b="1" dirty="0"/>
              <a:t>Timing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dirty="0"/>
              <a:t>Before major implementations begin (pre-ITSM rollout)</a:t>
            </a:r>
            <a:endParaRPr lang="en-US" sz="1400" b="1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9F4691B-C28F-827A-94C0-DDC1A3C9ECC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801347" y="2919206"/>
            <a:ext cx="2588400" cy="2880000"/>
          </a:xfrm>
          <a:ln>
            <a:solidFill>
              <a:srgbClr val="7FB793"/>
            </a:solidFill>
          </a:ln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b="1" dirty="0"/>
              <a:t>Technical Governance Board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dirty="0"/>
              <a:t>(Enterprise Architect, Platform Owner, IT Operations)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400" b="1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b="1" dirty="0"/>
              <a:t>Business Leaders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dirty="0"/>
              <a:t>(Risk &amp; Compliance, Service Owners)</a:t>
            </a:r>
            <a:endParaRPr lang="en-US" sz="1400" b="1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A53045C4-991B-1383-D71F-16BB0D4E060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629971" y="2863871"/>
            <a:ext cx="2588400" cy="2880000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sz="1400" dirty="0"/>
              <a:t>Governance Board establishes</a:t>
            </a:r>
          </a:p>
          <a:p>
            <a:r>
              <a:rPr lang="en-US" sz="1400" dirty="0"/>
              <a:t>guardrails</a:t>
            </a: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endParaRPr lang="en-US" dirty="0"/>
          </a:p>
          <a:p>
            <a:r>
              <a:rPr lang="en-US" sz="1400" dirty="0"/>
              <a:t>Approval process is</a:t>
            </a:r>
          </a:p>
          <a:p>
            <a:r>
              <a:rPr lang="en-US" sz="1400" dirty="0"/>
              <a:t>implemented</a:t>
            </a: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8B7A28B-F198-BE48-83EC-8111F1E17B4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73629" y="2060065"/>
            <a:ext cx="2587718" cy="866219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sz="2800" dirty="0"/>
              <a:t>What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DF8EAA75-665D-3FE9-B80F-76062EF62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Drive your transformation vision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C56FA43-D942-5ADC-37D6-32668DFB3B5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801800" y="2056526"/>
            <a:ext cx="2588400" cy="866219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sz="2800" dirty="0"/>
              <a:t>Who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40DCFA62-E55F-0265-AC86-57C67F75FBE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629067" y="2001192"/>
            <a:ext cx="2588400" cy="866219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sz="2800" dirty="0"/>
              <a:t>How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D093FA-320C-1A66-558B-1BB7E469CB04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>
          <a:xfrm>
            <a:off x="6942226" y="6310312"/>
            <a:ext cx="4114800" cy="365125"/>
          </a:xfrm>
          <a:noFill/>
        </p:spPr>
        <p:txBody>
          <a:bodyPr vert="horz" lIns="91440" tIns="45720" rIns="91440" bIns="45720" rtlCol="0" anchor="ctr"/>
          <a:lstStyle/>
          <a:p>
            <a:r>
              <a:rPr lang="en-IN" sz="800" dirty="0"/>
              <a:t>Confidential | @2025 </a:t>
            </a:r>
            <a:r>
              <a:rPr lang="en-IN" sz="800" dirty="0" err="1"/>
              <a:t>ServiceWow</a:t>
            </a:r>
            <a:r>
              <a:rPr lang="en-IN" sz="800" dirty="0"/>
              <a:t>. All Rights Reserved</a:t>
            </a:r>
          </a:p>
        </p:txBody>
      </p:sp>
      <p:sp>
        <p:nvSpPr>
          <p:cNvPr id="2" name="Action Button: Go Home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978E455-73CD-11FA-CE8E-65A8BC9B54A3}"/>
              </a:ext>
            </a:extLst>
          </p:cNvPr>
          <p:cNvSpPr/>
          <p:nvPr/>
        </p:nvSpPr>
        <p:spPr>
          <a:xfrm>
            <a:off x="11333747" y="6316863"/>
            <a:ext cx="459439" cy="365125"/>
          </a:xfrm>
          <a:prstGeom prst="actionButtonHome">
            <a:avLst/>
          </a:prstGeom>
          <a:solidFill>
            <a:srgbClr val="7FB7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5653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4B393A-2894-6F4B-8DAC-A8FA390F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9D9D032-333E-4966-1137-F645709C0113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C876B796-2D60-6341-1972-5B93FDD6ACFD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4737F3-15CB-980B-762A-7F63883F5FB9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9F3B757-4952-5693-91A2-C8F22A99C699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49231E6-9458-D555-A932-A39F112D5D8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73629" y="2922744"/>
            <a:ext cx="2587718" cy="2880000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b="1" dirty="0"/>
              <a:t>Decision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dirty="0"/>
              <a:t>Implement ITSM (incident, problem, change) first, then move to ITOM (discovery, automation)</a:t>
            </a: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r>
              <a:rPr lang="en-US" b="1" dirty="0"/>
              <a:t>Timing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dirty="0"/>
              <a:t>During the roadmap planning phase (before implementation sprints begin)</a:t>
            </a:r>
            <a:endParaRPr lang="en-US" sz="1400" b="1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9F4691B-C28F-827A-94C0-DDC1A3C9ECC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801347" y="2919206"/>
            <a:ext cx="2588400" cy="2880000"/>
          </a:xfrm>
          <a:ln>
            <a:solidFill>
              <a:srgbClr val="7FB793"/>
            </a:solidFill>
          </a:ln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b="1" dirty="0"/>
              <a:t>Enterprise Architect - (Li Na) </a:t>
            </a:r>
            <a:r>
              <a:rPr lang="en-US" sz="1400" dirty="0"/>
              <a:t>ensures the phased approach aligns with architecture principles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b="1" dirty="0"/>
              <a:t>ServiceNow Product Owner  - (Albert Wan) </a:t>
            </a:r>
            <a:r>
              <a:rPr lang="en-US" sz="1400" dirty="0"/>
              <a:t>prioritizes based on business urgency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400" b="1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b="1" dirty="0"/>
              <a:t>ITSM &amp; ITOM Process Owners </a:t>
            </a:r>
            <a:r>
              <a:rPr lang="en-US" sz="1400" dirty="0"/>
              <a:t>validate dependencies and readiness</a:t>
            </a:r>
            <a:endParaRPr lang="en-US" sz="1400" b="1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400" b="1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endParaRPr lang="en-US" sz="1400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A53045C4-991B-1383-D71F-16BB0D4E060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629971" y="2863871"/>
            <a:ext cx="2588400" cy="2880000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sz="1400" dirty="0"/>
              <a:t>Governance Board reviews dependencies</a:t>
            </a: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endParaRPr lang="en-US" sz="1400" dirty="0"/>
          </a:p>
          <a:p>
            <a:r>
              <a:rPr lang="en-US" sz="1400" dirty="0"/>
              <a:t>Risk assessment &amp; backlog prioritization</a:t>
            </a: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8B7A28B-F198-BE48-83EC-8111F1E17B4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73629" y="2060065"/>
            <a:ext cx="2587718" cy="866219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sz="2800" dirty="0"/>
              <a:t>What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DF8EAA75-665D-3FE9-B80F-76062EF62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4400" b="1" kern="1200" dirty="0">
                <a:solidFill>
                  <a:srgbClr val="000000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Deliver the Right Work at the Right Time</a:t>
            </a:r>
            <a:endParaRPr lang="en-US" b="1" dirty="0">
              <a:effectLst/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C56FA43-D942-5ADC-37D6-32668DFB3B5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801800" y="2056526"/>
            <a:ext cx="2588400" cy="866219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sz="2800" dirty="0"/>
              <a:t>Who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40DCFA62-E55F-0265-AC86-57C67F75FBE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629067" y="2001192"/>
            <a:ext cx="2588400" cy="866219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sz="2800" dirty="0"/>
              <a:t>How</a:t>
            </a:r>
          </a:p>
        </p:txBody>
      </p:sp>
      <p:sp>
        <p:nvSpPr>
          <p:cNvPr id="2" name="Action Button: Go Home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978E455-73CD-11FA-CE8E-65A8BC9B54A3}"/>
              </a:ext>
            </a:extLst>
          </p:cNvPr>
          <p:cNvSpPr/>
          <p:nvPr/>
        </p:nvSpPr>
        <p:spPr>
          <a:xfrm>
            <a:off x="11333747" y="6316863"/>
            <a:ext cx="459439" cy="365125"/>
          </a:xfrm>
          <a:prstGeom prst="actionButtonHome">
            <a:avLst/>
          </a:prstGeom>
          <a:solidFill>
            <a:srgbClr val="7FB7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F9EAB2B4-56DF-440B-0AF8-14169F88172C}"/>
              </a:ext>
            </a:extLst>
          </p:cNvPr>
          <p:cNvSpPr txBox="1">
            <a:spLocks/>
          </p:cNvSpPr>
          <p:nvPr/>
        </p:nvSpPr>
        <p:spPr>
          <a:xfrm>
            <a:off x="6942226" y="6310312"/>
            <a:ext cx="41148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800"/>
              <a:t>Confidential | @2025 ServiceWow. All Rights Reserved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408948290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4B393A-2894-6F4B-8DAC-A8FA390F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9D9D032-333E-4966-1137-F645709C0113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C876B796-2D60-6341-1972-5B93FDD6ACFD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4737F3-15CB-980B-762A-7F63883F5FB9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9F3B757-4952-5693-91A2-C8F22A99C699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49231E6-9458-D555-A932-A39F112D5D8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73629" y="2922744"/>
            <a:ext cx="2587718" cy="2880000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b="1" dirty="0"/>
              <a:t>Decision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dirty="0"/>
              <a:t>Define instance strategy  (Dev, Test, UAT, Production)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dirty="0"/>
              <a:t>and control who can modify production</a:t>
            </a: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r>
              <a:rPr lang="en-US" b="1" dirty="0"/>
              <a:t>Timing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dirty="0"/>
              <a:t>Before development begins  and continuously enforced</a:t>
            </a: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9F4691B-C28F-827A-94C0-DDC1A3C9ECC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801347" y="2919206"/>
            <a:ext cx="2588400" cy="2880000"/>
          </a:xfrm>
          <a:ln>
            <a:solidFill>
              <a:srgbClr val="7FB793"/>
            </a:solidFill>
          </a:ln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b="1" dirty="0"/>
              <a:t>Platform Owner (Albert Wan) </a:t>
            </a:r>
            <a:r>
              <a:rPr lang="en-US" sz="1400" dirty="0"/>
              <a:t>owns the instance management process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b="1" dirty="0"/>
              <a:t>Change Advisory Board (CAB) </a:t>
            </a:r>
            <a:r>
              <a:rPr lang="en-US" sz="1400" dirty="0"/>
              <a:t>approves production changes</a:t>
            </a: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b="1" dirty="0"/>
              <a:t>Security &amp; Compliance Teams </a:t>
            </a:r>
            <a:r>
              <a:rPr lang="en-US" sz="1400" dirty="0"/>
              <a:t>ensure changes comply with financial regulations</a:t>
            </a: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A53045C4-991B-1383-D71F-16BB0D4E060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629971" y="2863871"/>
            <a:ext cx="2588400" cy="2880000"/>
          </a:xfrm>
          <a:ln>
            <a:solidFill>
              <a:srgbClr val="7FB793"/>
            </a:solidFill>
          </a:ln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400" dirty="0"/>
              <a:t>Strict governance policy applied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r>
              <a:rPr lang="en-US" sz="1400" dirty="0"/>
              <a:t>CAB reviews major changes to ensure they follow best practices</a:t>
            </a: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400" dirty="0">
              <a:solidFill>
                <a:srgbClr val="80B894"/>
              </a:solidFill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8B7A28B-F198-BE48-83EC-8111F1E17B4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73629" y="2060065"/>
            <a:ext cx="2587718" cy="866219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sz="2800" dirty="0"/>
              <a:t>What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DF8EAA75-665D-3FE9-B80F-76062EF62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b="1" dirty="0"/>
              <a:t>Maintain the Integrity of Your ServiceNow  Implementation</a:t>
            </a:r>
            <a:endParaRPr lang="en-US" sz="4400" b="1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C56FA43-D942-5ADC-37D6-32668DFB3B5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801800" y="2056526"/>
            <a:ext cx="2588400" cy="866219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sz="2800" dirty="0"/>
              <a:t>Who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40DCFA62-E55F-0265-AC86-57C67F75FBE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629067" y="2001192"/>
            <a:ext cx="2588400" cy="866219"/>
          </a:xfrm>
          <a:ln>
            <a:solidFill>
              <a:srgbClr val="7FB793"/>
            </a:solidFill>
          </a:ln>
        </p:spPr>
        <p:txBody>
          <a:bodyPr/>
          <a:lstStyle/>
          <a:p>
            <a:r>
              <a:rPr lang="en-US" sz="2800" dirty="0"/>
              <a:t>How</a:t>
            </a:r>
          </a:p>
        </p:txBody>
      </p:sp>
      <p:sp>
        <p:nvSpPr>
          <p:cNvPr id="2" name="Action Button: Go Home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978E455-73CD-11FA-CE8E-65A8BC9B54A3}"/>
              </a:ext>
            </a:extLst>
          </p:cNvPr>
          <p:cNvSpPr/>
          <p:nvPr/>
        </p:nvSpPr>
        <p:spPr>
          <a:xfrm>
            <a:off x="11333747" y="6316863"/>
            <a:ext cx="459439" cy="365125"/>
          </a:xfrm>
          <a:prstGeom prst="actionButtonHome">
            <a:avLst/>
          </a:prstGeom>
          <a:solidFill>
            <a:srgbClr val="7FB7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75AE3FB1-B8AE-4675-83C1-C175B4ED9B23}"/>
              </a:ext>
            </a:extLst>
          </p:cNvPr>
          <p:cNvSpPr txBox="1">
            <a:spLocks/>
          </p:cNvSpPr>
          <p:nvPr/>
        </p:nvSpPr>
        <p:spPr>
          <a:xfrm>
            <a:off x="6942226" y="6310312"/>
            <a:ext cx="41148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800"/>
              <a:t>Confidential | @2025 ServiceWow. All Rights Reserved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520629316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7759-2438-B1E2-22EA-40D6F9D10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25">
            <a:extLst>
              <a:ext uri="{FF2B5EF4-FFF2-40B4-BE49-F238E27FC236}">
                <a16:creationId xmlns:a16="http://schemas.microsoft.com/office/drawing/2014/main" id="{E678CB1B-EC93-688C-4C9B-7A823AE80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595" y="3181679"/>
            <a:ext cx="4058923" cy="2313006"/>
          </a:xfrm>
          <a:prstGeom prst="rect">
            <a:avLst/>
          </a:prstGeom>
          <a:ln>
            <a:solidFill>
              <a:srgbClr val="7FB793"/>
            </a:solidFill>
          </a:ln>
        </p:spPr>
      </p:pic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65636BA-836E-2FD7-DE8E-1FE8944D7DBA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7C27113-0201-381D-94F7-6892AEC3BC88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BFD3977-F42F-8132-77A6-566E39C99CEC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F02C421-547C-65EB-D6DB-B298F2242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408145-C1BA-2CD5-C786-A4FC868EC572}"/>
              </a:ext>
            </a:extLst>
          </p:cNvPr>
          <p:cNvSpPr txBox="1">
            <a:spLocks/>
          </p:cNvSpPr>
          <p:nvPr/>
        </p:nvSpPr>
        <p:spPr>
          <a:xfrm>
            <a:off x="806115" y="203435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Agile Framework: Hybrid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8CBB8D-0B63-097C-C1C9-C56BCA84C9A0}"/>
              </a:ext>
            </a:extLst>
          </p:cNvPr>
          <p:cNvSpPr/>
          <p:nvPr/>
        </p:nvSpPr>
        <p:spPr>
          <a:xfrm>
            <a:off x="1115972" y="1664329"/>
            <a:ext cx="1903631" cy="400029"/>
          </a:xfrm>
          <a:prstGeom prst="rect">
            <a:avLst/>
          </a:prstGeom>
          <a:ln>
            <a:solidFill>
              <a:srgbClr val="7FB7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56F8D6-B11E-D92C-D282-4BBA2FE51752}"/>
              </a:ext>
            </a:extLst>
          </p:cNvPr>
          <p:cNvSpPr/>
          <p:nvPr/>
        </p:nvSpPr>
        <p:spPr>
          <a:xfrm>
            <a:off x="1115969" y="2659210"/>
            <a:ext cx="1903631" cy="771493"/>
          </a:xfrm>
          <a:prstGeom prst="rect">
            <a:avLst/>
          </a:prstGeom>
          <a:ln>
            <a:solidFill>
              <a:srgbClr val="7FB7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Gather Requirements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013BB2-6CBF-3A4A-075A-2505EA33000A}"/>
              </a:ext>
            </a:extLst>
          </p:cNvPr>
          <p:cNvSpPr/>
          <p:nvPr/>
        </p:nvSpPr>
        <p:spPr>
          <a:xfrm>
            <a:off x="1115968" y="4025556"/>
            <a:ext cx="1903631" cy="771493"/>
          </a:xfrm>
          <a:prstGeom prst="rect">
            <a:avLst/>
          </a:prstGeom>
          <a:ln>
            <a:solidFill>
              <a:srgbClr val="7FB7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General Conception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C926B1-9085-7C60-075B-09BF3F7C765B}"/>
              </a:ext>
            </a:extLst>
          </p:cNvPr>
          <p:cNvSpPr/>
          <p:nvPr/>
        </p:nvSpPr>
        <p:spPr>
          <a:xfrm>
            <a:off x="1115970" y="5494685"/>
            <a:ext cx="1903630" cy="462519"/>
          </a:xfrm>
          <a:prstGeom prst="rect">
            <a:avLst/>
          </a:prstGeom>
          <a:ln>
            <a:solidFill>
              <a:srgbClr val="7FB7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Global Plan</a:t>
            </a:r>
          </a:p>
        </p:txBody>
      </p:sp>
      <p:sp>
        <p:nvSpPr>
          <p:cNvPr id="12" name="ZoneTexte 23">
            <a:extLst>
              <a:ext uri="{FF2B5EF4-FFF2-40B4-BE49-F238E27FC236}">
                <a16:creationId xmlns:a16="http://schemas.microsoft.com/office/drawing/2014/main" id="{D39BCF94-8970-ED3C-32B6-D9463227EF74}"/>
              </a:ext>
            </a:extLst>
          </p:cNvPr>
          <p:cNvSpPr txBox="1"/>
          <p:nvPr/>
        </p:nvSpPr>
        <p:spPr>
          <a:xfrm>
            <a:off x="3722013" y="1056068"/>
            <a:ext cx="4058923" cy="348660"/>
          </a:xfrm>
          <a:prstGeom prst="rect">
            <a:avLst/>
          </a:prstGeom>
          <a:solidFill>
            <a:srgbClr val="7FB793"/>
          </a:solidFill>
          <a:ln>
            <a:solidFill>
              <a:srgbClr val="7FB793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b="0" dirty="0"/>
              <a:t>Agile Scrum</a:t>
            </a:r>
          </a:p>
        </p:txBody>
      </p:sp>
      <p:sp>
        <p:nvSpPr>
          <p:cNvPr id="13" name="ZoneTexte 55">
            <a:extLst>
              <a:ext uri="{FF2B5EF4-FFF2-40B4-BE49-F238E27FC236}">
                <a16:creationId xmlns:a16="http://schemas.microsoft.com/office/drawing/2014/main" id="{7BCAE33C-5CAC-B188-E3EE-D05A233982DA}"/>
              </a:ext>
            </a:extLst>
          </p:cNvPr>
          <p:cNvSpPr txBox="1"/>
          <p:nvPr/>
        </p:nvSpPr>
        <p:spPr>
          <a:xfrm>
            <a:off x="7779518" y="1059470"/>
            <a:ext cx="4058923" cy="348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b="1"/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b="0" dirty="0"/>
              <a:t>Waterfall</a:t>
            </a:r>
          </a:p>
        </p:txBody>
      </p:sp>
      <p:sp>
        <p:nvSpPr>
          <p:cNvPr id="14" name="ZoneTexte 67">
            <a:extLst>
              <a:ext uri="{FF2B5EF4-FFF2-40B4-BE49-F238E27FC236}">
                <a16:creationId xmlns:a16="http://schemas.microsoft.com/office/drawing/2014/main" id="{FAF56D0E-B5D3-81CD-930D-9600C99A0A41}"/>
              </a:ext>
            </a:extLst>
          </p:cNvPr>
          <p:cNvSpPr txBox="1"/>
          <p:nvPr/>
        </p:nvSpPr>
        <p:spPr>
          <a:xfrm>
            <a:off x="413562" y="1059470"/>
            <a:ext cx="3308452" cy="348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dirty="0"/>
              <a:t>Waterfall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732E8A-43A9-F41B-E440-35A3323664E9}"/>
              </a:ext>
            </a:extLst>
          </p:cNvPr>
          <p:cNvCxnSpPr>
            <a:stCxn id="12" idx="1"/>
          </p:cNvCxnSpPr>
          <p:nvPr/>
        </p:nvCxnSpPr>
        <p:spPr>
          <a:xfrm>
            <a:off x="3722013" y="1230398"/>
            <a:ext cx="0" cy="5405454"/>
          </a:xfrm>
          <a:prstGeom prst="line">
            <a:avLst/>
          </a:prstGeom>
          <a:ln w="19050" cap="flat" cmpd="sng" algn="ctr">
            <a:solidFill>
              <a:srgbClr val="7FB79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0D4501-DFFA-E4A0-DDB8-F9485902514A}"/>
              </a:ext>
            </a:extLst>
          </p:cNvPr>
          <p:cNvCxnSpPr/>
          <p:nvPr/>
        </p:nvCxnSpPr>
        <p:spPr>
          <a:xfrm>
            <a:off x="7779518" y="1269982"/>
            <a:ext cx="0" cy="5405454"/>
          </a:xfrm>
          <a:prstGeom prst="line">
            <a:avLst/>
          </a:prstGeom>
          <a:ln w="19050" cap="flat" cmpd="sng" algn="ctr">
            <a:solidFill>
              <a:srgbClr val="7FB79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A4ABE7-8EF0-9A92-CB3A-AAB8B4519CD3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2067785" y="2064357"/>
            <a:ext cx="3" cy="594853"/>
          </a:xfrm>
          <a:prstGeom prst="straightConnector1">
            <a:avLst/>
          </a:prstGeom>
          <a:ln w="38100">
            <a:solidFill>
              <a:srgbClr val="7FB793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B31835-BA5D-2ED6-21AC-1F01993CB5DF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2067784" y="3430703"/>
            <a:ext cx="1" cy="594853"/>
          </a:xfrm>
          <a:prstGeom prst="straightConnector1">
            <a:avLst/>
          </a:prstGeom>
          <a:ln w="38100">
            <a:solidFill>
              <a:srgbClr val="7FB793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36A700-9F30-2DD5-4FC3-42217B7018B3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067784" y="4797049"/>
            <a:ext cx="1" cy="697636"/>
          </a:xfrm>
          <a:prstGeom prst="straightConnector1">
            <a:avLst/>
          </a:prstGeom>
          <a:ln w="38100">
            <a:solidFill>
              <a:srgbClr val="7FB793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Connector: Elbow 35">
            <a:extLst>
              <a:ext uri="{FF2B5EF4-FFF2-40B4-BE49-F238E27FC236}">
                <a16:creationId xmlns:a16="http://schemas.microsoft.com/office/drawing/2014/main" id="{1AAD73B6-81EE-5780-63E3-E4FE44882B11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 flipV="1">
            <a:off x="3019600" y="4338182"/>
            <a:ext cx="700995" cy="1387763"/>
          </a:xfrm>
          <a:prstGeom prst="bentConnector3">
            <a:avLst>
              <a:gd name="adj1" fmla="val 50000"/>
            </a:avLst>
          </a:prstGeom>
          <a:ln w="38100">
            <a:solidFill>
              <a:srgbClr val="7FB793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34F7E8A-7D8C-CA6B-E214-5CAC76C4E5DD}"/>
              </a:ext>
            </a:extLst>
          </p:cNvPr>
          <p:cNvSpPr/>
          <p:nvPr/>
        </p:nvSpPr>
        <p:spPr>
          <a:xfrm>
            <a:off x="8888132" y="2526032"/>
            <a:ext cx="1903631" cy="400029"/>
          </a:xfrm>
          <a:prstGeom prst="rect">
            <a:avLst/>
          </a:prstGeom>
          <a:ln>
            <a:solidFill>
              <a:srgbClr val="7FB7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UAT Instance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A45C54-A938-8517-BD54-D45DD8460EE4}"/>
              </a:ext>
            </a:extLst>
          </p:cNvPr>
          <p:cNvSpPr/>
          <p:nvPr/>
        </p:nvSpPr>
        <p:spPr>
          <a:xfrm>
            <a:off x="8848369" y="3462496"/>
            <a:ext cx="1983158" cy="542352"/>
          </a:xfrm>
          <a:prstGeom prst="rect">
            <a:avLst/>
          </a:prstGeom>
          <a:ln>
            <a:solidFill>
              <a:srgbClr val="7FB7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Production Instance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D9ADF3-3E4D-87C8-66E0-82DE54F7172F}"/>
              </a:ext>
            </a:extLst>
          </p:cNvPr>
          <p:cNvSpPr/>
          <p:nvPr/>
        </p:nvSpPr>
        <p:spPr>
          <a:xfrm>
            <a:off x="8848369" y="4511529"/>
            <a:ext cx="1983158" cy="555248"/>
          </a:xfrm>
          <a:prstGeom prst="rect">
            <a:avLst/>
          </a:prstGeom>
          <a:ln>
            <a:solidFill>
              <a:srgbClr val="7FB7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Maintenance Support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6A9B743-A9EF-37B4-A9D6-570CEB511AB8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9839948" y="2926061"/>
            <a:ext cx="0" cy="536435"/>
          </a:xfrm>
          <a:prstGeom prst="straightConnector1">
            <a:avLst/>
          </a:prstGeom>
          <a:ln w="38100">
            <a:solidFill>
              <a:srgbClr val="7FB793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684AC4F-AC16-05CD-58BB-9F6FB576A6B6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9839948" y="4004849"/>
            <a:ext cx="0" cy="506680"/>
          </a:xfrm>
          <a:prstGeom prst="straightConnector1">
            <a:avLst/>
          </a:prstGeom>
          <a:ln w="38100">
            <a:solidFill>
              <a:srgbClr val="7FB793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Connector: Elbow 58">
            <a:extLst>
              <a:ext uri="{FF2B5EF4-FFF2-40B4-BE49-F238E27FC236}">
                <a16:creationId xmlns:a16="http://schemas.microsoft.com/office/drawing/2014/main" id="{30718DED-C289-297F-3BF6-52BBA5CEAA5F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 flipV="1">
            <a:off x="7779518" y="2726047"/>
            <a:ext cx="1108614" cy="1612135"/>
          </a:xfrm>
          <a:prstGeom prst="bentConnector3">
            <a:avLst/>
          </a:prstGeom>
          <a:ln w="38100">
            <a:solidFill>
              <a:srgbClr val="7FB793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B314E39-F33C-897D-7C86-E1E6856FB472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9839948" y="5066776"/>
            <a:ext cx="0" cy="1172485"/>
          </a:xfrm>
          <a:prstGeom prst="line">
            <a:avLst/>
          </a:prstGeom>
          <a:ln w="38100">
            <a:solidFill>
              <a:srgbClr val="7FB79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A3081B-72C4-C202-392C-D97CFB8E2A43}"/>
              </a:ext>
            </a:extLst>
          </p:cNvPr>
          <p:cNvCxnSpPr>
            <a:cxnSpLocks/>
          </p:cNvCxnSpPr>
          <p:nvPr/>
        </p:nvCxnSpPr>
        <p:spPr>
          <a:xfrm flipH="1" flipV="1">
            <a:off x="4402413" y="6214769"/>
            <a:ext cx="5436000" cy="8511"/>
          </a:xfrm>
          <a:prstGeom prst="line">
            <a:avLst/>
          </a:prstGeom>
          <a:ln w="38100">
            <a:solidFill>
              <a:srgbClr val="7FB79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E1C8DB8-B658-D1AA-76AD-2A071C34428E}"/>
              </a:ext>
            </a:extLst>
          </p:cNvPr>
          <p:cNvCxnSpPr/>
          <p:nvPr/>
        </p:nvCxnSpPr>
        <p:spPr>
          <a:xfrm flipV="1">
            <a:off x="4402413" y="5145867"/>
            <a:ext cx="0" cy="1087522"/>
          </a:xfrm>
          <a:prstGeom prst="straightConnector1">
            <a:avLst/>
          </a:prstGeom>
          <a:ln w="38100">
            <a:solidFill>
              <a:srgbClr val="7FB793"/>
            </a:solidFill>
            <a:prstDash val="dash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194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7DAF72-4A29-288C-9A1E-B499250B3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1C7CAD5-F9BD-A399-3C10-D177CEBB0998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0F94966F-0F41-D3F4-12DF-544F7873CAFF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C294BFB-4B66-9378-68C4-5153CB16B78B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622D2AA-98FD-53D6-3CB7-2C117A6EC9B2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B7F711-CA84-7DCD-6D65-72C8655E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D5CF4F-A620-B135-3170-FB81808AC8A8}"/>
              </a:ext>
            </a:extLst>
          </p:cNvPr>
          <p:cNvSpPr txBox="1">
            <a:spLocks/>
          </p:cNvSpPr>
          <p:nvPr/>
        </p:nvSpPr>
        <p:spPr>
          <a:xfrm>
            <a:off x="806115" y="409483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Instance Structure</a:t>
            </a:r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A81C5691-78F2-0115-CE2E-2500B0EAA3E0}"/>
              </a:ext>
            </a:extLst>
          </p:cNvPr>
          <p:cNvGrpSpPr/>
          <p:nvPr/>
        </p:nvGrpSpPr>
        <p:grpSpPr>
          <a:xfrm>
            <a:off x="1111899" y="1685246"/>
            <a:ext cx="9606989" cy="4163334"/>
            <a:chOff x="1111899" y="1685246"/>
            <a:chExt cx="9606989" cy="4163334"/>
          </a:xfrm>
        </p:grpSpPr>
        <p:cxnSp>
          <p:nvCxnSpPr>
            <p:cNvPr id="6" name="Google Shape;310;p8">
              <a:extLst>
                <a:ext uri="{FF2B5EF4-FFF2-40B4-BE49-F238E27FC236}">
                  <a16:creationId xmlns:a16="http://schemas.microsoft.com/office/drawing/2014/main" id="{C7F828A8-0ECA-2610-25E0-501F3934A647}"/>
                </a:ext>
              </a:extLst>
            </p:cNvPr>
            <p:cNvCxnSpPr>
              <a:cxnSpLocks/>
              <a:stCxn id="32" idx="3"/>
              <a:endCxn id="34" idx="0"/>
            </p:cNvCxnSpPr>
            <p:nvPr/>
          </p:nvCxnSpPr>
          <p:spPr>
            <a:xfrm>
              <a:off x="7899756" y="2272620"/>
              <a:ext cx="2135272" cy="1528513"/>
            </a:xfrm>
            <a:prstGeom prst="straightConnector1">
              <a:avLst/>
            </a:prstGeom>
            <a:noFill/>
            <a:ln w="31750" cap="rnd" cmpd="sng">
              <a:solidFill>
                <a:schemeClr val="accent1"/>
              </a:solidFill>
              <a:prstDash val="solid"/>
              <a:round/>
              <a:headEnd type="none" w="sm" len="sm"/>
              <a:tailEnd type="stealth" w="lg" len="lg"/>
            </a:ln>
          </p:spPr>
        </p:cxn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17DBAE21-B5D4-DD79-4305-6EAF3474E4E5}"/>
                </a:ext>
              </a:extLst>
            </p:cNvPr>
            <p:cNvGrpSpPr/>
            <p:nvPr/>
          </p:nvGrpSpPr>
          <p:grpSpPr>
            <a:xfrm>
              <a:off x="1111899" y="1685246"/>
              <a:ext cx="9606989" cy="4163334"/>
              <a:chOff x="1111899" y="1685246"/>
              <a:chExt cx="9606989" cy="4163334"/>
            </a:xfrm>
          </p:grpSpPr>
          <p:sp>
            <p:nvSpPr>
              <p:cNvPr id="16" name="Google Shape;319;p8">
                <a:extLst>
                  <a:ext uri="{FF2B5EF4-FFF2-40B4-BE49-F238E27FC236}">
                    <a16:creationId xmlns:a16="http://schemas.microsoft.com/office/drawing/2014/main" id="{DCDAC9F8-F862-52F2-481F-A566FDA748D7}"/>
                  </a:ext>
                </a:extLst>
              </p:cNvPr>
              <p:cNvSpPr txBox="1"/>
              <p:nvPr/>
            </p:nvSpPr>
            <p:spPr>
              <a:xfrm>
                <a:off x="4908514" y="1685246"/>
                <a:ext cx="148166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dirty="0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Update Set(s)</a:t>
                </a:r>
                <a:endParaRPr dirty="0"/>
              </a:p>
            </p:txBody>
          </p:sp>
          <p:grpSp>
            <p:nvGrpSpPr>
              <p:cNvPr id="23" name="Google Shape;325;p8">
                <a:extLst>
                  <a:ext uri="{FF2B5EF4-FFF2-40B4-BE49-F238E27FC236}">
                    <a16:creationId xmlns:a16="http://schemas.microsoft.com/office/drawing/2014/main" id="{9DAAEEB0-A9C9-3099-CEED-15FD37F42740}"/>
                  </a:ext>
                </a:extLst>
              </p:cNvPr>
              <p:cNvGrpSpPr/>
              <p:nvPr/>
            </p:nvGrpSpPr>
            <p:grpSpPr>
              <a:xfrm>
                <a:off x="4189616" y="4866572"/>
                <a:ext cx="3372600" cy="982008"/>
                <a:chOff x="4491386" y="5738909"/>
                <a:chExt cx="3372600" cy="982008"/>
              </a:xfrm>
            </p:grpSpPr>
            <p:cxnSp>
              <p:nvCxnSpPr>
                <p:cNvPr id="25" name="Google Shape;326;p8">
                  <a:extLst>
                    <a:ext uri="{FF2B5EF4-FFF2-40B4-BE49-F238E27FC236}">
                      <a16:creationId xmlns:a16="http://schemas.microsoft.com/office/drawing/2014/main" id="{BB484B13-AD72-C9C0-08CA-4AD5BBC8F71B}"/>
                    </a:ext>
                  </a:extLst>
                </p:cNvPr>
                <p:cNvCxnSpPr/>
                <p:nvPr/>
              </p:nvCxnSpPr>
              <p:spPr>
                <a:xfrm rot="10800000">
                  <a:off x="4707179" y="6016069"/>
                  <a:ext cx="969092" cy="0"/>
                </a:xfrm>
                <a:prstGeom prst="straightConnector1">
                  <a:avLst/>
                </a:prstGeom>
                <a:noFill/>
                <a:ln w="31750" cap="flat" cmpd="sng">
                  <a:solidFill>
                    <a:srgbClr val="92D050"/>
                  </a:solidFill>
                  <a:prstDash val="dash"/>
                  <a:round/>
                  <a:headEnd type="none" w="sm" len="sm"/>
                  <a:tailEnd type="triangle" w="lg" len="lg"/>
                </a:ln>
              </p:spPr>
            </p:cxnSp>
            <p:cxnSp>
              <p:nvCxnSpPr>
                <p:cNvPr id="26" name="Google Shape;327;p8">
                  <a:extLst>
                    <a:ext uri="{FF2B5EF4-FFF2-40B4-BE49-F238E27FC236}">
                      <a16:creationId xmlns:a16="http://schemas.microsoft.com/office/drawing/2014/main" id="{172EBD83-C30C-7FFD-87C3-FEAEBF39D404}"/>
                    </a:ext>
                  </a:extLst>
                </p:cNvPr>
                <p:cNvCxnSpPr/>
                <p:nvPr/>
              </p:nvCxnSpPr>
              <p:spPr>
                <a:xfrm>
                  <a:off x="4719038" y="6428530"/>
                  <a:ext cx="957233" cy="0"/>
                </a:xfrm>
                <a:prstGeom prst="straightConnector1">
                  <a:avLst/>
                </a:prstGeom>
                <a:noFill/>
                <a:ln w="317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stealth" w="lg" len="lg"/>
                </a:ln>
              </p:spPr>
            </p:cxnSp>
            <p:sp>
              <p:nvSpPr>
                <p:cNvPr id="27" name="Google Shape;328;p8">
                  <a:extLst>
                    <a:ext uri="{FF2B5EF4-FFF2-40B4-BE49-F238E27FC236}">
                      <a16:creationId xmlns:a16="http://schemas.microsoft.com/office/drawing/2014/main" id="{48CAFB23-6D30-C0C0-48FA-C98DAEE238E4}"/>
                    </a:ext>
                  </a:extLst>
                </p:cNvPr>
                <p:cNvSpPr txBox="1"/>
                <p:nvPr/>
              </p:nvSpPr>
              <p:spPr>
                <a:xfrm>
                  <a:off x="6096000" y="6197697"/>
                  <a:ext cx="1481668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chemeClr val="dk1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Update Set(s) migration</a:t>
                  </a:r>
                  <a:endParaRPr/>
                </a:p>
              </p:txBody>
            </p:sp>
            <p:sp>
              <p:nvSpPr>
                <p:cNvPr id="28" name="Google Shape;329;p8">
                  <a:extLst>
                    <a:ext uri="{FF2B5EF4-FFF2-40B4-BE49-F238E27FC236}">
                      <a16:creationId xmlns:a16="http://schemas.microsoft.com/office/drawing/2014/main" id="{2C67EAE0-1700-FB6B-3389-DC43580EC4E1}"/>
                    </a:ext>
                  </a:extLst>
                </p:cNvPr>
                <p:cNvSpPr txBox="1"/>
                <p:nvPr/>
              </p:nvSpPr>
              <p:spPr>
                <a:xfrm>
                  <a:off x="6160593" y="5891158"/>
                  <a:ext cx="1345474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chemeClr val="dk1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Clone</a:t>
                  </a:r>
                  <a:endParaRPr sz="1200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9" name="Google Shape;330;p8">
                  <a:extLst>
                    <a:ext uri="{FF2B5EF4-FFF2-40B4-BE49-F238E27FC236}">
                      <a16:creationId xmlns:a16="http://schemas.microsoft.com/office/drawing/2014/main" id="{FC6B0136-7C5E-AA46-3DBE-CAD941156CC1}"/>
                    </a:ext>
                  </a:extLst>
                </p:cNvPr>
                <p:cNvSpPr/>
                <p:nvPr/>
              </p:nvSpPr>
              <p:spPr>
                <a:xfrm>
                  <a:off x="4491386" y="5738909"/>
                  <a:ext cx="3372600" cy="981900"/>
                </a:xfrm>
                <a:prstGeom prst="rect">
                  <a:avLst/>
                </a:prstGeom>
                <a:noFill/>
                <a:ln w="15875" cap="rnd" cmpd="sng">
                  <a:solidFill>
                    <a:srgbClr val="16161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cxnSp>
            <p:nvCxnSpPr>
              <p:cNvPr id="2" name="Google Shape;303;p8">
                <a:extLst>
                  <a:ext uri="{FF2B5EF4-FFF2-40B4-BE49-F238E27FC236}">
                    <a16:creationId xmlns:a16="http://schemas.microsoft.com/office/drawing/2014/main" id="{797F7635-A3DF-1BD7-0698-EC39FF3BBE19}"/>
                  </a:ext>
                </a:extLst>
              </p:cNvPr>
              <p:cNvCxnSpPr>
                <a:cxnSpLocks/>
                <a:stCxn id="30" idx="0"/>
                <a:endCxn id="31" idx="1"/>
              </p:cNvCxnSpPr>
              <p:nvPr/>
            </p:nvCxnSpPr>
            <p:spPr>
              <a:xfrm flipV="1">
                <a:off x="1795760" y="2275732"/>
                <a:ext cx="1603181" cy="1525400"/>
              </a:xfrm>
              <a:prstGeom prst="straightConnector1">
                <a:avLst/>
              </a:prstGeom>
              <a:noFill/>
              <a:ln w="317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lg" len="lg"/>
              </a:ln>
            </p:spPr>
          </p:cxnSp>
          <p:cxnSp>
            <p:nvCxnSpPr>
              <p:cNvPr id="3" name="Google Shape;306;p8">
                <a:extLst>
                  <a:ext uri="{FF2B5EF4-FFF2-40B4-BE49-F238E27FC236}">
                    <a16:creationId xmlns:a16="http://schemas.microsoft.com/office/drawing/2014/main" id="{FD5FA011-4D57-A170-0D7F-38D12F462906}"/>
                  </a:ext>
                </a:extLst>
              </p:cNvPr>
              <p:cNvCxnSpPr>
                <a:stCxn id="31" idx="3"/>
                <a:endCxn id="32" idx="1"/>
              </p:cNvCxnSpPr>
              <p:nvPr/>
            </p:nvCxnSpPr>
            <p:spPr>
              <a:xfrm flipV="1">
                <a:off x="4766662" y="2272620"/>
                <a:ext cx="1765373" cy="3112"/>
              </a:xfrm>
              <a:prstGeom prst="straightConnector1">
                <a:avLst/>
              </a:prstGeom>
              <a:noFill/>
              <a:ln w="317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lg" len="lg"/>
              </a:ln>
            </p:spPr>
          </p:cxnSp>
          <p:cxnSp>
            <p:nvCxnSpPr>
              <p:cNvPr id="7" name="Google Shape;312;p8">
                <a:extLst>
                  <a:ext uri="{FF2B5EF4-FFF2-40B4-BE49-F238E27FC236}">
                    <a16:creationId xmlns:a16="http://schemas.microsoft.com/office/drawing/2014/main" id="{D9A22687-652F-0D74-A90E-1841FAF99EC3}"/>
                  </a:ext>
                </a:extLst>
              </p:cNvPr>
              <p:cNvCxnSpPr>
                <a:stCxn id="34" idx="1"/>
                <a:endCxn id="30" idx="3"/>
              </p:cNvCxnSpPr>
              <p:nvPr/>
            </p:nvCxnSpPr>
            <p:spPr>
              <a:xfrm flipH="1" flipV="1">
                <a:off x="2479620" y="4052549"/>
                <a:ext cx="6871547" cy="1"/>
              </a:xfrm>
              <a:prstGeom prst="straightConnector1">
                <a:avLst/>
              </a:prstGeom>
              <a:noFill/>
              <a:ln w="31750" cap="flat" cmpd="sng">
                <a:solidFill>
                  <a:srgbClr val="92D050"/>
                </a:solidFill>
                <a:prstDash val="dash"/>
                <a:round/>
                <a:headEnd type="none" w="sm" len="sm"/>
                <a:tailEnd type="triangle" w="lg" len="lg"/>
              </a:ln>
            </p:spPr>
          </p:cxnSp>
          <p:cxnSp>
            <p:nvCxnSpPr>
              <p:cNvPr id="11" name="Google Shape;314;p8">
                <a:extLst>
                  <a:ext uri="{FF2B5EF4-FFF2-40B4-BE49-F238E27FC236}">
                    <a16:creationId xmlns:a16="http://schemas.microsoft.com/office/drawing/2014/main" id="{B4F5E6BC-4ADB-1D67-B9E1-EAD3965CC4C3}"/>
                  </a:ext>
                </a:extLst>
              </p:cNvPr>
              <p:cNvCxnSpPr>
                <a:stCxn id="34" idx="1"/>
                <a:endCxn id="32" idx="2"/>
              </p:cNvCxnSpPr>
              <p:nvPr/>
            </p:nvCxnSpPr>
            <p:spPr>
              <a:xfrm flipH="1" flipV="1">
                <a:off x="7215896" y="2524036"/>
                <a:ext cx="2135271" cy="1528514"/>
              </a:xfrm>
              <a:prstGeom prst="straightConnector1">
                <a:avLst/>
              </a:prstGeom>
              <a:noFill/>
              <a:ln w="31750" cap="flat" cmpd="sng">
                <a:solidFill>
                  <a:srgbClr val="92D050"/>
                </a:solidFill>
                <a:prstDash val="dash"/>
                <a:round/>
                <a:headEnd type="none" w="sm" len="sm"/>
                <a:tailEnd type="triangle" w="lg" len="lg"/>
              </a:ln>
            </p:spPr>
          </p:cxnSp>
          <p:cxnSp>
            <p:nvCxnSpPr>
              <p:cNvPr id="12" name="Google Shape;315;p8">
                <a:extLst>
                  <a:ext uri="{FF2B5EF4-FFF2-40B4-BE49-F238E27FC236}">
                    <a16:creationId xmlns:a16="http://schemas.microsoft.com/office/drawing/2014/main" id="{26608A39-53BC-9734-2D17-B2B234A13EC4}"/>
                  </a:ext>
                </a:extLst>
              </p:cNvPr>
              <p:cNvCxnSpPr>
                <a:stCxn id="34" idx="1"/>
                <a:endCxn id="31" idx="2"/>
              </p:cNvCxnSpPr>
              <p:nvPr/>
            </p:nvCxnSpPr>
            <p:spPr>
              <a:xfrm flipH="1" flipV="1">
                <a:off x="4082802" y="2527148"/>
                <a:ext cx="5268365" cy="1525402"/>
              </a:xfrm>
              <a:prstGeom prst="straightConnector1">
                <a:avLst/>
              </a:prstGeom>
              <a:noFill/>
              <a:ln w="31750" cap="flat" cmpd="sng">
                <a:solidFill>
                  <a:srgbClr val="92D050"/>
                </a:solidFill>
                <a:prstDash val="dash"/>
                <a:round/>
                <a:headEnd type="none" w="sm" len="sm"/>
                <a:tailEnd type="triangle" w="lg" len="lg"/>
              </a:ln>
            </p:spPr>
          </p:cxnSp>
          <p:sp>
            <p:nvSpPr>
              <p:cNvPr id="14" name="Google Shape;317;p8">
                <a:extLst>
                  <a:ext uri="{FF2B5EF4-FFF2-40B4-BE49-F238E27FC236}">
                    <a16:creationId xmlns:a16="http://schemas.microsoft.com/office/drawing/2014/main" id="{F0751743-172F-4E6A-854E-E67D0B23A140}"/>
                  </a:ext>
                </a:extLst>
              </p:cNvPr>
              <p:cNvSpPr txBox="1"/>
              <p:nvPr/>
            </p:nvSpPr>
            <p:spPr>
              <a:xfrm rot="2280000">
                <a:off x="8580683" y="2641170"/>
                <a:ext cx="1404000" cy="3063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dirty="0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Update Set(s)</a:t>
                </a:r>
                <a:endParaRPr dirty="0"/>
              </a:p>
            </p:txBody>
          </p:sp>
          <p:sp>
            <p:nvSpPr>
              <p:cNvPr id="15" name="Google Shape;318;p8">
                <a:extLst>
                  <a:ext uri="{FF2B5EF4-FFF2-40B4-BE49-F238E27FC236}">
                    <a16:creationId xmlns:a16="http://schemas.microsoft.com/office/drawing/2014/main" id="{8D64A4BC-F00F-503A-CAFD-A510C142362C}"/>
                  </a:ext>
                </a:extLst>
              </p:cNvPr>
              <p:cNvSpPr txBox="1"/>
              <p:nvPr/>
            </p:nvSpPr>
            <p:spPr>
              <a:xfrm rot="18900000">
                <a:off x="1488021" y="2743777"/>
                <a:ext cx="146012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dirty="0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Update Set(s)</a:t>
                </a:r>
                <a:endParaRPr dirty="0"/>
              </a:p>
            </p:txBody>
          </p:sp>
          <p:sp>
            <p:nvSpPr>
              <p:cNvPr id="18" name="Google Shape;320;p8">
                <a:extLst>
                  <a:ext uri="{FF2B5EF4-FFF2-40B4-BE49-F238E27FC236}">
                    <a16:creationId xmlns:a16="http://schemas.microsoft.com/office/drawing/2014/main" id="{21D24E47-9066-5D2D-492C-739256FF7E60}"/>
                  </a:ext>
                </a:extLst>
              </p:cNvPr>
              <p:cNvSpPr txBox="1"/>
              <p:nvPr/>
            </p:nvSpPr>
            <p:spPr>
              <a:xfrm>
                <a:off x="8610333" y="4102891"/>
                <a:ext cx="148166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dirty="0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Clone</a:t>
                </a:r>
                <a:endParaRPr dirty="0"/>
              </a:p>
            </p:txBody>
          </p:sp>
          <p:sp>
            <p:nvSpPr>
              <p:cNvPr id="19" name="Google Shape;321;p8">
                <a:extLst>
                  <a:ext uri="{FF2B5EF4-FFF2-40B4-BE49-F238E27FC236}">
                    <a16:creationId xmlns:a16="http://schemas.microsoft.com/office/drawing/2014/main" id="{47CDED64-B15C-E22D-63FA-3CA6E67A64A3}"/>
                  </a:ext>
                </a:extLst>
              </p:cNvPr>
              <p:cNvSpPr/>
              <p:nvPr/>
            </p:nvSpPr>
            <p:spPr>
              <a:xfrm>
                <a:off x="2428405" y="2816369"/>
                <a:ext cx="397763" cy="444127"/>
              </a:xfrm>
              <a:prstGeom prst="ellipse">
                <a:avLst/>
              </a:prstGeom>
              <a:solidFill>
                <a:schemeClr val="lt1"/>
              </a:solidFill>
              <a:ln w="15875" cap="rnd" cmpd="sng">
                <a:solidFill>
                  <a:srgbClr val="BE15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</a:t>
                </a:r>
                <a:endParaRPr/>
              </a:p>
            </p:txBody>
          </p:sp>
          <p:sp>
            <p:nvSpPr>
              <p:cNvPr id="20" name="Google Shape;322;p8">
                <a:extLst>
                  <a:ext uri="{FF2B5EF4-FFF2-40B4-BE49-F238E27FC236}">
                    <a16:creationId xmlns:a16="http://schemas.microsoft.com/office/drawing/2014/main" id="{1272191F-F16A-2285-2A74-D6AEB31CBB85}"/>
                  </a:ext>
                </a:extLst>
              </p:cNvPr>
              <p:cNvSpPr/>
              <p:nvPr/>
            </p:nvSpPr>
            <p:spPr>
              <a:xfrm>
                <a:off x="5222532" y="2050557"/>
                <a:ext cx="397763" cy="444127"/>
              </a:xfrm>
              <a:prstGeom prst="ellipse">
                <a:avLst/>
              </a:prstGeom>
              <a:solidFill>
                <a:schemeClr val="lt1"/>
              </a:solidFill>
              <a:ln w="15875" cap="rnd" cmpd="sng">
                <a:solidFill>
                  <a:srgbClr val="BE15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2</a:t>
                </a:r>
                <a:endParaRPr dirty="0"/>
              </a:p>
            </p:txBody>
          </p:sp>
          <p:sp>
            <p:nvSpPr>
              <p:cNvPr id="21" name="Google Shape;323;p8">
                <a:extLst>
                  <a:ext uri="{FF2B5EF4-FFF2-40B4-BE49-F238E27FC236}">
                    <a16:creationId xmlns:a16="http://schemas.microsoft.com/office/drawing/2014/main" id="{B4D2CD22-F01D-FFF6-C149-7E295E69B564}"/>
                  </a:ext>
                </a:extLst>
              </p:cNvPr>
              <p:cNvSpPr/>
              <p:nvPr/>
            </p:nvSpPr>
            <p:spPr>
              <a:xfrm>
                <a:off x="8762470" y="2771809"/>
                <a:ext cx="397763" cy="444127"/>
              </a:xfrm>
              <a:prstGeom prst="ellipse">
                <a:avLst/>
              </a:prstGeom>
              <a:solidFill>
                <a:schemeClr val="lt1"/>
              </a:solidFill>
              <a:ln w="15875" cap="rnd" cmpd="sng">
                <a:solidFill>
                  <a:srgbClr val="BE15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3</a:t>
                </a:r>
                <a:endParaRPr dirty="0"/>
              </a:p>
            </p:txBody>
          </p:sp>
          <p:sp>
            <p:nvSpPr>
              <p:cNvPr id="30" name="Google Shape;304;p8">
                <a:extLst>
                  <a:ext uri="{FF2B5EF4-FFF2-40B4-BE49-F238E27FC236}">
                    <a16:creationId xmlns:a16="http://schemas.microsoft.com/office/drawing/2014/main" id="{DEB4C93F-7271-DBAD-6249-7B56A6B51B45}"/>
                  </a:ext>
                </a:extLst>
              </p:cNvPr>
              <p:cNvSpPr/>
              <p:nvPr/>
            </p:nvSpPr>
            <p:spPr>
              <a:xfrm>
                <a:off x="1111899" y="3801132"/>
                <a:ext cx="1367721" cy="502833"/>
              </a:xfrm>
              <a:prstGeom prst="roundRect">
                <a:avLst>
                  <a:gd name="adj" fmla="val 16667"/>
                </a:avLst>
              </a:prstGeom>
              <a:solidFill>
                <a:srgbClr val="7A81FF"/>
              </a:solidFill>
              <a:ln w="15875" cap="rnd" cmpd="sng">
                <a:solidFill>
                  <a:srgbClr val="7A81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dirty="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Development</a:t>
                </a:r>
                <a:endParaRPr dirty="0"/>
              </a:p>
            </p:txBody>
          </p:sp>
          <p:sp>
            <p:nvSpPr>
              <p:cNvPr id="31" name="Google Shape;305;p8">
                <a:extLst>
                  <a:ext uri="{FF2B5EF4-FFF2-40B4-BE49-F238E27FC236}">
                    <a16:creationId xmlns:a16="http://schemas.microsoft.com/office/drawing/2014/main" id="{150B2BFB-14F9-4498-401C-14BF23900B09}"/>
                  </a:ext>
                </a:extLst>
              </p:cNvPr>
              <p:cNvSpPr/>
              <p:nvPr/>
            </p:nvSpPr>
            <p:spPr>
              <a:xfrm>
                <a:off x="3398941" y="2024315"/>
                <a:ext cx="1367721" cy="502833"/>
              </a:xfrm>
              <a:prstGeom prst="roundRect">
                <a:avLst>
                  <a:gd name="adj" fmla="val 16667"/>
                </a:avLst>
              </a:prstGeom>
              <a:solidFill>
                <a:srgbClr val="7A81FF"/>
              </a:solidFill>
              <a:ln w="15875" cap="rnd" cmpd="sng">
                <a:solidFill>
                  <a:srgbClr val="7A81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dirty="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Test/ QA</a:t>
                </a:r>
                <a:endParaRPr dirty="0"/>
              </a:p>
            </p:txBody>
          </p:sp>
          <p:sp>
            <p:nvSpPr>
              <p:cNvPr id="32" name="Google Shape;307;p8">
                <a:extLst>
                  <a:ext uri="{FF2B5EF4-FFF2-40B4-BE49-F238E27FC236}">
                    <a16:creationId xmlns:a16="http://schemas.microsoft.com/office/drawing/2014/main" id="{8FDE45F1-15E4-07A0-8BA6-C398750E7B0E}"/>
                  </a:ext>
                </a:extLst>
              </p:cNvPr>
              <p:cNvSpPr/>
              <p:nvPr/>
            </p:nvSpPr>
            <p:spPr>
              <a:xfrm>
                <a:off x="6532035" y="2021203"/>
                <a:ext cx="1367721" cy="502833"/>
              </a:xfrm>
              <a:prstGeom prst="roundRect">
                <a:avLst>
                  <a:gd name="adj" fmla="val 16667"/>
                </a:avLst>
              </a:prstGeom>
              <a:solidFill>
                <a:srgbClr val="7A81FF"/>
              </a:solidFill>
              <a:ln w="15875" cap="rnd" cmpd="sng">
                <a:solidFill>
                  <a:srgbClr val="7A81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dirty="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UAT</a:t>
                </a:r>
                <a:endParaRPr dirty="0"/>
              </a:p>
            </p:txBody>
          </p:sp>
          <p:sp>
            <p:nvSpPr>
              <p:cNvPr id="34" name="Google Shape;311;p8">
                <a:extLst>
                  <a:ext uri="{FF2B5EF4-FFF2-40B4-BE49-F238E27FC236}">
                    <a16:creationId xmlns:a16="http://schemas.microsoft.com/office/drawing/2014/main" id="{1023484F-BE86-11C9-A3D3-506C48A77413}"/>
                  </a:ext>
                </a:extLst>
              </p:cNvPr>
              <p:cNvSpPr/>
              <p:nvPr/>
            </p:nvSpPr>
            <p:spPr>
              <a:xfrm>
                <a:off x="9351167" y="3801133"/>
                <a:ext cx="1367721" cy="502833"/>
              </a:xfrm>
              <a:prstGeom prst="roundRect">
                <a:avLst>
                  <a:gd name="adj" fmla="val 16667"/>
                </a:avLst>
              </a:prstGeom>
              <a:solidFill>
                <a:srgbClr val="80B894"/>
              </a:solidFill>
              <a:ln w="15875" cap="rnd" cmpd="sng">
                <a:solidFill>
                  <a:srgbClr val="92D05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dirty="0">
                    <a:solidFill>
                      <a:schemeClr val="dk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Production</a:t>
                </a:r>
                <a:endParaRPr dirty="0"/>
              </a:p>
            </p:txBody>
          </p:sp>
        </p:grp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DAFB906-63D8-F1F2-BE00-8087096884FE}"/>
              </a:ext>
            </a:extLst>
          </p:cNvPr>
          <p:cNvGrpSpPr/>
          <p:nvPr/>
        </p:nvGrpSpPr>
        <p:grpSpPr>
          <a:xfrm>
            <a:off x="9246319" y="1226717"/>
            <a:ext cx="1367721" cy="2574416"/>
            <a:chOff x="9246319" y="1226717"/>
            <a:chExt cx="1367721" cy="2574416"/>
          </a:xfrm>
        </p:grpSpPr>
        <p:cxnSp>
          <p:nvCxnSpPr>
            <p:cNvPr id="192" name="Google Shape;315;p8">
              <a:extLst>
                <a:ext uri="{FF2B5EF4-FFF2-40B4-BE49-F238E27FC236}">
                  <a16:creationId xmlns:a16="http://schemas.microsoft.com/office/drawing/2014/main" id="{E5E3D0EF-93A3-03D9-A3C7-CADE86E56EEE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flipV="1">
              <a:off x="10035028" y="1736962"/>
              <a:ext cx="0" cy="2064171"/>
            </a:xfrm>
            <a:prstGeom prst="straightConnector1">
              <a:avLst/>
            </a:prstGeom>
            <a:noFill/>
            <a:ln w="31750" cap="flat" cmpd="sng">
              <a:solidFill>
                <a:srgbClr val="92D050"/>
              </a:solidFill>
              <a:prstDash val="dash"/>
              <a:round/>
              <a:headEnd type="none" w="sm" len="sm"/>
              <a:tailEnd type="triangle" w="lg" len="lg"/>
            </a:ln>
          </p:spPr>
        </p:cxn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1756791D-EF6F-49BD-6FBC-D491AEFB0321}"/>
                </a:ext>
              </a:extLst>
            </p:cNvPr>
            <p:cNvGrpSpPr/>
            <p:nvPr/>
          </p:nvGrpSpPr>
          <p:grpSpPr>
            <a:xfrm>
              <a:off x="9246319" y="1226717"/>
              <a:ext cx="1367721" cy="1693924"/>
              <a:chOff x="9246319" y="1226717"/>
              <a:chExt cx="1367721" cy="1693924"/>
            </a:xfrm>
          </p:grpSpPr>
          <p:sp>
            <p:nvSpPr>
              <p:cNvPr id="62" name="Google Shape;307;p8">
                <a:extLst>
                  <a:ext uri="{FF2B5EF4-FFF2-40B4-BE49-F238E27FC236}">
                    <a16:creationId xmlns:a16="http://schemas.microsoft.com/office/drawing/2014/main" id="{43EC3CD6-804F-F01F-77F3-F582FCE6327D}"/>
                  </a:ext>
                </a:extLst>
              </p:cNvPr>
              <p:cNvSpPr/>
              <p:nvPr/>
            </p:nvSpPr>
            <p:spPr>
              <a:xfrm>
                <a:off x="9246319" y="1226717"/>
                <a:ext cx="1367721" cy="502833"/>
              </a:xfrm>
              <a:prstGeom prst="roundRect">
                <a:avLst>
                  <a:gd name="adj" fmla="val 16667"/>
                </a:avLst>
              </a:prstGeom>
              <a:solidFill>
                <a:srgbClr val="7A81FF"/>
              </a:solidFill>
              <a:ln w="15875" cap="rnd" cmpd="sng">
                <a:solidFill>
                  <a:srgbClr val="7A81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dirty="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Prod Support / Training</a:t>
                </a:r>
                <a:endParaRPr dirty="0"/>
              </a:p>
            </p:txBody>
          </p:sp>
          <p:sp>
            <p:nvSpPr>
              <p:cNvPr id="197" name="Google Shape;323;p8">
                <a:extLst>
                  <a:ext uri="{FF2B5EF4-FFF2-40B4-BE49-F238E27FC236}">
                    <a16:creationId xmlns:a16="http://schemas.microsoft.com/office/drawing/2014/main" id="{1C2D49D0-222A-9587-4D68-BD2F9F11845C}"/>
                  </a:ext>
                </a:extLst>
              </p:cNvPr>
              <p:cNvSpPr/>
              <p:nvPr/>
            </p:nvSpPr>
            <p:spPr>
              <a:xfrm>
                <a:off x="9853118" y="2476514"/>
                <a:ext cx="397763" cy="444127"/>
              </a:xfrm>
              <a:prstGeom prst="ellipse">
                <a:avLst/>
              </a:prstGeom>
              <a:solidFill>
                <a:schemeClr val="lt1"/>
              </a:solidFill>
              <a:ln w="15875" cap="rnd" cmpd="sng">
                <a:solidFill>
                  <a:srgbClr val="BE15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dk1"/>
                    </a:solidFill>
                    <a:latin typeface="Century Gothic"/>
                    <a:sym typeface="Century Gothic"/>
                  </a:rPr>
                  <a:t>4</a:t>
                </a:r>
                <a:endParaRPr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53581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A2FA5D-045E-B825-5552-11372E12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FBC9FE0-322E-764A-25BA-F29ED960F5B2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29974CB7-F27C-568F-BE81-91169E5D98C3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C7547AD-C1BB-EDD9-CD67-97B1A78EABBF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52ED48A-F326-F1F3-CA05-ABA35A58759A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F1477D1-70D1-883B-3F9F-04633B16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03840" y="6492875"/>
            <a:ext cx="4114800" cy="365125"/>
          </a:xfrm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4B08D-C982-7DDC-8251-8291871B3D49}"/>
              </a:ext>
            </a:extLst>
          </p:cNvPr>
          <p:cNvSpPr txBox="1">
            <a:spLocks/>
          </p:cNvSpPr>
          <p:nvPr/>
        </p:nvSpPr>
        <p:spPr>
          <a:xfrm>
            <a:off x="806115" y="409483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Release Strategy</a:t>
            </a:r>
          </a:p>
        </p:txBody>
      </p:sp>
      <p:pic>
        <p:nvPicPr>
          <p:cNvPr id="5" name="Google Shape;340;p9">
            <a:extLst>
              <a:ext uri="{FF2B5EF4-FFF2-40B4-BE49-F238E27FC236}">
                <a16:creationId xmlns:a16="http://schemas.microsoft.com/office/drawing/2014/main" id="{9A6CB3E1-BA1A-D1C4-F0D7-81F26A879DE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9617" y="1061666"/>
            <a:ext cx="7024126" cy="53436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7220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2F704-FBB7-EC42-6AB4-883F3B62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C7A3F41-462F-36A9-A859-9BA7B329E1F5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E68BE249-4C3F-8099-4B5C-59F5A7795535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FC8F1B4-9952-717C-0339-FB1AABFA8E33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DE487E7-23AA-09FA-CFCD-ABE5D6893D71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F104F24-F3B7-91E6-67E8-CE20537D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16E268-2AF6-117E-66B8-20C1E2E3C46B}"/>
              </a:ext>
            </a:extLst>
          </p:cNvPr>
          <p:cNvSpPr txBox="1">
            <a:spLocks/>
          </p:cNvSpPr>
          <p:nvPr/>
        </p:nvSpPr>
        <p:spPr>
          <a:xfrm>
            <a:off x="806115" y="409483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Key Takeaways</a:t>
            </a:r>
          </a:p>
        </p:txBody>
      </p:sp>
      <p:sp>
        <p:nvSpPr>
          <p:cNvPr id="7" name="Google Shape;353;p10">
            <a:extLst>
              <a:ext uri="{FF2B5EF4-FFF2-40B4-BE49-F238E27FC236}">
                <a16:creationId xmlns:a16="http://schemas.microsoft.com/office/drawing/2014/main" id="{E3F507C2-6ACF-C422-4392-B0393DFB1D5F}"/>
              </a:ext>
            </a:extLst>
          </p:cNvPr>
          <p:cNvSpPr/>
          <p:nvPr/>
        </p:nvSpPr>
        <p:spPr>
          <a:xfrm>
            <a:off x="1363310" y="4145532"/>
            <a:ext cx="264375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9A6F9CF-1077-BC14-802B-8A2112E465AF}"/>
              </a:ext>
            </a:extLst>
          </p:cNvPr>
          <p:cNvGrpSpPr/>
          <p:nvPr/>
        </p:nvGrpSpPr>
        <p:grpSpPr>
          <a:xfrm>
            <a:off x="1363310" y="2030531"/>
            <a:ext cx="2643750" cy="2835001"/>
            <a:chOff x="1363310" y="2030531"/>
            <a:chExt cx="2643750" cy="2835001"/>
          </a:xfrm>
        </p:grpSpPr>
        <p:sp>
          <p:nvSpPr>
            <p:cNvPr id="3" name="Google Shape;351;p10">
              <a:extLst>
                <a:ext uri="{FF2B5EF4-FFF2-40B4-BE49-F238E27FC236}">
                  <a16:creationId xmlns:a16="http://schemas.microsoft.com/office/drawing/2014/main" id="{C0A062C7-1ED8-1A74-4AEB-E0FEE7593F88}"/>
                </a:ext>
              </a:extLst>
            </p:cNvPr>
            <p:cNvSpPr/>
            <p:nvPr/>
          </p:nvSpPr>
          <p:spPr>
            <a:xfrm>
              <a:off x="1878842" y="2030531"/>
              <a:ext cx="1612687" cy="1612687"/>
            </a:xfrm>
            <a:prstGeom prst="ellipse">
              <a:avLst/>
            </a:pr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52;p10">
              <a:extLst>
                <a:ext uri="{FF2B5EF4-FFF2-40B4-BE49-F238E27FC236}">
                  <a16:creationId xmlns:a16="http://schemas.microsoft.com/office/drawing/2014/main" id="{486E18E8-A28D-E2EB-EFFD-06067BD5490B}"/>
                </a:ext>
              </a:extLst>
            </p:cNvPr>
            <p:cNvSpPr/>
            <p:nvPr/>
          </p:nvSpPr>
          <p:spPr>
            <a:xfrm>
              <a:off x="2222529" y="2374219"/>
              <a:ext cx="925312" cy="92531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5875" cap="rnd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354;p10">
              <a:extLst>
                <a:ext uri="{FF2B5EF4-FFF2-40B4-BE49-F238E27FC236}">
                  <a16:creationId xmlns:a16="http://schemas.microsoft.com/office/drawing/2014/main" id="{3FBCDEE2-3DEA-9CEC-92D0-3887FCDA71A4}"/>
                </a:ext>
              </a:extLst>
            </p:cNvPr>
            <p:cNvSpPr txBox="1"/>
            <p:nvPr/>
          </p:nvSpPr>
          <p:spPr>
            <a:xfrm>
              <a:off x="1363310" y="4145532"/>
              <a:ext cx="264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entury Gothic"/>
                <a:buNone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sym typeface="Century Gothic"/>
                </a:rPr>
                <a:t>IMPORTANCE OF SERVICENOW GOVERNANCE</a:t>
              </a:r>
              <a:endParaRPr dirty="0">
                <a:solidFill>
                  <a:schemeClr val="dk1"/>
                </a:solidFill>
                <a:latin typeface="Aptos" panose="020B0004020202020204" pitchFamily="34" charset="0"/>
                <a:sym typeface="Century Gothic"/>
              </a:endParaRPr>
            </a:p>
          </p:txBody>
        </p:sp>
      </p:grpSp>
      <p:sp>
        <p:nvSpPr>
          <p:cNvPr id="13" name="Google Shape;357;p10">
            <a:extLst>
              <a:ext uri="{FF2B5EF4-FFF2-40B4-BE49-F238E27FC236}">
                <a16:creationId xmlns:a16="http://schemas.microsoft.com/office/drawing/2014/main" id="{F341ED37-7C8A-DDA2-0C37-980F483404B9}"/>
              </a:ext>
            </a:extLst>
          </p:cNvPr>
          <p:cNvSpPr/>
          <p:nvPr/>
        </p:nvSpPr>
        <p:spPr>
          <a:xfrm>
            <a:off x="4469717" y="4145532"/>
            <a:ext cx="264375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1894649-2920-E045-1DEE-DAAE038F4219}"/>
              </a:ext>
            </a:extLst>
          </p:cNvPr>
          <p:cNvGrpSpPr/>
          <p:nvPr/>
        </p:nvGrpSpPr>
        <p:grpSpPr>
          <a:xfrm>
            <a:off x="4469717" y="2030531"/>
            <a:ext cx="2643750" cy="2835001"/>
            <a:chOff x="4469717" y="2030531"/>
            <a:chExt cx="2643750" cy="2835001"/>
          </a:xfrm>
        </p:grpSpPr>
        <p:sp>
          <p:nvSpPr>
            <p:cNvPr id="11" name="Google Shape;355;p10">
              <a:extLst>
                <a:ext uri="{FF2B5EF4-FFF2-40B4-BE49-F238E27FC236}">
                  <a16:creationId xmlns:a16="http://schemas.microsoft.com/office/drawing/2014/main" id="{9C125732-5391-58BD-77CD-237C714AF718}"/>
                </a:ext>
              </a:extLst>
            </p:cNvPr>
            <p:cNvSpPr/>
            <p:nvPr/>
          </p:nvSpPr>
          <p:spPr>
            <a:xfrm>
              <a:off x="4985248" y="2030531"/>
              <a:ext cx="1612687" cy="1612687"/>
            </a:xfrm>
            <a:prstGeom prst="ellipse">
              <a:avLst/>
            </a:pr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56;p10">
              <a:extLst>
                <a:ext uri="{FF2B5EF4-FFF2-40B4-BE49-F238E27FC236}">
                  <a16:creationId xmlns:a16="http://schemas.microsoft.com/office/drawing/2014/main" id="{A8321C26-B3EA-4001-FFC8-738FEFC29E29}"/>
                </a:ext>
              </a:extLst>
            </p:cNvPr>
            <p:cNvSpPr/>
            <p:nvPr/>
          </p:nvSpPr>
          <p:spPr>
            <a:xfrm>
              <a:off x="5328935" y="2374219"/>
              <a:ext cx="925312" cy="92531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5875" cap="rnd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58;p10">
              <a:extLst>
                <a:ext uri="{FF2B5EF4-FFF2-40B4-BE49-F238E27FC236}">
                  <a16:creationId xmlns:a16="http://schemas.microsoft.com/office/drawing/2014/main" id="{907C3B7D-A102-E873-302D-22DD4F257BBD}"/>
                </a:ext>
              </a:extLst>
            </p:cNvPr>
            <p:cNvSpPr txBox="1"/>
            <p:nvPr/>
          </p:nvSpPr>
          <p:spPr>
            <a:xfrm>
              <a:off x="4469717" y="4145532"/>
              <a:ext cx="264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entury Gothic"/>
                <a:buNone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sym typeface="Century Gothic"/>
                </a:rPr>
                <a:t>SCALABLE AND SUSTAINABLE AGILE FRAMEWORK</a:t>
              </a:r>
              <a:endParaRPr dirty="0">
                <a:solidFill>
                  <a:schemeClr val="dk1"/>
                </a:solidFill>
                <a:latin typeface="Aptos" panose="020B0004020202020204" pitchFamily="34" charset="0"/>
                <a:sym typeface="Century Gothic"/>
              </a:endParaRPr>
            </a:p>
          </p:txBody>
        </p:sp>
      </p:grpSp>
      <p:sp>
        <p:nvSpPr>
          <p:cNvPr id="18" name="Google Shape;361;p10">
            <a:extLst>
              <a:ext uri="{FF2B5EF4-FFF2-40B4-BE49-F238E27FC236}">
                <a16:creationId xmlns:a16="http://schemas.microsoft.com/office/drawing/2014/main" id="{386BAC15-0C9E-035F-2006-AE54A46FB3B5}"/>
              </a:ext>
            </a:extLst>
          </p:cNvPr>
          <p:cNvSpPr/>
          <p:nvPr/>
        </p:nvSpPr>
        <p:spPr>
          <a:xfrm>
            <a:off x="7576123" y="4145532"/>
            <a:ext cx="264375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1AA935-5DF6-266C-D693-2B35DA81237C}"/>
              </a:ext>
            </a:extLst>
          </p:cNvPr>
          <p:cNvGrpSpPr/>
          <p:nvPr/>
        </p:nvGrpSpPr>
        <p:grpSpPr>
          <a:xfrm>
            <a:off x="7576123" y="2030531"/>
            <a:ext cx="2643750" cy="2835001"/>
            <a:chOff x="7576123" y="2030531"/>
            <a:chExt cx="2643750" cy="2835001"/>
          </a:xfrm>
        </p:grpSpPr>
        <p:sp>
          <p:nvSpPr>
            <p:cNvPr id="15" name="Google Shape;359;p10">
              <a:extLst>
                <a:ext uri="{FF2B5EF4-FFF2-40B4-BE49-F238E27FC236}">
                  <a16:creationId xmlns:a16="http://schemas.microsoft.com/office/drawing/2014/main" id="{6AED665E-4E78-D8E4-D34E-6C59216E2115}"/>
                </a:ext>
              </a:extLst>
            </p:cNvPr>
            <p:cNvSpPr/>
            <p:nvPr/>
          </p:nvSpPr>
          <p:spPr>
            <a:xfrm>
              <a:off x="8091654" y="2030531"/>
              <a:ext cx="1612687" cy="1612687"/>
            </a:xfrm>
            <a:prstGeom prst="ellipse">
              <a:avLst/>
            </a:pr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60;p10">
              <a:extLst>
                <a:ext uri="{FF2B5EF4-FFF2-40B4-BE49-F238E27FC236}">
                  <a16:creationId xmlns:a16="http://schemas.microsoft.com/office/drawing/2014/main" id="{5E13CF9E-B915-84BF-DDB2-A16DA93C0E59}"/>
                </a:ext>
              </a:extLst>
            </p:cNvPr>
            <p:cNvSpPr/>
            <p:nvPr/>
          </p:nvSpPr>
          <p:spPr>
            <a:xfrm>
              <a:off x="8435342" y="2374219"/>
              <a:ext cx="925312" cy="92531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5875" cap="rnd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62;p10">
              <a:extLst>
                <a:ext uri="{FF2B5EF4-FFF2-40B4-BE49-F238E27FC236}">
                  <a16:creationId xmlns:a16="http://schemas.microsoft.com/office/drawing/2014/main" id="{055D2B81-B044-E899-AFB5-37DAE09423B2}"/>
                </a:ext>
              </a:extLst>
            </p:cNvPr>
            <p:cNvSpPr txBox="1"/>
            <p:nvPr/>
          </p:nvSpPr>
          <p:spPr>
            <a:xfrm>
              <a:off x="7576123" y="4145532"/>
              <a:ext cx="264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buClr>
                  <a:schemeClr val="dk1"/>
                </a:buClr>
                <a:buSzPts val="1500"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sym typeface="Century Gothic"/>
                </a:rPr>
                <a:t>INSTANCE STRUCTURE AND ROBUST RELEASE STRATEGY</a:t>
              </a:r>
              <a:endParaRPr dirty="0">
                <a:solidFill>
                  <a:schemeClr val="dk1"/>
                </a:solidFill>
                <a:latin typeface="Aptos" panose="020B0004020202020204" pitchFamily="34" charset="0"/>
                <a:sym typeface="Century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4847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Barlow" panose="00000500000000000000" pitchFamily="2" charset="0"/>
              </a:rPr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0" y="3093990"/>
            <a:ext cx="3916218" cy="1879791"/>
          </a:xfrm>
        </p:spPr>
        <p:txBody>
          <a:bodyPr/>
          <a:lstStyle/>
          <a:p>
            <a:pPr lvl="0"/>
            <a:r>
              <a:rPr lang="en-US" dirty="0"/>
              <a:t>www.servicewow-consultancy.com</a:t>
            </a:r>
          </a:p>
          <a:p>
            <a:endParaRPr lang="en-US" dirty="0"/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Flowchart: Preparation 1">
            <a:extLst>
              <a:ext uri="{FF2B5EF4-FFF2-40B4-BE49-F238E27FC236}">
                <a16:creationId xmlns:a16="http://schemas.microsoft.com/office/drawing/2014/main" id="{7630E8AE-021C-FA4D-EAFC-43FF4AA82AC8}"/>
              </a:ext>
            </a:extLst>
          </p:cNvPr>
          <p:cNvSpPr/>
          <p:nvPr/>
        </p:nvSpPr>
        <p:spPr>
          <a:xfrm>
            <a:off x="1574993" y="444403"/>
            <a:ext cx="1464783" cy="1278385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9523"/>
              <a:gd name="connsiteY0" fmla="*/ 5049 h 10000"/>
              <a:gd name="connsiteX1" fmla="*/ 1523 w 9523"/>
              <a:gd name="connsiteY1" fmla="*/ 0 h 10000"/>
              <a:gd name="connsiteX2" fmla="*/ 7523 w 9523"/>
              <a:gd name="connsiteY2" fmla="*/ 0 h 10000"/>
              <a:gd name="connsiteX3" fmla="*/ 9523 w 9523"/>
              <a:gd name="connsiteY3" fmla="*/ 5000 h 10000"/>
              <a:gd name="connsiteX4" fmla="*/ 7523 w 9523"/>
              <a:gd name="connsiteY4" fmla="*/ 10000 h 10000"/>
              <a:gd name="connsiteX5" fmla="*/ 1523 w 9523"/>
              <a:gd name="connsiteY5" fmla="*/ 10000 h 10000"/>
              <a:gd name="connsiteX6" fmla="*/ 0 w 9523"/>
              <a:gd name="connsiteY6" fmla="*/ 5049 h 10000"/>
              <a:gd name="connsiteX0" fmla="*/ 0 w 10409"/>
              <a:gd name="connsiteY0" fmla="*/ 4901 h 10000"/>
              <a:gd name="connsiteX1" fmla="*/ 2008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463 w 10409"/>
              <a:gd name="connsiteY5" fmla="*/ 9951 h 10000"/>
              <a:gd name="connsiteX6" fmla="*/ 0 w 10409"/>
              <a:gd name="connsiteY6" fmla="*/ 4901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99 w 10545"/>
              <a:gd name="connsiteY5" fmla="*/ 9951 h 10000"/>
              <a:gd name="connsiteX6" fmla="*/ 0 w 10545"/>
              <a:gd name="connsiteY6" fmla="*/ 4883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82 w 10545"/>
              <a:gd name="connsiteY5" fmla="*/ 9840 h 10000"/>
              <a:gd name="connsiteX6" fmla="*/ 0 w 10545"/>
              <a:gd name="connsiteY6" fmla="*/ 4883 h 10000"/>
              <a:gd name="connsiteX0" fmla="*/ 0 w 10545"/>
              <a:gd name="connsiteY0" fmla="*/ 4883 h 9840"/>
              <a:gd name="connsiteX1" fmla="*/ 2599 w 10545"/>
              <a:gd name="connsiteY1" fmla="*/ 0 h 9840"/>
              <a:gd name="connsiteX2" fmla="*/ 8445 w 10545"/>
              <a:gd name="connsiteY2" fmla="*/ 0 h 9840"/>
              <a:gd name="connsiteX3" fmla="*/ 10545 w 10545"/>
              <a:gd name="connsiteY3" fmla="*/ 5000 h 9840"/>
              <a:gd name="connsiteX4" fmla="*/ 7899 w 10545"/>
              <a:gd name="connsiteY4" fmla="*/ 9815 h 9840"/>
              <a:gd name="connsiteX5" fmla="*/ 2582 w 10545"/>
              <a:gd name="connsiteY5" fmla="*/ 9840 h 9840"/>
              <a:gd name="connsiteX6" fmla="*/ 0 w 10545"/>
              <a:gd name="connsiteY6" fmla="*/ 4883 h 9840"/>
              <a:gd name="connsiteX0" fmla="*/ 0 w 10000"/>
              <a:gd name="connsiteY0" fmla="*/ 4962 h 10000"/>
              <a:gd name="connsiteX1" fmla="*/ 2465 w 10000"/>
              <a:gd name="connsiteY1" fmla="*/ 0 h 10000"/>
              <a:gd name="connsiteX2" fmla="*/ 8009 w 10000"/>
              <a:gd name="connsiteY2" fmla="*/ 0 h 10000"/>
              <a:gd name="connsiteX3" fmla="*/ 10000 w 10000"/>
              <a:gd name="connsiteY3" fmla="*/ 4950 h 10000"/>
              <a:gd name="connsiteX4" fmla="*/ 7491 w 10000"/>
              <a:gd name="connsiteY4" fmla="*/ 9975 h 10000"/>
              <a:gd name="connsiteX5" fmla="*/ 2449 w 10000"/>
              <a:gd name="connsiteY5" fmla="*/ 10000 h 10000"/>
              <a:gd name="connsiteX6" fmla="*/ 0 w 10000"/>
              <a:gd name="connsiteY6" fmla="*/ 4962 h 10000"/>
              <a:gd name="connsiteX0" fmla="*/ 0 w 10000"/>
              <a:gd name="connsiteY0" fmla="*/ 5000 h 10038"/>
              <a:gd name="connsiteX1" fmla="*/ 2465 w 10000"/>
              <a:gd name="connsiteY1" fmla="*/ 38 h 10038"/>
              <a:gd name="connsiteX2" fmla="*/ 7524 w 10000"/>
              <a:gd name="connsiteY2" fmla="*/ 0 h 10038"/>
              <a:gd name="connsiteX3" fmla="*/ 10000 w 10000"/>
              <a:gd name="connsiteY3" fmla="*/ 4988 h 10038"/>
              <a:gd name="connsiteX4" fmla="*/ 7491 w 10000"/>
              <a:gd name="connsiteY4" fmla="*/ 10013 h 10038"/>
              <a:gd name="connsiteX5" fmla="*/ 2449 w 10000"/>
              <a:gd name="connsiteY5" fmla="*/ 10038 h 10038"/>
              <a:gd name="connsiteX6" fmla="*/ 0 w 10000"/>
              <a:gd name="connsiteY6" fmla="*/ 5000 h 10038"/>
              <a:gd name="connsiteX0" fmla="*/ 0 w 10000"/>
              <a:gd name="connsiteY0" fmla="*/ 5056 h 10094"/>
              <a:gd name="connsiteX1" fmla="*/ 2449 w 10000"/>
              <a:gd name="connsiteY1" fmla="*/ 0 h 10094"/>
              <a:gd name="connsiteX2" fmla="*/ 7524 w 10000"/>
              <a:gd name="connsiteY2" fmla="*/ 56 h 10094"/>
              <a:gd name="connsiteX3" fmla="*/ 10000 w 10000"/>
              <a:gd name="connsiteY3" fmla="*/ 5044 h 10094"/>
              <a:gd name="connsiteX4" fmla="*/ 7491 w 10000"/>
              <a:gd name="connsiteY4" fmla="*/ 10069 h 10094"/>
              <a:gd name="connsiteX5" fmla="*/ 2449 w 10000"/>
              <a:gd name="connsiteY5" fmla="*/ 10094 h 10094"/>
              <a:gd name="connsiteX6" fmla="*/ 0 w 10000"/>
              <a:gd name="connsiteY6" fmla="*/ 5056 h 10094"/>
              <a:gd name="connsiteX0" fmla="*/ 0 w 9951"/>
              <a:gd name="connsiteY0" fmla="*/ 5056 h 10094"/>
              <a:gd name="connsiteX1" fmla="*/ 2449 w 9951"/>
              <a:gd name="connsiteY1" fmla="*/ 0 h 10094"/>
              <a:gd name="connsiteX2" fmla="*/ 7524 w 9951"/>
              <a:gd name="connsiteY2" fmla="*/ 56 h 10094"/>
              <a:gd name="connsiteX3" fmla="*/ 9951 w 9951"/>
              <a:gd name="connsiteY3" fmla="*/ 5044 h 10094"/>
              <a:gd name="connsiteX4" fmla="*/ 7491 w 9951"/>
              <a:gd name="connsiteY4" fmla="*/ 10069 h 10094"/>
              <a:gd name="connsiteX5" fmla="*/ 2449 w 9951"/>
              <a:gd name="connsiteY5" fmla="*/ 10094 h 10094"/>
              <a:gd name="connsiteX6" fmla="*/ 0 w 9951"/>
              <a:gd name="connsiteY6" fmla="*/ 5056 h 10094"/>
              <a:gd name="connsiteX0" fmla="*/ 0 w 10000"/>
              <a:gd name="connsiteY0" fmla="*/ 4990 h 9981"/>
              <a:gd name="connsiteX1" fmla="*/ 2461 w 10000"/>
              <a:gd name="connsiteY1" fmla="*/ 0 h 9981"/>
              <a:gd name="connsiteX2" fmla="*/ 7561 w 10000"/>
              <a:gd name="connsiteY2" fmla="*/ 36 h 9981"/>
              <a:gd name="connsiteX3" fmla="*/ 10000 w 10000"/>
              <a:gd name="connsiteY3" fmla="*/ 4978 h 9981"/>
              <a:gd name="connsiteX4" fmla="*/ 7528 w 10000"/>
              <a:gd name="connsiteY4" fmla="*/ 9956 h 9981"/>
              <a:gd name="connsiteX5" fmla="*/ 2461 w 10000"/>
              <a:gd name="connsiteY5" fmla="*/ 9981 h 9981"/>
              <a:gd name="connsiteX6" fmla="*/ 0 w 10000"/>
              <a:gd name="connsiteY6" fmla="*/ 4990 h 9981"/>
              <a:gd name="connsiteX0" fmla="*/ 0 w 10000"/>
              <a:gd name="connsiteY0" fmla="*/ 5000 h 10001"/>
              <a:gd name="connsiteX1" fmla="*/ 2461 w 10000"/>
              <a:gd name="connsiteY1" fmla="*/ 1 h 10001"/>
              <a:gd name="connsiteX2" fmla="*/ 7561 w 10000"/>
              <a:gd name="connsiteY2" fmla="*/ 0 h 10001"/>
              <a:gd name="connsiteX3" fmla="*/ 10000 w 10000"/>
              <a:gd name="connsiteY3" fmla="*/ 4988 h 10001"/>
              <a:gd name="connsiteX4" fmla="*/ 7528 w 10000"/>
              <a:gd name="connsiteY4" fmla="*/ 9976 h 10001"/>
              <a:gd name="connsiteX5" fmla="*/ 2461 w 10000"/>
              <a:gd name="connsiteY5" fmla="*/ 10001 h 10001"/>
              <a:gd name="connsiteX6" fmla="*/ 0 w 10000"/>
              <a:gd name="connsiteY6" fmla="*/ 5000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1">
                <a:moveTo>
                  <a:pt x="0" y="5000"/>
                </a:moveTo>
                <a:lnTo>
                  <a:pt x="2461" y="1"/>
                </a:lnTo>
                <a:lnTo>
                  <a:pt x="7561" y="0"/>
                </a:lnTo>
                <a:lnTo>
                  <a:pt x="10000" y="4988"/>
                </a:lnTo>
                <a:lnTo>
                  <a:pt x="7528" y="9976"/>
                </a:lnTo>
                <a:lnTo>
                  <a:pt x="2461" y="10001"/>
                </a:lnTo>
                <a:lnTo>
                  <a:pt x="0" y="5000"/>
                </a:lnTo>
                <a:close/>
              </a:path>
            </a:pathLst>
          </a:custGeom>
          <a:solidFill>
            <a:srgbClr val="7FB793"/>
          </a:solidFill>
          <a:ln>
            <a:solidFill>
              <a:srgbClr val="7FB79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Preparation 1">
            <a:extLst>
              <a:ext uri="{FF2B5EF4-FFF2-40B4-BE49-F238E27FC236}">
                <a16:creationId xmlns:a16="http://schemas.microsoft.com/office/drawing/2014/main" id="{0AB4CE49-CB6E-9C7E-912B-D420B35534BF}"/>
              </a:ext>
            </a:extLst>
          </p:cNvPr>
          <p:cNvSpPr/>
          <p:nvPr/>
        </p:nvSpPr>
        <p:spPr>
          <a:xfrm>
            <a:off x="3948599" y="4570802"/>
            <a:ext cx="1464783" cy="1278385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9523"/>
              <a:gd name="connsiteY0" fmla="*/ 5049 h 10000"/>
              <a:gd name="connsiteX1" fmla="*/ 1523 w 9523"/>
              <a:gd name="connsiteY1" fmla="*/ 0 h 10000"/>
              <a:gd name="connsiteX2" fmla="*/ 7523 w 9523"/>
              <a:gd name="connsiteY2" fmla="*/ 0 h 10000"/>
              <a:gd name="connsiteX3" fmla="*/ 9523 w 9523"/>
              <a:gd name="connsiteY3" fmla="*/ 5000 h 10000"/>
              <a:gd name="connsiteX4" fmla="*/ 7523 w 9523"/>
              <a:gd name="connsiteY4" fmla="*/ 10000 h 10000"/>
              <a:gd name="connsiteX5" fmla="*/ 1523 w 9523"/>
              <a:gd name="connsiteY5" fmla="*/ 10000 h 10000"/>
              <a:gd name="connsiteX6" fmla="*/ 0 w 9523"/>
              <a:gd name="connsiteY6" fmla="*/ 5049 h 10000"/>
              <a:gd name="connsiteX0" fmla="*/ 0 w 10409"/>
              <a:gd name="connsiteY0" fmla="*/ 4901 h 10000"/>
              <a:gd name="connsiteX1" fmla="*/ 2008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463 w 10409"/>
              <a:gd name="connsiteY5" fmla="*/ 9951 h 10000"/>
              <a:gd name="connsiteX6" fmla="*/ 0 w 10409"/>
              <a:gd name="connsiteY6" fmla="*/ 4901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99 w 10545"/>
              <a:gd name="connsiteY5" fmla="*/ 9951 h 10000"/>
              <a:gd name="connsiteX6" fmla="*/ 0 w 10545"/>
              <a:gd name="connsiteY6" fmla="*/ 4883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82 w 10545"/>
              <a:gd name="connsiteY5" fmla="*/ 9840 h 10000"/>
              <a:gd name="connsiteX6" fmla="*/ 0 w 10545"/>
              <a:gd name="connsiteY6" fmla="*/ 4883 h 10000"/>
              <a:gd name="connsiteX0" fmla="*/ 0 w 10545"/>
              <a:gd name="connsiteY0" fmla="*/ 4883 h 9840"/>
              <a:gd name="connsiteX1" fmla="*/ 2599 w 10545"/>
              <a:gd name="connsiteY1" fmla="*/ 0 h 9840"/>
              <a:gd name="connsiteX2" fmla="*/ 8445 w 10545"/>
              <a:gd name="connsiteY2" fmla="*/ 0 h 9840"/>
              <a:gd name="connsiteX3" fmla="*/ 10545 w 10545"/>
              <a:gd name="connsiteY3" fmla="*/ 5000 h 9840"/>
              <a:gd name="connsiteX4" fmla="*/ 7899 w 10545"/>
              <a:gd name="connsiteY4" fmla="*/ 9815 h 9840"/>
              <a:gd name="connsiteX5" fmla="*/ 2582 w 10545"/>
              <a:gd name="connsiteY5" fmla="*/ 9840 h 9840"/>
              <a:gd name="connsiteX6" fmla="*/ 0 w 10545"/>
              <a:gd name="connsiteY6" fmla="*/ 4883 h 9840"/>
              <a:gd name="connsiteX0" fmla="*/ 0 w 10000"/>
              <a:gd name="connsiteY0" fmla="*/ 4962 h 10000"/>
              <a:gd name="connsiteX1" fmla="*/ 2465 w 10000"/>
              <a:gd name="connsiteY1" fmla="*/ 0 h 10000"/>
              <a:gd name="connsiteX2" fmla="*/ 8009 w 10000"/>
              <a:gd name="connsiteY2" fmla="*/ 0 h 10000"/>
              <a:gd name="connsiteX3" fmla="*/ 10000 w 10000"/>
              <a:gd name="connsiteY3" fmla="*/ 4950 h 10000"/>
              <a:gd name="connsiteX4" fmla="*/ 7491 w 10000"/>
              <a:gd name="connsiteY4" fmla="*/ 9975 h 10000"/>
              <a:gd name="connsiteX5" fmla="*/ 2449 w 10000"/>
              <a:gd name="connsiteY5" fmla="*/ 10000 h 10000"/>
              <a:gd name="connsiteX6" fmla="*/ 0 w 10000"/>
              <a:gd name="connsiteY6" fmla="*/ 4962 h 10000"/>
              <a:gd name="connsiteX0" fmla="*/ 0 w 10000"/>
              <a:gd name="connsiteY0" fmla="*/ 5000 h 10038"/>
              <a:gd name="connsiteX1" fmla="*/ 2465 w 10000"/>
              <a:gd name="connsiteY1" fmla="*/ 38 h 10038"/>
              <a:gd name="connsiteX2" fmla="*/ 7524 w 10000"/>
              <a:gd name="connsiteY2" fmla="*/ 0 h 10038"/>
              <a:gd name="connsiteX3" fmla="*/ 10000 w 10000"/>
              <a:gd name="connsiteY3" fmla="*/ 4988 h 10038"/>
              <a:gd name="connsiteX4" fmla="*/ 7491 w 10000"/>
              <a:gd name="connsiteY4" fmla="*/ 10013 h 10038"/>
              <a:gd name="connsiteX5" fmla="*/ 2449 w 10000"/>
              <a:gd name="connsiteY5" fmla="*/ 10038 h 10038"/>
              <a:gd name="connsiteX6" fmla="*/ 0 w 10000"/>
              <a:gd name="connsiteY6" fmla="*/ 5000 h 10038"/>
              <a:gd name="connsiteX0" fmla="*/ 0 w 10000"/>
              <a:gd name="connsiteY0" fmla="*/ 5056 h 10094"/>
              <a:gd name="connsiteX1" fmla="*/ 2449 w 10000"/>
              <a:gd name="connsiteY1" fmla="*/ 0 h 10094"/>
              <a:gd name="connsiteX2" fmla="*/ 7524 w 10000"/>
              <a:gd name="connsiteY2" fmla="*/ 56 h 10094"/>
              <a:gd name="connsiteX3" fmla="*/ 10000 w 10000"/>
              <a:gd name="connsiteY3" fmla="*/ 5044 h 10094"/>
              <a:gd name="connsiteX4" fmla="*/ 7491 w 10000"/>
              <a:gd name="connsiteY4" fmla="*/ 10069 h 10094"/>
              <a:gd name="connsiteX5" fmla="*/ 2449 w 10000"/>
              <a:gd name="connsiteY5" fmla="*/ 10094 h 10094"/>
              <a:gd name="connsiteX6" fmla="*/ 0 w 10000"/>
              <a:gd name="connsiteY6" fmla="*/ 5056 h 10094"/>
              <a:gd name="connsiteX0" fmla="*/ 0 w 9951"/>
              <a:gd name="connsiteY0" fmla="*/ 5056 h 10094"/>
              <a:gd name="connsiteX1" fmla="*/ 2449 w 9951"/>
              <a:gd name="connsiteY1" fmla="*/ 0 h 10094"/>
              <a:gd name="connsiteX2" fmla="*/ 7524 w 9951"/>
              <a:gd name="connsiteY2" fmla="*/ 56 h 10094"/>
              <a:gd name="connsiteX3" fmla="*/ 9951 w 9951"/>
              <a:gd name="connsiteY3" fmla="*/ 5044 h 10094"/>
              <a:gd name="connsiteX4" fmla="*/ 7491 w 9951"/>
              <a:gd name="connsiteY4" fmla="*/ 10069 h 10094"/>
              <a:gd name="connsiteX5" fmla="*/ 2449 w 9951"/>
              <a:gd name="connsiteY5" fmla="*/ 10094 h 10094"/>
              <a:gd name="connsiteX6" fmla="*/ 0 w 9951"/>
              <a:gd name="connsiteY6" fmla="*/ 5056 h 10094"/>
              <a:gd name="connsiteX0" fmla="*/ 0 w 10000"/>
              <a:gd name="connsiteY0" fmla="*/ 4990 h 9981"/>
              <a:gd name="connsiteX1" fmla="*/ 2461 w 10000"/>
              <a:gd name="connsiteY1" fmla="*/ 0 h 9981"/>
              <a:gd name="connsiteX2" fmla="*/ 7561 w 10000"/>
              <a:gd name="connsiteY2" fmla="*/ 36 h 9981"/>
              <a:gd name="connsiteX3" fmla="*/ 10000 w 10000"/>
              <a:gd name="connsiteY3" fmla="*/ 4978 h 9981"/>
              <a:gd name="connsiteX4" fmla="*/ 7528 w 10000"/>
              <a:gd name="connsiteY4" fmla="*/ 9956 h 9981"/>
              <a:gd name="connsiteX5" fmla="*/ 2461 w 10000"/>
              <a:gd name="connsiteY5" fmla="*/ 9981 h 9981"/>
              <a:gd name="connsiteX6" fmla="*/ 0 w 10000"/>
              <a:gd name="connsiteY6" fmla="*/ 4990 h 9981"/>
              <a:gd name="connsiteX0" fmla="*/ 0 w 10000"/>
              <a:gd name="connsiteY0" fmla="*/ 5000 h 10001"/>
              <a:gd name="connsiteX1" fmla="*/ 2461 w 10000"/>
              <a:gd name="connsiteY1" fmla="*/ 1 h 10001"/>
              <a:gd name="connsiteX2" fmla="*/ 7561 w 10000"/>
              <a:gd name="connsiteY2" fmla="*/ 0 h 10001"/>
              <a:gd name="connsiteX3" fmla="*/ 10000 w 10000"/>
              <a:gd name="connsiteY3" fmla="*/ 4988 h 10001"/>
              <a:gd name="connsiteX4" fmla="*/ 7528 w 10000"/>
              <a:gd name="connsiteY4" fmla="*/ 9976 h 10001"/>
              <a:gd name="connsiteX5" fmla="*/ 2461 w 10000"/>
              <a:gd name="connsiteY5" fmla="*/ 10001 h 10001"/>
              <a:gd name="connsiteX6" fmla="*/ 0 w 10000"/>
              <a:gd name="connsiteY6" fmla="*/ 5000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1">
                <a:moveTo>
                  <a:pt x="0" y="5000"/>
                </a:moveTo>
                <a:lnTo>
                  <a:pt x="2461" y="1"/>
                </a:lnTo>
                <a:lnTo>
                  <a:pt x="7561" y="0"/>
                </a:lnTo>
                <a:lnTo>
                  <a:pt x="10000" y="4988"/>
                </a:lnTo>
                <a:lnTo>
                  <a:pt x="7528" y="9976"/>
                </a:lnTo>
                <a:lnTo>
                  <a:pt x="2461" y="10001"/>
                </a:lnTo>
                <a:lnTo>
                  <a:pt x="0" y="5000"/>
                </a:lnTo>
                <a:close/>
              </a:path>
            </a:pathLst>
          </a:custGeom>
          <a:solidFill>
            <a:srgbClr val="7FB793"/>
          </a:solidFill>
          <a:ln>
            <a:solidFill>
              <a:srgbClr val="7FB79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Preparation 1">
            <a:extLst>
              <a:ext uri="{FF2B5EF4-FFF2-40B4-BE49-F238E27FC236}">
                <a16:creationId xmlns:a16="http://schemas.microsoft.com/office/drawing/2014/main" id="{D2373485-6F36-CBE4-5A7F-933119A666AE}"/>
              </a:ext>
            </a:extLst>
          </p:cNvPr>
          <p:cNvSpPr/>
          <p:nvPr/>
        </p:nvSpPr>
        <p:spPr>
          <a:xfrm>
            <a:off x="1575023" y="3175528"/>
            <a:ext cx="1464783" cy="1275189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9523"/>
              <a:gd name="connsiteY0" fmla="*/ 5049 h 10000"/>
              <a:gd name="connsiteX1" fmla="*/ 1523 w 9523"/>
              <a:gd name="connsiteY1" fmla="*/ 0 h 10000"/>
              <a:gd name="connsiteX2" fmla="*/ 7523 w 9523"/>
              <a:gd name="connsiteY2" fmla="*/ 0 h 10000"/>
              <a:gd name="connsiteX3" fmla="*/ 9523 w 9523"/>
              <a:gd name="connsiteY3" fmla="*/ 5000 h 10000"/>
              <a:gd name="connsiteX4" fmla="*/ 7523 w 9523"/>
              <a:gd name="connsiteY4" fmla="*/ 10000 h 10000"/>
              <a:gd name="connsiteX5" fmla="*/ 1523 w 9523"/>
              <a:gd name="connsiteY5" fmla="*/ 10000 h 10000"/>
              <a:gd name="connsiteX6" fmla="*/ 0 w 9523"/>
              <a:gd name="connsiteY6" fmla="*/ 5049 h 10000"/>
              <a:gd name="connsiteX0" fmla="*/ 0 w 10409"/>
              <a:gd name="connsiteY0" fmla="*/ 4901 h 10000"/>
              <a:gd name="connsiteX1" fmla="*/ 2008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463 w 10409"/>
              <a:gd name="connsiteY5" fmla="*/ 9951 h 10000"/>
              <a:gd name="connsiteX6" fmla="*/ 0 w 10409"/>
              <a:gd name="connsiteY6" fmla="*/ 4901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99 w 10545"/>
              <a:gd name="connsiteY5" fmla="*/ 9951 h 10000"/>
              <a:gd name="connsiteX6" fmla="*/ 0 w 10545"/>
              <a:gd name="connsiteY6" fmla="*/ 4883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82 w 10545"/>
              <a:gd name="connsiteY5" fmla="*/ 9840 h 10000"/>
              <a:gd name="connsiteX6" fmla="*/ 0 w 10545"/>
              <a:gd name="connsiteY6" fmla="*/ 4883 h 10000"/>
              <a:gd name="connsiteX0" fmla="*/ 0 w 10545"/>
              <a:gd name="connsiteY0" fmla="*/ 4883 h 9840"/>
              <a:gd name="connsiteX1" fmla="*/ 2599 w 10545"/>
              <a:gd name="connsiteY1" fmla="*/ 0 h 9840"/>
              <a:gd name="connsiteX2" fmla="*/ 8445 w 10545"/>
              <a:gd name="connsiteY2" fmla="*/ 0 h 9840"/>
              <a:gd name="connsiteX3" fmla="*/ 10545 w 10545"/>
              <a:gd name="connsiteY3" fmla="*/ 5000 h 9840"/>
              <a:gd name="connsiteX4" fmla="*/ 7899 w 10545"/>
              <a:gd name="connsiteY4" fmla="*/ 9815 h 9840"/>
              <a:gd name="connsiteX5" fmla="*/ 2582 w 10545"/>
              <a:gd name="connsiteY5" fmla="*/ 9840 h 9840"/>
              <a:gd name="connsiteX6" fmla="*/ 0 w 10545"/>
              <a:gd name="connsiteY6" fmla="*/ 4883 h 9840"/>
              <a:gd name="connsiteX0" fmla="*/ 0 w 10000"/>
              <a:gd name="connsiteY0" fmla="*/ 4962 h 10000"/>
              <a:gd name="connsiteX1" fmla="*/ 2465 w 10000"/>
              <a:gd name="connsiteY1" fmla="*/ 0 h 10000"/>
              <a:gd name="connsiteX2" fmla="*/ 8009 w 10000"/>
              <a:gd name="connsiteY2" fmla="*/ 0 h 10000"/>
              <a:gd name="connsiteX3" fmla="*/ 10000 w 10000"/>
              <a:gd name="connsiteY3" fmla="*/ 4950 h 10000"/>
              <a:gd name="connsiteX4" fmla="*/ 7491 w 10000"/>
              <a:gd name="connsiteY4" fmla="*/ 9975 h 10000"/>
              <a:gd name="connsiteX5" fmla="*/ 2449 w 10000"/>
              <a:gd name="connsiteY5" fmla="*/ 10000 h 10000"/>
              <a:gd name="connsiteX6" fmla="*/ 0 w 10000"/>
              <a:gd name="connsiteY6" fmla="*/ 4962 h 10000"/>
              <a:gd name="connsiteX0" fmla="*/ 0 w 10000"/>
              <a:gd name="connsiteY0" fmla="*/ 5000 h 10038"/>
              <a:gd name="connsiteX1" fmla="*/ 2465 w 10000"/>
              <a:gd name="connsiteY1" fmla="*/ 38 h 10038"/>
              <a:gd name="connsiteX2" fmla="*/ 7524 w 10000"/>
              <a:gd name="connsiteY2" fmla="*/ 0 h 10038"/>
              <a:gd name="connsiteX3" fmla="*/ 10000 w 10000"/>
              <a:gd name="connsiteY3" fmla="*/ 4988 h 10038"/>
              <a:gd name="connsiteX4" fmla="*/ 7491 w 10000"/>
              <a:gd name="connsiteY4" fmla="*/ 10013 h 10038"/>
              <a:gd name="connsiteX5" fmla="*/ 2449 w 10000"/>
              <a:gd name="connsiteY5" fmla="*/ 10038 h 10038"/>
              <a:gd name="connsiteX6" fmla="*/ 0 w 10000"/>
              <a:gd name="connsiteY6" fmla="*/ 5000 h 10038"/>
              <a:gd name="connsiteX0" fmla="*/ 0 w 10000"/>
              <a:gd name="connsiteY0" fmla="*/ 5056 h 10094"/>
              <a:gd name="connsiteX1" fmla="*/ 2449 w 10000"/>
              <a:gd name="connsiteY1" fmla="*/ 0 h 10094"/>
              <a:gd name="connsiteX2" fmla="*/ 7524 w 10000"/>
              <a:gd name="connsiteY2" fmla="*/ 56 h 10094"/>
              <a:gd name="connsiteX3" fmla="*/ 10000 w 10000"/>
              <a:gd name="connsiteY3" fmla="*/ 5044 h 10094"/>
              <a:gd name="connsiteX4" fmla="*/ 7491 w 10000"/>
              <a:gd name="connsiteY4" fmla="*/ 10069 h 10094"/>
              <a:gd name="connsiteX5" fmla="*/ 2449 w 10000"/>
              <a:gd name="connsiteY5" fmla="*/ 10094 h 10094"/>
              <a:gd name="connsiteX6" fmla="*/ 0 w 10000"/>
              <a:gd name="connsiteY6" fmla="*/ 5056 h 10094"/>
              <a:gd name="connsiteX0" fmla="*/ 0 w 9951"/>
              <a:gd name="connsiteY0" fmla="*/ 5056 h 10094"/>
              <a:gd name="connsiteX1" fmla="*/ 2449 w 9951"/>
              <a:gd name="connsiteY1" fmla="*/ 0 h 10094"/>
              <a:gd name="connsiteX2" fmla="*/ 7524 w 9951"/>
              <a:gd name="connsiteY2" fmla="*/ 56 h 10094"/>
              <a:gd name="connsiteX3" fmla="*/ 9951 w 9951"/>
              <a:gd name="connsiteY3" fmla="*/ 5044 h 10094"/>
              <a:gd name="connsiteX4" fmla="*/ 7491 w 9951"/>
              <a:gd name="connsiteY4" fmla="*/ 10069 h 10094"/>
              <a:gd name="connsiteX5" fmla="*/ 2449 w 9951"/>
              <a:gd name="connsiteY5" fmla="*/ 10094 h 10094"/>
              <a:gd name="connsiteX6" fmla="*/ 0 w 9951"/>
              <a:gd name="connsiteY6" fmla="*/ 5056 h 10094"/>
              <a:gd name="connsiteX0" fmla="*/ 0 w 10000"/>
              <a:gd name="connsiteY0" fmla="*/ 4990 h 9981"/>
              <a:gd name="connsiteX1" fmla="*/ 2461 w 10000"/>
              <a:gd name="connsiteY1" fmla="*/ 0 h 9981"/>
              <a:gd name="connsiteX2" fmla="*/ 7561 w 10000"/>
              <a:gd name="connsiteY2" fmla="*/ 36 h 9981"/>
              <a:gd name="connsiteX3" fmla="*/ 10000 w 10000"/>
              <a:gd name="connsiteY3" fmla="*/ 4978 h 9981"/>
              <a:gd name="connsiteX4" fmla="*/ 7528 w 10000"/>
              <a:gd name="connsiteY4" fmla="*/ 9956 h 9981"/>
              <a:gd name="connsiteX5" fmla="*/ 2461 w 10000"/>
              <a:gd name="connsiteY5" fmla="*/ 9981 h 9981"/>
              <a:gd name="connsiteX6" fmla="*/ 0 w 10000"/>
              <a:gd name="connsiteY6" fmla="*/ 4990 h 9981"/>
              <a:gd name="connsiteX0" fmla="*/ 0 w 10000"/>
              <a:gd name="connsiteY0" fmla="*/ 5000 h 10001"/>
              <a:gd name="connsiteX1" fmla="*/ 2461 w 10000"/>
              <a:gd name="connsiteY1" fmla="*/ 1 h 10001"/>
              <a:gd name="connsiteX2" fmla="*/ 7561 w 10000"/>
              <a:gd name="connsiteY2" fmla="*/ 0 h 10001"/>
              <a:gd name="connsiteX3" fmla="*/ 10000 w 10000"/>
              <a:gd name="connsiteY3" fmla="*/ 4988 h 10001"/>
              <a:gd name="connsiteX4" fmla="*/ 7528 w 10000"/>
              <a:gd name="connsiteY4" fmla="*/ 9976 h 10001"/>
              <a:gd name="connsiteX5" fmla="*/ 2461 w 10000"/>
              <a:gd name="connsiteY5" fmla="*/ 10001 h 10001"/>
              <a:gd name="connsiteX6" fmla="*/ 0 w 10000"/>
              <a:gd name="connsiteY6" fmla="*/ 5000 h 10001"/>
              <a:gd name="connsiteX0" fmla="*/ 0 w 10000"/>
              <a:gd name="connsiteY0" fmla="*/ 5000 h 9976"/>
              <a:gd name="connsiteX1" fmla="*/ 2461 w 10000"/>
              <a:gd name="connsiteY1" fmla="*/ 1 h 9976"/>
              <a:gd name="connsiteX2" fmla="*/ 7561 w 10000"/>
              <a:gd name="connsiteY2" fmla="*/ 0 h 9976"/>
              <a:gd name="connsiteX3" fmla="*/ 10000 w 10000"/>
              <a:gd name="connsiteY3" fmla="*/ 4988 h 9976"/>
              <a:gd name="connsiteX4" fmla="*/ 7528 w 10000"/>
              <a:gd name="connsiteY4" fmla="*/ 9976 h 9976"/>
              <a:gd name="connsiteX5" fmla="*/ 2526 w 10000"/>
              <a:gd name="connsiteY5" fmla="*/ 9976 h 9976"/>
              <a:gd name="connsiteX6" fmla="*/ 0 w 10000"/>
              <a:gd name="connsiteY6" fmla="*/ 5000 h 9976"/>
              <a:gd name="connsiteX0" fmla="*/ 0 w 10000"/>
              <a:gd name="connsiteY0" fmla="*/ 5012 h 10000"/>
              <a:gd name="connsiteX1" fmla="*/ 2461 w 10000"/>
              <a:gd name="connsiteY1" fmla="*/ 1 h 10000"/>
              <a:gd name="connsiteX2" fmla="*/ 7496 w 10000"/>
              <a:gd name="connsiteY2" fmla="*/ 0 h 10000"/>
              <a:gd name="connsiteX3" fmla="*/ 10000 w 10000"/>
              <a:gd name="connsiteY3" fmla="*/ 5000 h 10000"/>
              <a:gd name="connsiteX4" fmla="*/ 7528 w 10000"/>
              <a:gd name="connsiteY4" fmla="*/ 10000 h 10000"/>
              <a:gd name="connsiteX5" fmla="*/ 2526 w 10000"/>
              <a:gd name="connsiteY5" fmla="*/ 10000 h 10000"/>
              <a:gd name="connsiteX6" fmla="*/ 0 w 10000"/>
              <a:gd name="connsiteY6" fmla="*/ 5012 h 10000"/>
              <a:gd name="connsiteX0" fmla="*/ 0 w 10000"/>
              <a:gd name="connsiteY0" fmla="*/ 5012 h 10000"/>
              <a:gd name="connsiteX1" fmla="*/ 2526 w 10000"/>
              <a:gd name="connsiteY1" fmla="*/ 1 h 10000"/>
              <a:gd name="connsiteX2" fmla="*/ 7496 w 10000"/>
              <a:gd name="connsiteY2" fmla="*/ 0 h 10000"/>
              <a:gd name="connsiteX3" fmla="*/ 10000 w 10000"/>
              <a:gd name="connsiteY3" fmla="*/ 5000 h 10000"/>
              <a:gd name="connsiteX4" fmla="*/ 7528 w 10000"/>
              <a:gd name="connsiteY4" fmla="*/ 10000 h 10000"/>
              <a:gd name="connsiteX5" fmla="*/ 2526 w 10000"/>
              <a:gd name="connsiteY5" fmla="*/ 10000 h 10000"/>
              <a:gd name="connsiteX6" fmla="*/ 0 w 10000"/>
              <a:gd name="connsiteY6" fmla="*/ 501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0" y="5012"/>
                </a:moveTo>
                <a:lnTo>
                  <a:pt x="2526" y="1"/>
                </a:lnTo>
                <a:lnTo>
                  <a:pt x="7496" y="0"/>
                </a:lnTo>
                <a:lnTo>
                  <a:pt x="10000" y="5000"/>
                </a:lnTo>
                <a:lnTo>
                  <a:pt x="7528" y="10000"/>
                </a:lnTo>
                <a:lnTo>
                  <a:pt x="2526" y="10000"/>
                </a:lnTo>
                <a:lnTo>
                  <a:pt x="0" y="5012"/>
                </a:lnTo>
                <a:close/>
              </a:path>
            </a:pathLst>
          </a:custGeom>
          <a:noFill/>
          <a:ln w="28575">
            <a:solidFill>
              <a:srgbClr val="7FB79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2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3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4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5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6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7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8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9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10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9D1F660-49A5-E847-97EA-A216F5773A95}">
  <we:reference id="be13a235-7700-1110-ffca-78847a5a99ab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E0D8C9A-C895-482B-B501-694996FFDE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11997D-2559-4D54-8469-327570B187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4AD51DF-C727-4608-B606-5D6C957D4C4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807</Words>
  <Application>Microsoft Office PowerPoint</Application>
  <PresentationFormat>Widescreen</PresentationFormat>
  <Paragraphs>174</Paragraphs>
  <Slides>14</Slides>
  <Notes>14</Notes>
  <HiddenSlides>3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等线</vt:lpstr>
      <vt:lpstr>微软雅黑</vt:lpstr>
      <vt:lpstr>Abadi</vt:lpstr>
      <vt:lpstr>Aptos</vt:lpstr>
      <vt:lpstr>Aptos Display</vt:lpstr>
      <vt:lpstr>Arial</vt:lpstr>
      <vt:lpstr>Barlow</vt:lpstr>
      <vt:lpstr>Calibri</vt:lpstr>
      <vt:lpstr>Century Gothic</vt:lpstr>
      <vt:lpstr>Posterama</vt:lpstr>
      <vt:lpstr>Posterama Text Black</vt:lpstr>
      <vt:lpstr>Posterama Text SemiBold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Drive your transformation vision</vt:lpstr>
      <vt:lpstr>Deliver the Right Work at the Right Time</vt:lpstr>
      <vt:lpstr>Maintain the Integrity of Your ServiceNow  Implementation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2023-09-14T06:03:51Z</dcterms:created>
  <dcterms:modified xsi:type="dcterms:W3CDTF">2025-03-04T12:29:59Z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a7295cc1-d279-42ac-ab4d-3b0f4fece050_Enabled">
    <vt:lpwstr>true</vt:lpwstr>
  </property>
  <property fmtid="{D5CDD505-2E9C-101B-9397-08002B2CF9AE}" pid="5" name="MSIP_Label_a7295cc1-d279-42ac-ab4d-3b0f4fece050_SetDate">
    <vt:lpwstr>2025-02-11T09:30:08Z</vt:lpwstr>
  </property>
  <property fmtid="{D5CDD505-2E9C-101B-9397-08002B2CF9AE}" pid="6" name="MSIP_Label_a7295cc1-d279-42ac-ab4d-3b0f4fece050_Method">
    <vt:lpwstr>Standard</vt:lpwstr>
  </property>
  <property fmtid="{D5CDD505-2E9C-101B-9397-08002B2CF9AE}" pid="7" name="MSIP_Label_a7295cc1-d279-42ac-ab4d-3b0f4fece050_Name">
    <vt:lpwstr>FUJITSU-RESTRICTED​</vt:lpwstr>
  </property>
  <property fmtid="{D5CDD505-2E9C-101B-9397-08002B2CF9AE}" pid="8" name="MSIP_Label_a7295cc1-d279-42ac-ab4d-3b0f4fece050_SiteId">
    <vt:lpwstr>a19f121d-81e1-4858-a9d8-736e267fd4c7</vt:lpwstr>
  </property>
  <property fmtid="{D5CDD505-2E9C-101B-9397-08002B2CF9AE}" pid="9" name="MSIP_Label_a7295cc1-d279-42ac-ab4d-3b0f4fece050_ActionId">
    <vt:lpwstr>95278961-6634-494c-b22a-8a8e584a4a75</vt:lpwstr>
  </property>
  <property fmtid="{D5CDD505-2E9C-101B-9397-08002B2CF9AE}" pid="10" name="MSIP_Label_a7295cc1-d279-42ac-ab4d-3b0f4fece050_ContentBits">
    <vt:lpwstr>0</vt:lpwstr>
  </property>
</Properties>
</file>