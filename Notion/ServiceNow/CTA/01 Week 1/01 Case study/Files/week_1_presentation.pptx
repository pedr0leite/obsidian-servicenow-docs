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2" r:id="rId5"/>
    <p:sldId id="302" r:id="rId6"/>
    <p:sldId id="275" r:id="rId7"/>
    <p:sldId id="283" r:id="rId8"/>
    <p:sldId id="295" r:id="rId9"/>
    <p:sldId id="298" r:id="rId10"/>
    <p:sldId id="303" r:id="rId11"/>
    <p:sldId id="299" r:id="rId12"/>
    <p:sldId id="300" r:id="rId13"/>
    <p:sldId id="301" r:id="rId14"/>
    <p:sldId id="28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6F5"/>
    <a:srgbClr val="F6F4F3"/>
    <a:srgbClr val="F7F5F4"/>
    <a:srgbClr val="DCD3CC"/>
    <a:srgbClr val="446992"/>
    <a:srgbClr val="AEC2D8"/>
    <a:srgbClr val="98432A"/>
    <a:srgbClr val="D84400"/>
    <a:srgbClr val="44678D"/>
    <a:srgbClr val="263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8F4F1B-943D-4DF2-BCF0-E0BD8A86DE76}" v="662" dt="2025-02-14T11:35:34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04" autoAdjust="0"/>
    <p:restoredTop sz="40904" autoAdjust="0"/>
  </p:normalViewPr>
  <p:slideViewPr>
    <p:cSldViewPr snapToGrid="0" showGuides="1">
      <p:cViewPr varScale="1">
        <p:scale>
          <a:sx n="39" d="100"/>
          <a:sy n="39" d="100"/>
        </p:scale>
        <p:origin x="2213" y="43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ED2950FC-64C0-50D7-5101-884A13ED2F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CEA88831-A930-596B-0685-672024BE2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A3FD0A0-F4FB-BC20-358F-C4F179AA89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D389891-233D-6282-224F-6B8EC0182D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61DD8-56E8-44DB-8D68-9188DEA50502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F2A2D99A-04B6-3AD9-B6DA-EEE29FB0D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EF4F81C-C1F0-7738-A271-96AF417D7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4C781-2765-427A-A960-385CE0D0C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sz="1600" dirty="0"/>
              <a:t>Hello, my name is Pedro Leite, it’s a pleasure to be here representing </a:t>
            </a:r>
            <a:r>
              <a:rPr lang="en-US" sz="1600" dirty="0" err="1"/>
              <a:t>ServiceWow</a:t>
            </a:r>
            <a:r>
              <a:rPr lang="en-US" sz="1600" dirty="0"/>
              <a:t>, bringing solutions for all the challenges that Sovereign Bank might face with ServiceNow.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14797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are the other members of </a:t>
            </a:r>
            <a:r>
              <a:rPr lang="en-US" dirty="0" err="1"/>
              <a:t>ServiceWow</a:t>
            </a:r>
            <a:r>
              <a:rPr lang="en-US" dirty="0"/>
              <a:t>, you will have the pleasure of meeting them all in the next couple of weeks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06191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pt-PT" dirty="0"/>
              <a:t>We have more </a:t>
            </a:r>
            <a:r>
              <a:rPr lang="pt-PT"/>
              <a:t>than 40 </a:t>
            </a:r>
            <a:r>
              <a:rPr lang="pt-PT" dirty="0"/>
              <a:t>years combine of experience</a:t>
            </a:r>
          </a:p>
          <a:p>
            <a:r>
              <a:rPr lang="pt-PT" dirty="0"/>
              <a:t>We are a multi-language team</a:t>
            </a:r>
          </a:p>
          <a:p>
            <a:r>
              <a:rPr lang="pt-PT" dirty="0"/>
              <a:t>We have more than 20 certificates combined in many different modules</a:t>
            </a:r>
          </a:p>
          <a:p>
            <a:r>
              <a:rPr lang="pt-PT" dirty="0"/>
              <a:t>Such as ITSM, IRM, SecOps, SPM, Integrations, CSM, FSM, ITSM, HR, SAM</a:t>
            </a:r>
          </a:p>
          <a:p>
            <a:r>
              <a:rPr lang="pt-PT" dirty="0"/>
              <a:t>And we worked with clients from multiple backgrounds such as....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64722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Regulatory Compliance</a:t>
            </a:r>
          </a:p>
          <a:p>
            <a:r>
              <a:rPr lang="en-US" dirty="0"/>
              <a:t>Data Security and Privacy</a:t>
            </a:r>
          </a:p>
          <a:p>
            <a:r>
              <a:rPr lang="en-US" dirty="0"/>
              <a:t>Integration</a:t>
            </a:r>
          </a:p>
          <a:p>
            <a:r>
              <a:rPr lang="en-US" dirty="0"/>
              <a:t>Data Migration and Integrity</a:t>
            </a:r>
          </a:p>
          <a:p>
            <a:r>
              <a:rPr lang="en-US" altLang="zh-CN" sz="1200" dirty="0"/>
              <a:t>Organizational Change Management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Complexity and Scale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91236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(Introductory topic text)</a:t>
            </a:r>
          </a:p>
          <a:p>
            <a:r>
              <a:rPr lang="en-US" dirty="0"/>
              <a:t>Regulatory compliance is crucial for banks as it ensures they operate within legal frameworks, </a:t>
            </a:r>
          </a:p>
          <a:p>
            <a:r>
              <a:rPr lang="en-US" dirty="0"/>
              <a:t>avoid financial penalties, </a:t>
            </a:r>
          </a:p>
          <a:p>
            <a:r>
              <a:rPr lang="en-US" dirty="0"/>
              <a:t>maintain customer trust, </a:t>
            </a:r>
          </a:p>
          <a:p>
            <a:r>
              <a:rPr lang="en-US" dirty="0"/>
              <a:t>and protect the integrity of the financial system.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(Bullet points on the slide)</a:t>
            </a:r>
          </a:p>
          <a:p>
            <a:r>
              <a:rPr lang="en-US" dirty="0"/>
              <a:t>We can achieve that by offering the possibility of Compliance with all relevant regulations (e.g. GDPR, PCI, CSS) in the same platform.</a:t>
            </a:r>
          </a:p>
          <a:p>
            <a:r>
              <a:rPr lang="en-US" dirty="0"/>
              <a:t>We can also use risk assessment tools to manage compliance risks </a:t>
            </a:r>
          </a:p>
          <a:p>
            <a:r>
              <a:rPr lang="en-US" dirty="0"/>
              <a:t>And with the implementation of role-based access controls, </a:t>
            </a:r>
          </a:p>
          <a:p>
            <a:r>
              <a:rPr lang="en-US" dirty="0"/>
              <a:t>we can prevent users or groups from accessing sensitive data.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(Introductory topic text)</a:t>
            </a:r>
          </a:p>
          <a:p>
            <a:r>
              <a:rPr lang="en-US" dirty="0"/>
              <a:t>To safeguard Personally Identifiable Information such as Social Security Numbers, </a:t>
            </a:r>
          </a:p>
          <a:p>
            <a:r>
              <a:rPr lang="en-US" dirty="0"/>
              <a:t>financial transactions, </a:t>
            </a:r>
          </a:p>
          <a:p>
            <a:r>
              <a:rPr lang="en-US" dirty="0"/>
              <a:t>and HR data, </a:t>
            </a:r>
          </a:p>
          <a:p>
            <a:r>
              <a:rPr lang="en-US" dirty="0"/>
              <a:t>Sovereign Bank must navigate cross-border data sharing restrictions imposed by government regulatory compliance </a:t>
            </a:r>
          </a:p>
          <a:p>
            <a:r>
              <a:rPr lang="en-US" dirty="0"/>
              <a:t>while mitigating cybersecurity risks across its on-premise, hybrid, and cloud environments.</a:t>
            </a:r>
          </a:p>
          <a:p>
            <a:endParaRPr lang="en-US" dirty="0"/>
          </a:p>
          <a:p>
            <a:r>
              <a:rPr lang="en-US" b="1" dirty="0"/>
              <a:t>(Bullet points on the slide)</a:t>
            </a:r>
          </a:p>
          <a:p>
            <a:r>
              <a:rPr lang="en-US" b="0" dirty="0"/>
              <a:t>Our company can </a:t>
            </a:r>
            <a:r>
              <a:rPr lang="en-US" dirty="0"/>
              <a:t>reinforce</a:t>
            </a:r>
            <a:r>
              <a:rPr lang="en-US" b="0" dirty="0"/>
              <a:t> </a:t>
            </a:r>
            <a:r>
              <a:rPr lang="en-US" dirty="0"/>
              <a:t>security by enforcing Role-Based Access Controls, ensuring only authorized people access sensitive information. </a:t>
            </a:r>
          </a:p>
          <a:p>
            <a:r>
              <a:rPr lang="en-US" dirty="0"/>
              <a:t>Use Field-Level Encryption to protects critical data while maintaining usability, </a:t>
            </a:r>
          </a:p>
          <a:p>
            <a:r>
              <a:rPr lang="en-US" dirty="0"/>
              <a:t>and Multi-Factor Authentication with Single Sign-On to enhance secure access across systems.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Also, Data in the development instances must be anonymized so they wont be exposed.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These capabilities help Sovereign Bank mitigate risks and maintain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57049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(Introductory topic text)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Sovereign Bank can utilize ServiceNow third party system integration capabilities while navigating firewall restrictions,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security constraints,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authentication challenges.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(Bullet points on the slide) </a:t>
            </a:r>
          </a:p>
          <a:p>
            <a:r>
              <a:rPr lang="en-US" dirty="0"/>
              <a:t>Our team can simplify integrations security by enforcing OAuth 2.0 or mutual authentication for secure communication, </a:t>
            </a:r>
          </a:p>
          <a:p>
            <a:r>
              <a:rPr lang="en-US" dirty="0"/>
              <a:t>It can use MID Servers to enable secure on-premise connectivity</a:t>
            </a:r>
            <a:br>
              <a:rPr lang="en-US" dirty="0"/>
            </a:b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MID Server securely connects ServiceNow with external systems, enabling smooth data flow without exposing sensitive information.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The platform allows multiple ways of integrating with it such as </a:t>
            </a:r>
            <a:r>
              <a:rPr lang="en-US" sz="1200" dirty="0"/>
              <a:t>by Email, Webservice (REST and SOAP), FTPs, JDBC.</a:t>
            </a:r>
            <a:endParaRPr lang="en-US" b="0" dirty="0"/>
          </a:p>
          <a:p>
            <a:endParaRPr lang="en-US" dirty="0"/>
          </a:p>
          <a:p>
            <a:r>
              <a:rPr lang="en-US" dirty="0"/>
              <a:t>These solutions ensure interoperability while maintaining compliance and security.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4435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(Introductory topic text)</a:t>
            </a:r>
            <a:br>
              <a:rPr lang="en-US" dirty="0"/>
            </a:br>
            <a:r>
              <a:rPr lang="en-US" dirty="0"/>
              <a:t>Sovereign Bank must consolidate and validate data from legacy systems </a:t>
            </a:r>
          </a:p>
          <a:p>
            <a:r>
              <a:rPr lang="en-US" dirty="0"/>
              <a:t>to ensure accuracy and prevent loss during migration to ServiceNow.</a:t>
            </a:r>
          </a:p>
          <a:p>
            <a:endParaRPr lang="en-US" dirty="0"/>
          </a:p>
          <a:p>
            <a:r>
              <a:rPr lang="en-US" b="1" dirty="0"/>
              <a:t>(Bullet points on the slide)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 successfully achieve, while preventing data loss, we can use IntegrationHub spokes to import data from Remedy, </a:t>
            </a:r>
          </a:p>
          <a:p>
            <a:r>
              <a:rPr lang="en-US" dirty="0"/>
              <a:t>for CMDB, data  can be sanitized using Identification and Reconciliation Engine. </a:t>
            </a:r>
          </a:p>
          <a:p>
            <a:r>
              <a:rPr lang="en-US" dirty="0"/>
              <a:t>To maintain data quality, we can use ServiceNow tools like Data Certification for data quality assessment and cleansing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1136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(Introductory topic text)</a:t>
            </a:r>
          </a:p>
          <a:p>
            <a:r>
              <a:rPr lang="en-US" dirty="0"/>
              <a:t>To drive successful adoption of ServiceNow, </a:t>
            </a:r>
          </a:p>
          <a:p>
            <a:r>
              <a:rPr lang="en-US" dirty="0"/>
              <a:t>Sovereign Bank must address resistance to process changes from long-tenured employees, </a:t>
            </a:r>
          </a:p>
          <a:p>
            <a:r>
              <a:rPr lang="en-US" dirty="0"/>
              <a:t>align conflicting priorities across business units,</a:t>
            </a:r>
          </a:p>
          <a:p>
            <a:r>
              <a:rPr lang="en-US" dirty="0"/>
              <a:t> and mitigate fears of job losses due to automation through clear communication and change management strategies.</a:t>
            </a:r>
          </a:p>
          <a:p>
            <a:endParaRPr lang="en-US" b="1" dirty="0"/>
          </a:p>
          <a:p>
            <a:r>
              <a:rPr lang="en-US" b="1" dirty="0"/>
              <a:t>(Bullet points on the slide)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Guided </a:t>
            </a:r>
            <a:r>
              <a:rPr lang="en-US" dirty="0"/>
              <a:t>Tours and self-service training will ease adoption,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while Knowledge Articles and surveys empower users and gather feedback.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Within the platform, we can promote transparency through collaboration tools and stakeholder engagement, ensuring alignment across teams. </a:t>
            </a:r>
          </a:p>
          <a:p>
            <a:r>
              <a:rPr lang="en-US" dirty="0"/>
              <a:t>Automated workflows reduce manual tasks, allowing employees to focus on higher-value work. </a:t>
            </a:r>
          </a:p>
          <a:p>
            <a:endParaRPr lang="en-US" dirty="0"/>
          </a:p>
          <a:p>
            <a:r>
              <a:rPr lang="en-US" dirty="0"/>
              <a:t>By leveraging these features, Sovereign Bank can drive a smooth and efficient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82455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(Introductory topic text)</a:t>
            </a:r>
          </a:p>
          <a:p>
            <a:r>
              <a:rPr lang="en-US" b="0" dirty="0"/>
              <a:t>Sovereign Bank’s large workforce, global operations, and diverse IT policies make ITSM standardization and performance scalability challenging.</a:t>
            </a:r>
          </a:p>
          <a:p>
            <a:endParaRPr lang="en-US" b="0" dirty="0"/>
          </a:p>
          <a:p>
            <a:r>
              <a:rPr lang="en-US" b="1" dirty="0"/>
              <a:t>(Bullet points on the slide)</a:t>
            </a:r>
          </a:p>
          <a:p>
            <a:r>
              <a:rPr lang="en-US" b="0" dirty="0"/>
              <a:t>Our team addresses these challenges with a modular implementation approach for phased rollouts, </a:t>
            </a:r>
          </a:p>
          <a:p>
            <a:r>
              <a:rPr lang="en-US" b="0" dirty="0"/>
              <a:t>We can use core performance optimization tools to handle high data volumes, </a:t>
            </a:r>
          </a:p>
          <a:p>
            <a:r>
              <a:rPr lang="en-US" b="0" dirty="0"/>
              <a:t>and a scalable architecture that supports large enterprises, ensuring long-term efficiency and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1125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Thank you for choosing </a:t>
            </a:r>
            <a:r>
              <a:rPr lang="en-US" dirty="0" err="1"/>
              <a:t>ServiceWow</a:t>
            </a:r>
            <a:r>
              <a:rPr lang="en-US" dirty="0"/>
              <a:t> as your trusted partner in implementing ServiceNow. </a:t>
            </a:r>
          </a:p>
          <a:p>
            <a:endParaRPr lang="en-US" b="0" dirty="0"/>
          </a:p>
          <a:p>
            <a:r>
              <a:rPr lang="en-US" dirty="0"/>
              <a:t>It's normal for users to face difficulties and resist change initially, but rest assured, this shift is for the betterment of your company.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Our goal is to ensure a smooth transition from Remedy to ServiceNow, minimizing disruption, overcoming challenges, and optimizing your workflows. </a:t>
            </a:r>
          </a:p>
          <a:p>
            <a:endParaRPr lang="en-US" b="0" dirty="0"/>
          </a:p>
          <a:p>
            <a:r>
              <a:rPr lang="en-US" b="0" dirty="0"/>
              <a:t>We’re here to support you every step of the way!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3929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13" Type="http://schemas.openxmlformats.org/officeDocument/2006/relationships/hyperlink" Target="http://arjarnbomb.blogspot.com/2016/07/circle-cycle.html" TargetMode="External"/><Relationship Id="rId3" Type="http://schemas.openxmlformats.org/officeDocument/2006/relationships/image" Target="../media/image9.png"/><Relationship Id="rId7" Type="http://schemas.openxmlformats.org/officeDocument/2006/relationships/hyperlink" Target="https://www.ofthat.com/2019/" TargetMode="Externa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jpg"/><Relationship Id="rId11" Type="http://schemas.openxmlformats.org/officeDocument/2006/relationships/hyperlink" Target="https://askrpa.com/scalability-and-the-need-for-implementing-scalable-automations/" TargetMode="External"/><Relationship Id="rId5" Type="http://schemas.openxmlformats.org/officeDocument/2006/relationships/hyperlink" Target="https://flexspan.blogspot.com/2018/03/gdpr-och-skolan.html" TargetMode="External"/><Relationship Id="rId10" Type="http://schemas.openxmlformats.org/officeDocument/2006/relationships/image" Target="../media/image13.png"/><Relationship Id="rId4" Type="http://schemas.openxmlformats.org/officeDocument/2006/relationships/image" Target="../media/image10.jpg"/><Relationship Id="rId9" Type="http://schemas.openxmlformats.org/officeDocument/2006/relationships/hyperlink" Target="https://www.devdummy.com/2018/11/mysql-insert-data-by-selecting-from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Sovereign Bank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01366" y="4172084"/>
            <a:ext cx="3635652" cy="760288"/>
          </a:xfrm>
        </p:spPr>
        <p:txBody>
          <a:bodyPr/>
          <a:lstStyle/>
          <a:p>
            <a:r>
              <a:rPr lang="en-US" dirty="0"/>
              <a:t>Group 7 – Now Architects</a:t>
            </a:r>
          </a:p>
          <a:p>
            <a:r>
              <a:rPr lang="en-US" dirty="0" err="1"/>
              <a:t>ServiceWow</a:t>
            </a:r>
            <a:endParaRPr lang="en-US" dirty="0"/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A5154D8-7BE0-193E-6A16-58AC389A7F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58" t="35240" r="14622" b="40478"/>
          <a:stretch/>
        </p:blipFill>
        <p:spPr>
          <a:xfrm>
            <a:off x="6878448" y="2742419"/>
            <a:ext cx="4353781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55">
            <a:extLst>
              <a:ext uri="{FF2B5EF4-FFF2-40B4-BE49-F238E27FC236}">
                <a16:creationId xmlns:a16="http://schemas.microsoft.com/office/drawing/2014/main" id="{84A47BFD-40CC-CEB5-7E89-D70D6179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94" y="2932864"/>
            <a:ext cx="3909993" cy="829054"/>
          </a:xfrm>
        </p:spPr>
        <p:txBody>
          <a:bodyPr/>
          <a:lstStyle/>
          <a:p>
            <a:r>
              <a:rPr lang="en-US" dirty="0"/>
              <a:t>Meet our team</a:t>
            </a:r>
            <a:br>
              <a:rPr lang="en-US" dirty="0"/>
            </a:br>
            <a:endParaRPr lang="en-US" dirty="0"/>
          </a:p>
        </p:txBody>
      </p:sp>
      <p:pic>
        <p:nvPicPr>
          <p:cNvPr id="38" name="Picture Placeholder 20">
            <a:extLst>
              <a:ext uri="{FF2B5EF4-FFF2-40B4-BE49-F238E27FC236}">
                <a16:creationId xmlns:a16="http://schemas.microsoft.com/office/drawing/2014/main" id="{5D2A9DFD-3D4A-4D7C-3E10-350C87DC23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76" r="11476"/>
          <a:stretch/>
        </p:blipFill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39" name="Picture Placeholder 21">
            <a:extLst>
              <a:ext uri="{FF2B5EF4-FFF2-40B4-BE49-F238E27FC236}">
                <a16:creationId xmlns:a16="http://schemas.microsoft.com/office/drawing/2014/main" id="{479E2896-AE5D-0D18-C79D-304F4E1920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65" r="10565"/>
          <a:stretch/>
        </p:blipFill>
        <p:spPr>
          <a:xfrm>
            <a:off x="4269794" y="259797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40" name="Picture Placeholder 22">
            <a:extLst>
              <a:ext uri="{FF2B5EF4-FFF2-40B4-BE49-F238E27FC236}">
                <a16:creationId xmlns:a16="http://schemas.microsoft.com/office/drawing/2014/main" id="{87DE6C3F-2778-1D57-7171-8AF65EC15D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627" r="10627"/>
          <a:stretch/>
        </p:blipFill>
        <p:spPr>
          <a:xfrm>
            <a:off x="4269795" y="4759489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1" name="Text Placeholder 133">
            <a:extLst>
              <a:ext uri="{FF2B5EF4-FFF2-40B4-BE49-F238E27FC236}">
                <a16:creationId xmlns:a16="http://schemas.microsoft.com/office/drawing/2014/main" id="{AEFFB360-AF21-7C62-4515-3C6D16B276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520210" y="522515"/>
            <a:ext cx="2289842" cy="626551"/>
          </a:xfrm>
        </p:spPr>
        <p:txBody>
          <a:bodyPr/>
          <a:lstStyle/>
          <a:p>
            <a:r>
              <a:rPr lang="en-US" altLang="zh-CN" dirty="0"/>
              <a:t>Eric </a:t>
            </a:r>
            <a:r>
              <a:rPr lang="en-US" altLang="zh-CN" dirty="0" err="1"/>
              <a:t>Jehl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42" name="Text Placeholder 111">
            <a:extLst>
              <a:ext uri="{FF2B5EF4-FFF2-40B4-BE49-F238E27FC236}">
                <a16:creationId xmlns:a16="http://schemas.microsoft.com/office/drawing/2014/main" id="{329C94D2-2E5D-DF7F-0773-D707E26B532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520211" y="1165881"/>
            <a:ext cx="2289842" cy="5063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Solution Architect</a:t>
            </a:r>
          </a:p>
          <a:p>
            <a:endParaRPr lang="en-US" dirty="0"/>
          </a:p>
        </p:txBody>
      </p:sp>
      <p:sp>
        <p:nvSpPr>
          <p:cNvPr id="43" name="Text Placeholder 135">
            <a:extLst>
              <a:ext uri="{FF2B5EF4-FFF2-40B4-BE49-F238E27FC236}">
                <a16:creationId xmlns:a16="http://schemas.microsoft.com/office/drawing/2014/main" id="{005AAB20-E217-288F-0F26-029571E383FE}"/>
              </a:ext>
            </a:extLst>
          </p:cNvPr>
          <p:cNvSpPr txBox="1">
            <a:spLocks/>
          </p:cNvSpPr>
          <p:nvPr/>
        </p:nvSpPr>
        <p:spPr>
          <a:xfrm>
            <a:off x="5520208" y="2698921"/>
            <a:ext cx="2193021" cy="6174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>
                <a:cs typeface="Posterama" panose="020B0504020200020000" pitchFamily="34" charset="0"/>
              </a:rPr>
              <a:t>Pedro</a:t>
            </a:r>
            <a:r>
              <a:rPr lang="en-US" altLang="zh-CN" dirty="0"/>
              <a:t> </a:t>
            </a:r>
            <a:r>
              <a:rPr lang="en-US" altLang="zh-CN" sz="1800" b="1" dirty="0">
                <a:cs typeface="Posterama" panose="020B0504020200020000" pitchFamily="34" charset="0"/>
              </a:rPr>
              <a:t>Leite</a:t>
            </a:r>
          </a:p>
        </p:txBody>
      </p:sp>
      <p:sp>
        <p:nvSpPr>
          <p:cNvPr id="44" name="Text Placeholder 113">
            <a:extLst>
              <a:ext uri="{FF2B5EF4-FFF2-40B4-BE49-F238E27FC236}">
                <a16:creationId xmlns:a16="http://schemas.microsoft.com/office/drawing/2014/main" id="{BD26EA15-A642-9B7E-0CCC-C2B39669A26F}"/>
              </a:ext>
            </a:extLst>
          </p:cNvPr>
          <p:cNvSpPr txBox="1">
            <a:spLocks/>
          </p:cNvSpPr>
          <p:nvPr/>
        </p:nvSpPr>
        <p:spPr>
          <a:xfrm>
            <a:off x="5520210" y="3333471"/>
            <a:ext cx="2193021" cy="506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/>
              <a:t>Solution Architect</a:t>
            </a:r>
            <a:br>
              <a:rPr lang="en-US" sz="1400" dirty="0"/>
            </a:br>
            <a:endParaRPr lang="en-US" sz="1400" dirty="0"/>
          </a:p>
        </p:txBody>
      </p:sp>
      <p:sp>
        <p:nvSpPr>
          <p:cNvPr id="45" name="Text Placeholder 137">
            <a:extLst>
              <a:ext uri="{FF2B5EF4-FFF2-40B4-BE49-F238E27FC236}">
                <a16:creationId xmlns:a16="http://schemas.microsoft.com/office/drawing/2014/main" id="{C94782B2-A220-3E4B-3225-955BE3C7D7D6}"/>
              </a:ext>
            </a:extLst>
          </p:cNvPr>
          <p:cNvSpPr txBox="1">
            <a:spLocks/>
          </p:cNvSpPr>
          <p:nvPr/>
        </p:nvSpPr>
        <p:spPr>
          <a:xfrm>
            <a:off x="5520209" y="4866194"/>
            <a:ext cx="2098039" cy="506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>
                <a:cs typeface="Posterama" panose="020B0504020200020000" pitchFamily="34" charset="0"/>
              </a:rPr>
              <a:t>Suzi Matsui</a:t>
            </a:r>
          </a:p>
        </p:txBody>
      </p:sp>
      <p:sp>
        <p:nvSpPr>
          <p:cNvPr id="46" name="Text Placeholder 115">
            <a:extLst>
              <a:ext uri="{FF2B5EF4-FFF2-40B4-BE49-F238E27FC236}">
                <a16:creationId xmlns:a16="http://schemas.microsoft.com/office/drawing/2014/main" id="{51AC91D1-A297-3D52-F34F-C2DD0A8EF536}"/>
              </a:ext>
            </a:extLst>
          </p:cNvPr>
          <p:cNvSpPr txBox="1">
            <a:spLocks/>
          </p:cNvSpPr>
          <p:nvPr/>
        </p:nvSpPr>
        <p:spPr>
          <a:xfrm>
            <a:off x="5520210" y="5499575"/>
            <a:ext cx="2098038" cy="506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/>
              <a:t>Lead Technical Architect  </a:t>
            </a:r>
          </a:p>
        </p:txBody>
      </p:sp>
      <p:pic>
        <p:nvPicPr>
          <p:cNvPr id="47" name="Picture Placeholder 24">
            <a:extLst>
              <a:ext uri="{FF2B5EF4-FFF2-40B4-BE49-F238E27FC236}">
                <a16:creationId xmlns:a16="http://schemas.microsoft.com/office/drawing/2014/main" id="{1A5B5B45-7B0E-0F2F-EDD1-AF748AAF865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362" r="10362"/>
          <a:stretch/>
        </p:blipFill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48" name="Picture Placeholder 25">
            <a:extLst>
              <a:ext uri="{FF2B5EF4-FFF2-40B4-BE49-F238E27FC236}">
                <a16:creationId xmlns:a16="http://schemas.microsoft.com/office/drawing/2014/main" id="{0D0E00AA-C2FA-DE09-ABB2-AB945F2560E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031" r="7031"/>
          <a:stretch/>
        </p:blipFill>
        <p:spPr>
          <a:xfrm>
            <a:off x="8059914" y="259797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49" name="Picture Placeholder 26">
            <a:extLst>
              <a:ext uri="{FF2B5EF4-FFF2-40B4-BE49-F238E27FC236}">
                <a16:creationId xmlns:a16="http://schemas.microsoft.com/office/drawing/2014/main" id="{A84FF4E3-3207-6880-02B6-FEA4558D9DF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362" r="10362"/>
          <a:stretch/>
        </p:blipFill>
        <p:spPr>
          <a:xfrm>
            <a:off x="8059915" y="4759489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50" name="Text Placeholder 131">
            <a:extLst>
              <a:ext uri="{FF2B5EF4-FFF2-40B4-BE49-F238E27FC236}">
                <a16:creationId xmlns:a16="http://schemas.microsoft.com/office/drawing/2014/main" id="{30F0743D-6C62-DB35-0B33-33CC6482D9CE}"/>
              </a:ext>
            </a:extLst>
          </p:cNvPr>
          <p:cNvSpPr txBox="1">
            <a:spLocks/>
          </p:cNvSpPr>
          <p:nvPr/>
        </p:nvSpPr>
        <p:spPr>
          <a:xfrm>
            <a:off x="9309887" y="483637"/>
            <a:ext cx="2098039" cy="506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cs typeface="Posterama" panose="020B0504020200020000" pitchFamily="34" charset="0"/>
              </a:rPr>
              <a:t>Marta Hernandez</a:t>
            </a:r>
          </a:p>
        </p:txBody>
      </p:sp>
      <p:sp>
        <p:nvSpPr>
          <p:cNvPr id="51" name="Text Placeholder 109">
            <a:extLst>
              <a:ext uri="{FF2B5EF4-FFF2-40B4-BE49-F238E27FC236}">
                <a16:creationId xmlns:a16="http://schemas.microsoft.com/office/drawing/2014/main" id="{1770BA0C-D994-98C7-F40D-F839BC81AE4B}"/>
              </a:ext>
            </a:extLst>
          </p:cNvPr>
          <p:cNvSpPr txBox="1">
            <a:spLocks/>
          </p:cNvSpPr>
          <p:nvPr/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/>
              <a:t>Senior Technical Consultant</a:t>
            </a:r>
          </a:p>
        </p:txBody>
      </p:sp>
      <p:sp>
        <p:nvSpPr>
          <p:cNvPr id="52" name="Text Placeholder 129">
            <a:extLst>
              <a:ext uri="{FF2B5EF4-FFF2-40B4-BE49-F238E27FC236}">
                <a16:creationId xmlns:a16="http://schemas.microsoft.com/office/drawing/2014/main" id="{83882D6B-D26E-10D5-8E8D-72BAD0757DB3}"/>
              </a:ext>
            </a:extLst>
          </p:cNvPr>
          <p:cNvSpPr txBox="1">
            <a:spLocks/>
          </p:cNvSpPr>
          <p:nvPr/>
        </p:nvSpPr>
        <p:spPr>
          <a:xfrm>
            <a:off x="9309888" y="2625953"/>
            <a:ext cx="2098039" cy="7011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>
                <a:cs typeface="Posterama" panose="020B0504020200020000" pitchFamily="34" charset="0"/>
              </a:rPr>
              <a:t>Rajesh Kumar</a:t>
            </a:r>
          </a:p>
        </p:txBody>
      </p:sp>
      <p:sp>
        <p:nvSpPr>
          <p:cNvPr id="53" name="Text Placeholder 107">
            <a:extLst>
              <a:ext uri="{FF2B5EF4-FFF2-40B4-BE49-F238E27FC236}">
                <a16:creationId xmlns:a16="http://schemas.microsoft.com/office/drawing/2014/main" id="{BDC32D20-3B58-2F64-4C00-2E447F74DBA7}"/>
              </a:ext>
            </a:extLst>
          </p:cNvPr>
          <p:cNvSpPr txBox="1">
            <a:spLocks/>
          </p:cNvSpPr>
          <p:nvPr/>
        </p:nvSpPr>
        <p:spPr>
          <a:xfrm>
            <a:off x="9309888" y="3340157"/>
            <a:ext cx="2098038" cy="506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/>
              <a:t>Principal Software Engineer</a:t>
            </a:r>
            <a:endParaRPr lang="en-US" altLang="zh-CN" sz="1400" dirty="0"/>
          </a:p>
        </p:txBody>
      </p:sp>
      <p:sp>
        <p:nvSpPr>
          <p:cNvPr id="54" name="Text Placeholder 127">
            <a:extLst>
              <a:ext uri="{FF2B5EF4-FFF2-40B4-BE49-F238E27FC236}">
                <a16:creationId xmlns:a16="http://schemas.microsoft.com/office/drawing/2014/main" id="{0B6E8FC2-288D-EEB5-5BFD-130E880A40E2}"/>
              </a:ext>
            </a:extLst>
          </p:cNvPr>
          <p:cNvSpPr txBox="1">
            <a:spLocks/>
          </p:cNvSpPr>
          <p:nvPr/>
        </p:nvSpPr>
        <p:spPr>
          <a:xfrm>
            <a:off x="9309888" y="4963014"/>
            <a:ext cx="2263276" cy="506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>
                <a:cs typeface="Posterama" panose="020B0504020200020000" pitchFamily="34" charset="0"/>
              </a:rPr>
              <a:t>Vaibhav Maheshwari</a:t>
            </a:r>
          </a:p>
        </p:txBody>
      </p:sp>
      <p:sp>
        <p:nvSpPr>
          <p:cNvPr id="55" name="Text Placeholder 105">
            <a:extLst>
              <a:ext uri="{FF2B5EF4-FFF2-40B4-BE49-F238E27FC236}">
                <a16:creationId xmlns:a16="http://schemas.microsoft.com/office/drawing/2014/main" id="{24CEFCBD-A397-3802-BC90-4A04C4AE616B}"/>
              </a:ext>
            </a:extLst>
          </p:cNvPr>
          <p:cNvSpPr txBox="1">
            <a:spLocks/>
          </p:cNvSpPr>
          <p:nvPr/>
        </p:nvSpPr>
        <p:spPr>
          <a:xfrm>
            <a:off x="9309890" y="5499575"/>
            <a:ext cx="2098038" cy="506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/>
              <a:t>Senior Software Engineer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63003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&gt;40 years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EN, HI, ES, FR, PT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&gt;20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 sz="1100" dirty="0"/>
          </a:p>
          <a:p>
            <a:r>
              <a:rPr lang="en-US" sz="1400" dirty="0">
                <a:solidFill>
                  <a:schemeClr val="tx1"/>
                </a:solidFill>
                <a:latin typeface="+mn-lt"/>
              </a:rPr>
              <a:t>ITSM, IRM, SecOps, SPM, Integrations, CSM, FSM, HR, SAM, APM</a:t>
            </a:r>
          </a:p>
          <a:p>
            <a:endParaRPr lang="en-US" sz="110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sz="1400" dirty="0">
                <a:solidFill>
                  <a:schemeClr val="tx1"/>
                </a:solidFill>
                <a:latin typeface="+mn-lt"/>
              </a:rPr>
              <a:t>Public System, Bank, Services, Food industry, HealthCare, Pharma, Retail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12" name="Flowchart: Preparation 11">
            <a:extLst>
              <a:ext uri="{FF2B5EF4-FFF2-40B4-BE49-F238E27FC236}">
                <a16:creationId xmlns:a16="http://schemas.microsoft.com/office/drawing/2014/main" id="{8AC6FAEE-C78D-F938-AB52-79D792DDDB23}"/>
              </a:ext>
            </a:extLst>
          </p:cNvPr>
          <p:cNvSpPr/>
          <p:nvPr/>
        </p:nvSpPr>
        <p:spPr>
          <a:xfrm rot="16200000">
            <a:off x="8272163" y="4200543"/>
            <a:ext cx="2119748" cy="1913129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Clients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lowchart: Preparation 12">
            <a:extLst>
              <a:ext uri="{FF2B5EF4-FFF2-40B4-BE49-F238E27FC236}">
                <a16:creationId xmlns:a16="http://schemas.microsoft.com/office/drawing/2014/main" id="{BBBAB338-794B-312C-9161-ED6CAFE0257B}"/>
              </a:ext>
            </a:extLst>
          </p:cNvPr>
          <p:cNvSpPr/>
          <p:nvPr/>
        </p:nvSpPr>
        <p:spPr>
          <a:xfrm rot="16200000">
            <a:off x="9299155" y="2423322"/>
            <a:ext cx="2119748" cy="1913129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Experts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lowchart: Preparation 13">
            <a:extLst>
              <a:ext uri="{FF2B5EF4-FFF2-40B4-BE49-F238E27FC236}">
                <a16:creationId xmlns:a16="http://schemas.microsoft.com/office/drawing/2014/main" id="{987C6C9F-F78E-128E-8168-E51FFEA33359}"/>
              </a:ext>
            </a:extLst>
          </p:cNvPr>
          <p:cNvSpPr/>
          <p:nvPr/>
        </p:nvSpPr>
        <p:spPr>
          <a:xfrm rot="16200000">
            <a:off x="7213017" y="2423792"/>
            <a:ext cx="2119748" cy="1913129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Certificates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lowchart: Preparation 14">
            <a:extLst>
              <a:ext uri="{FF2B5EF4-FFF2-40B4-BE49-F238E27FC236}">
                <a16:creationId xmlns:a16="http://schemas.microsoft.com/office/drawing/2014/main" id="{06266F9F-8851-6104-5573-3EE75668F73E}"/>
              </a:ext>
            </a:extLst>
          </p:cNvPr>
          <p:cNvSpPr/>
          <p:nvPr/>
        </p:nvSpPr>
        <p:spPr>
          <a:xfrm rot="16200000">
            <a:off x="6178839" y="612468"/>
            <a:ext cx="2119748" cy="1913129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Experience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Flowchart: Preparation 16">
            <a:extLst>
              <a:ext uri="{FF2B5EF4-FFF2-40B4-BE49-F238E27FC236}">
                <a16:creationId xmlns:a16="http://schemas.microsoft.com/office/drawing/2014/main" id="{F36D003A-C3C2-DB6B-D935-4727C5A445A6}"/>
              </a:ext>
            </a:extLst>
          </p:cNvPr>
          <p:cNvSpPr/>
          <p:nvPr/>
        </p:nvSpPr>
        <p:spPr>
          <a:xfrm rot="16200000">
            <a:off x="8272164" y="646101"/>
            <a:ext cx="2119748" cy="1913129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>
              <a:spcBef>
                <a:spcPts val="1000"/>
              </a:spcBef>
            </a:pPr>
            <a:r>
              <a:rPr lang="pt-PT" dirty="0">
                <a:solidFill>
                  <a:schemeClr val="tx1"/>
                </a:solidFill>
              </a:rPr>
              <a:t>Multi-Language capabilities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6A70AA-06AE-AA67-B105-F4E120F4C9D0}"/>
              </a:ext>
            </a:extLst>
          </p:cNvPr>
          <p:cNvSpPr/>
          <p:nvPr/>
        </p:nvSpPr>
        <p:spPr>
          <a:xfrm>
            <a:off x="215757" y="308225"/>
            <a:ext cx="3215812" cy="2917860"/>
          </a:xfrm>
          <a:prstGeom prst="rect">
            <a:avLst/>
          </a:prstGeom>
          <a:solidFill>
            <a:srgbClr val="F7F5F4"/>
          </a:solidFill>
          <a:ln>
            <a:solidFill>
              <a:srgbClr val="F6F4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00FC2-660C-D9E2-58D8-47905CD52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0" y="456784"/>
            <a:ext cx="3781953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751017-A3B4-F7AF-8580-84671F707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40" y="1853986"/>
            <a:ext cx="3781953" cy="1981477"/>
          </a:xfrm>
          <a:prstGeom prst="rect">
            <a:avLst/>
          </a:prstGeom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655" y="2699647"/>
            <a:ext cx="4253399" cy="1740114"/>
          </a:xfrm>
        </p:spPr>
        <p:txBody>
          <a:bodyPr/>
          <a:lstStyle/>
          <a:p>
            <a:r>
              <a:rPr lang="en-US" altLang="zh-CN" dirty="0"/>
              <a:t>Strengths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xagon 10">
            <a:extLst>
              <a:ext uri="{FF2B5EF4-FFF2-40B4-BE49-F238E27FC236}">
                <a16:creationId xmlns:a16="http://schemas.microsoft.com/office/drawing/2014/main" id="{45B74178-124B-3D96-B058-BA6DFD657428}"/>
              </a:ext>
            </a:extLst>
          </p:cNvPr>
          <p:cNvSpPr/>
          <p:nvPr/>
        </p:nvSpPr>
        <p:spPr>
          <a:xfrm rot="5400000">
            <a:off x="178426" y="2291346"/>
            <a:ext cx="1749404" cy="1609328"/>
          </a:xfrm>
          <a:prstGeom prst="hexagon">
            <a:avLst/>
          </a:prstGeom>
          <a:noFill/>
          <a:ln w="19050">
            <a:solidFill>
              <a:srgbClr val="DCD3C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06121DB6-9CFA-CA71-043E-F52DBB7B4B17}"/>
              </a:ext>
            </a:extLst>
          </p:cNvPr>
          <p:cNvSpPr/>
          <p:nvPr/>
        </p:nvSpPr>
        <p:spPr>
          <a:xfrm rot="5400000">
            <a:off x="10188877" y="2104452"/>
            <a:ext cx="1749404" cy="1609328"/>
          </a:xfrm>
          <a:prstGeom prst="hexagon">
            <a:avLst/>
          </a:prstGeom>
          <a:noFill/>
          <a:ln w="19050">
            <a:solidFill>
              <a:srgbClr val="DCD3C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itle 85">
            <a:extLst>
              <a:ext uri="{FF2B5EF4-FFF2-40B4-BE49-F238E27FC236}">
                <a16:creationId xmlns:a16="http://schemas.microsoft.com/office/drawing/2014/main" id="{1E3F7726-AC85-55B8-BDED-51E7BA85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Anticipated Challenges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6D3A5E9-F687-402F-8477-EE4CD418CA67}"/>
              </a:ext>
            </a:extLst>
          </p:cNvPr>
          <p:cNvPicPr>
            <a:picLocks noGrp="1" noChangeAspect="1"/>
          </p:cNvPicPr>
          <p:nvPr>
            <p:ph type="pic" sz="quarter" idx="57"/>
          </p:nvPr>
        </p:nvPicPr>
        <p:blipFill>
          <a:blip r:embed="rId3"/>
          <a:srcRect/>
          <a:stretch/>
        </p:blipFill>
        <p:spPr>
          <a:xfrm>
            <a:off x="248652" y="2490246"/>
            <a:ext cx="1621032" cy="1841551"/>
          </a:xfrm>
        </p:spPr>
      </p:pic>
      <p:sp>
        <p:nvSpPr>
          <p:cNvPr id="29" name="Text Placeholder">
            <a:extLst>
              <a:ext uri="{FF2B5EF4-FFF2-40B4-BE49-F238E27FC236}">
                <a16:creationId xmlns:a16="http://schemas.microsoft.com/office/drawing/2014/main" id="{0490F6D4-84D0-42DF-A807-E56706B577D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1334" y="4501332"/>
            <a:ext cx="1877575" cy="506399"/>
          </a:xfrm>
        </p:spPr>
        <p:txBody>
          <a:bodyPr/>
          <a:lstStyle/>
          <a:p>
            <a:r>
              <a:rPr lang="en-US" altLang="zh-CN" sz="1400" dirty="0"/>
              <a:t>Regulatory Compliance</a:t>
            </a:r>
          </a:p>
          <a:p>
            <a:endParaRPr lang="zh-CN" altLang="en-US" sz="140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249D9CF-86A2-4E7B-8B6F-D02EE968C997}"/>
              </a:ext>
            </a:extLst>
          </p:cNvPr>
          <p:cNvPicPr>
            <a:picLocks noGrp="1" noChangeAspect="1"/>
          </p:cNvPicPr>
          <p:nvPr>
            <p:ph type="pic" sz="quarter" idx="58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2104732" y="1796077"/>
            <a:ext cx="1621032" cy="1841551"/>
          </a:xfrm>
        </p:spPr>
      </p:pic>
      <p:sp>
        <p:nvSpPr>
          <p:cNvPr id="37" name="Text Placeholder">
            <a:extLst>
              <a:ext uri="{FF2B5EF4-FFF2-40B4-BE49-F238E27FC236}">
                <a16:creationId xmlns:a16="http://schemas.microsoft.com/office/drawing/2014/main" id="{3A30B02E-FBE1-41C5-AF6E-E1013275E84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031690" y="4550739"/>
            <a:ext cx="1877575" cy="506399"/>
          </a:xfrm>
        </p:spPr>
        <p:txBody>
          <a:bodyPr/>
          <a:lstStyle/>
          <a:p>
            <a:r>
              <a:rPr lang="en-US" altLang="zh-CN" sz="1400" dirty="0"/>
              <a:t>Integration</a:t>
            </a:r>
            <a:endParaRPr lang="zh-CN" altLang="en-US" sz="1400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3D51D04D-653C-45AE-9DDF-BE96BA267A6B}"/>
              </a:ext>
            </a:extLst>
          </p:cNvPr>
          <p:cNvPicPr>
            <a:picLocks noGrp="1" noChangeAspect="1"/>
          </p:cNvPicPr>
          <p:nvPr>
            <p:ph type="pic" sz="quarter" idx="59"/>
          </p:nvPr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/>
        </p:blipFill>
        <p:spPr>
          <a:xfrm>
            <a:off x="4159962" y="2375508"/>
            <a:ext cx="1621032" cy="1841551"/>
          </a:xfrm>
        </p:spPr>
      </p:pic>
      <p:sp>
        <p:nvSpPr>
          <p:cNvPr id="39" name="Text Placeholder">
            <a:extLst>
              <a:ext uri="{FF2B5EF4-FFF2-40B4-BE49-F238E27FC236}">
                <a16:creationId xmlns:a16="http://schemas.microsoft.com/office/drawing/2014/main" id="{1B558BFC-AA9F-4991-A6BB-D56BEC07C16E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158776" y="4531145"/>
            <a:ext cx="1877575" cy="506399"/>
          </a:xfrm>
        </p:spPr>
        <p:txBody>
          <a:bodyPr/>
          <a:lstStyle/>
          <a:p>
            <a:r>
              <a:rPr lang="en-US" altLang="zh-CN" sz="1400" dirty="0"/>
              <a:t>Data Migration </a:t>
            </a:r>
            <a:br>
              <a:rPr lang="en-US" altLang="zh-CN" sz="1400" dirty="0"/>
            </a:br>
            <a:r>
              <a:rPr lang="en-US" altLang="zh-CN" sz="1400" dirty="0"/>
              <a:t>and Integrity</a:t>
            </a:r>
          </a:p>
          <a:p>
            <a:endParaRPr lang="zh-CN" altLang="en-US" sz="1400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33C59A08-3A06-4556-AC83-C1337E73D0B3}"/>
              </a:ext>
            </a:extLst>
          </p:cNvPr>
          <p:cNvPicPr>
            <a:picLocks noGrp="1" noChangeAspect="1"/>
          </p:cNvPicPr>
          <p:nvPr>
            <p:ph type="pic" sz="quarter" idx="60"/>
          </p:nvPr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rcRect/>
          <a:stretch/>
        </p:blipFill>
        <p:spPr>
          <a:xfrm>
            <a:off x="6285727" y="1693380"/>
            <a:ext cx="1621032" cy="1841551"/>
          </a:xfrm>
        </p:spPr>
      </p:pic>
      <p:sp>
        <p:nvSpPr>
          <p:cNvPr id="41" name="Text Placeholder">
            <a:extLst>
              <a:ext uri="{FF2B5EF4-FFF2-40B4-BE49-F238E27FC236}">
                <a16:creationId xmlns:a16="http://schemas.microsoft.com/office/drawing/2014/main" id="{DBA8686B-D3EF-40DF-939C-F875885DD59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16036" y="4550739"/>
            <a:ext cx="1877575" cy="506399"/>
          </a:xfrm>
        </p:spPr>
        <p:txBody>
          <a:bodyPr/>
          <a:lstStyle/>
          <a:p>
            <a:r>
              <a:rPr lang="en-US" altLang="zh-CN" sz="1400" dirty="0"/>
              <a:t>Organizational Change Management</a:t>
            </a:r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43" name="Text Placeholder">
            <a:extLst>
              <a:ext uri="{FF2B5EF4-FFF2-40B4-BE49-F238E27FC236}">
                <a16:creationId xmlns:a16="http://schemas.microsoft.com/office/drawing/2014/main" id="{759A333C-6D37-427A-BE2A-4C2660134A5A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10118941" y="4550739"/>
            <a:ext cx="1877575" cy="506399"/>
          </a:xfrm>
        </p:spPr>
        <p:txBody>
          <a:bodyPr/>
          <a:lstStyle/>
          <a:p>
            <a:r>
              <a:rPr lang="en-US" altLang="zh-CN" sz="1400" dirty="0"/>
              <a:t>Complexity </a:t>
            </a:r>
            <a:br>
              <a:rPr lang="en-US" altLang="zh-CN" sz="1400" dirty="0"/>
            </a:br>
            <a:r>
              <a:rPr lang="en-US" altLang="zh-CN" sz="1400" dirty="0"/>
              <a:t>and Scale</a:t>
            </a:r>
          </a:p>
          <a:p>
            <a:endParaRPr lang="zh-CN" alt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D9DED-0D81-19D6-DF40-E6B4B5BFEF9E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pic>
        <p:nvPicPr>
          <p:cNvPr id="2" name="Picture Placeholder 89">
            <a:extLst>
              <a:ext uri="{FF2B5EF4-FFF2-40B4-BE49-F238E27FC236}">
                <a16:creationId xmlns:a16="http://schemas.microsoft.com/office/drawing/2014/main" id="{C50FACA8-C968-C233-5CC1-F4C440A163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/>
          <a:stretch/>
        </p:blipFill>
        <p:spPr>
          <a:xfrm>
            <a:off x="10247212" y="1661669"/>
            <a:ext cx="1621032" cy="184150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BD58A561-B5AA-1703-7AD9-8A0B00AFF872}"/>
              </a:ext>
            </a:extLst>
          </p:cNvPr>
          <p:cNvSpPr txBox="1">
            <a:spLocks/>
          </p:cNvSpPr>
          <p:nvPr/>
        </p:nvSpPr>
        <p:spPr>
          <a:xfrm>
            <a:off x="1978909" y="4531144"/>
            <a:ext cx="1877575" cy="506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Data Security </a:t>
            </a:r>
            <a:br>
              <a:rPr lang="en-US" altLang="zh-CN" sz="1400" dirty="0"/>
            </a:br>
            <a:r>
              <a:rPr lang="en-US" altLang="zh-CN" sz="1400" dirty="0"/>
              <a:t>and Privacy</a:t>
            </a:r>
          </a:p>
          <a:p>
            <a:endParaRPr lang="zh-CN" altLang="en-US" sz="1400" dirty="0"/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F55124C6-25B6-FB9C-BB96-DE94AAB50D57}"/>
              </a:ext>
            </a:extLst>
          </p:cNvPr>
          <p:cNvPicPr>
            <a:picLocks noGrp="1" noChangeAspect="1"/>
          </p:cNvPicPr>
          <p:nvPr>
            <p:ph type="pic" sz="quarter" idx="61"/>
          </p:nvPr>
        </p:nvPicPr>
        <p:blipFill>
          <a:blip r:embed="rId12">
            <a:extLst>
              <a:ext uri="{837473B0-CC2E-450A-ABE3-18F120FF3D39}">
                <a1611:picAttrSrcUrl xmlns:a1611="http://schemas.microsoft.com/office/drawing/2016/11/main" r:id="rId13"/>
              </a:ext>
            </a:extLst>
          </a:blip>
          <a:srcRect l="5991" r="5991"/>
          <a:stretch/>
        </p:blipFill>
        <p:spPr>
          <a:xfrm>
            <a:off x="8391137" y="2374900"/>
            <a:ext cx="1620838" cy="1841500"/>
          </a:xfrm>
        </p:spPr>
      </p:pic>
    </p:spTree>
    <p:extLst>
      <p:ext uri="{BB962C8B-B14F-4D97-AF65-F5344CB8AC3E}">
        <p14:creationId xmlns:p14="http://schemas.microsoft.com/office/powerpoint/2010/main" val="2517140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  <p:bldP spid="37" grpId="0" build="p"/>
      <p:bldP spid="39" grpId="0" build="p"/>
      <p:bldP spid="41" grpId="0" build="p"/>
      <p:bldP spid="43" grpId="0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Regulatory Compliance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sz="1800"/>
              <a:t>Compliance with all relevant regulations (e.g. GDPR, PCI, CSS)</a:t>
            </a:r>
          </a:p>
          <a:p>
            <a:endParaRPr lang="en-US" sz="1800"/>
          </a:p>
          <a:p>
            <a:r>
              <a:rPr lang="en-US" sz="1800"/>
              <a:t>Using risk assessment tools to manage compliance risks</a:t>
            </a:r>
          </a:p>
          <a:p>
            <a:endParaRPr lang="en-US" sz="1800"/>
          </a:p>
          <a:p>
            <a:r>
              <a:rPr lang="en-US" sz="1800"/>
              <a:t>Implement Role based access controls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9E4228B-60D9-E5C6-7B46-6D4B15498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529" y="4281055"/>
            <a:ext cx="1936865" cy="19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Security and Privacy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271608" y="1469069"/>
            <a:ext cx="5627301" cy="1506166"/>
          </a:xfrm>
        </p:spPr>
        <p:txBody>
          <a:bodyPr/>
          <a:lstStyle/>
          <a:p>
            <a:r>
              <a:rPr lang="en-US" sz="1800" dirty="0"/>
              <a:t>Role-Based Access Controls limit sensitive data access to authorized personnel.</a:t>
            </a:r>
          </a:p>
          <a:p>
            <a:endParaRPr lang="en-US" sz="1800" dirty="0"/>
          </a:p>
          <a:p>
            <a:r>
              <a:rPr lang="en-US" sz="1800" dirty="0"/>
              <a:t>Field Level Encryption for storing Sensitive Data</a:t>
            </a:r>
          </a:p>
          <a:p>
            <a:endParaRPr lang="en-US" sz="1800" dirty="0"/>
          </a:p>
          <a:p>
            <a:r>
              <a:rPr lang="en-US" sz="1800" dirty="0"/>
              <a:t>Multi-Factor Authentication and Single Sign-on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pic>
        <p:nvPicPr>
          <p:cNvPr id="7" name="Picture 4" descr="Enterprise-Level Security with LivePerson: Keeping Data Safe">
            <a:extLst>
              <a:ext uri="{FF2B5EF4-FFF2-40B4-BE49-F238E27FC236}">
                <a16:creationId xmlns:a16="http://schemas.microsoft.com/office/drawing/2014/main" id="{F824CA5E-939E-04D8-0055-A619D017F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075" y="3882766"/>
            <a:ext cx="2989094" cy="2241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Integration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271608" y="1469069"/>
            <a:ext cx="5627301" cy="1506166"/>
          </a:xfrm>
        </p:spPr>
        <p:txBody>
          <a:bodyPr/>
          <a:lstStyle/>
          <a:p>
            <a:r>
              <a:rPr lang="en-US" sz="1800" dirty="0"/>
              <a:t>Enforce OAuth 2.0 or mutual authentication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MID Servers for secure integrations</a:t>
            </a:r>
          </a:p>
          <a:p>
            <a:endParaRPr lang="en-US" sz="1800" dirty="0"/>
          </a:p>
          <a:p>
            <a:r>
              <a:rPr lang="en-US" sz="1800" dirty="0"/>
              <a:t>Integration by Email, Webservice, FTPs, JDBC 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pic>
        <p:nvPicPr>
          <p:cNvPr id="2" name="Picture 6" descr="Data Standardization for Retailers - Gepard PIM">
            <a:extLst>
              <a:ext uri="{FF2B5EF4-FFF2-40B4-BE49-F238E27FC236}">
                <a16:creationId xmlns:a16="http://schemas.microsoft.com/office/drawing/2014/main" id="{975DB468-B0A7-0E48-3147-E24F08E29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1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24" y="4031673"/>
            <a:ext cx="2009602" cy="2009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29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Data Migration and Integrity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sz="1800" dirty="0"/>
              <a:t>Use of IntegrationHub spokes to import data form Remedy</a:t>
            </a:r>
          </a:p>
          <a:p>
            <a:endParaRPr lang="en-US" sz="1800" dirty="0"/>
          </a:p>
          <a:p>
            <a:r>
              <a:rPr lang="en-US" sz="1800" dirty="0"/>
              <a:t>For CMDB, sanitize the data using Identification and Reconciliation Engine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ServiceNow provides tools like Data Certification for data quality assessment and cleansing</a:t>
            </a:r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5509D2C-DE3A-754F-2775-73A0802DA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629039"/>
            <a:ext cx="3473789" cy="1954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30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Organizational Change Management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sz="1800" dirty="0"/>
              <a:t>Guided Tours and self-service training ease the transition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Collaboration tools and stakeholder engagement promote transparency</a:t>
            </a:r>
          </a:p>
          <a:p>
            <a:endParaRPr lang="en-US" sz="1800" dirty="0"/>
          </a:p>
          <a:p>
            <a:r>
              <a:rPr lang="en-US" sz="1800" dirty="0"/>
              <a:t>Automated workflows free up employees for higher-value work</a:t>
            </a:r>
          </a:p>
          <a:p>
            <a:endParaRPr lang="en-US" sz="1800" dirty="0"/>
          </a:p>
          <a:p>
            <a:r>
              <a:rPr lang="en-US" sz="1800" dirty="0"/>
              <a:t>Knowledge Articles/Base creation, surveys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3" name="AutoShape 4" descr="Now Create">
            <a:extLst>
              <a:ext uri="{FF2B5EF4-FFF2-40B4-BE49-F238E27FC236}">
                <a16:creationId xmlns:a16="http://schemas.microsoft.com/office/drawing/2014/main" id="{464967EE-CCF2-D140-0A48-17309CCE66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97170DE-E27A-036C-BCE8-3A5531092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0412" y="4876482"/>
            <a:ext cx="27051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0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Complexity and Scale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sz="1800" dirty="0"/>
              <a:t>Modular implementation allows phased implementation approach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Performance optimization tools</a:t>
            </a:r>
          </a:p>
          <a:p>
            <a:endParaRPr lang="en-US" sz="1800" dirty="0"/>
          </a:p>
          <a:p>
            <a:r>
              <a:rPr lang="en-US" sz="1800" dirty="0"/>
              <a:t>Scalable Architecture that supports large organizations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pic>
        <p:nvPicPr>
          <p:cNvPr id="3" name="Picture 2" descr="How to balance security and usability in information security | Evans  Amenyo Sallah, CISA, CISM posted on the topic | LinkedIn">
            <a:extLst>
              <a:ext uri="{FF2B5EF4-FFF2-40B4-BE49-F238E27FC236}">
                <a16:creationId xmlns:a16="http://schemas.microsoft.com/office/drawing/2014/main" id="{B6886D93-564F-F5B3-BD20-93DF59187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482" y="4033520"/>
            <a:ext cx="2554062" cy="2549525"/>
          </a:xfrm>
          <a:prstGeom prst="rect">
            <a:avLst/>
          </a:prstGeom>
          <a:pattFill prst="pct5">
            <a:fgClr>
              <a:schemeClr val="accent3"/>
            </a:fgClr>
            <a:bgClr>
              <a:schemeClr val="bg1"/>
            </a:bgClr>
          </a:pattFill>
        </p:spPr>
      </p:pic>
    </p:spTree>
    <p:extLst>
      <p:ext uri="{BB962C8B-B14F-4D97-AF65-F5344CB8AC3E}">
        <p14:creationId xmlns:p14="http://schemas.microsoft.com/office/powerpoint/2010/main" val="322655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00" y="3093990"/>
            <a:ext cx="3916218" cy="1879791"/>
          </a:xfrm>
        </p:spPr>
        <p:txBody>
          <a:bodyPr/>
          <a:lstStyle/>
          <a:p>
            <a:r>
              <a:rPr lang="en-US" dirty="0"/>
              <a:t>Group 7 – Now Architects</a:t>
            </a:r>
          </a:p>
          <a:p>
            <a:endParaRPr lang="en-US" dirty="0"/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E0D8C9A-C895-482B-B501-694996FFDE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11997D-2559-4D54-8469-327570B187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4AD51DF-C727-4608-B606-5D6C957D4C4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0</TotalTime>
  <Words>1146</Words>
  <Application>Microsoft Office PowerPoint</Application>
  <PresentationFormat>Widescreen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等线</vt:lpstr>
      <vt:lpstr>Abadi</vt:lpstr>
      <vt:lpstr>Arial</vt:lpstr>
      <vt:lpstr>Calibri</vt:lpstr>
      <vt:lpstr>Posterama</vt:lpstr>
      <vt:lpstr>Posterama Text Black</vt:lpstr>
      <vt:lpstr>Posterama Text SemiBold</vt:lpstr>
      <vt:lpstr>Slack-Lato</vt:lpstr>
      <vt:lpstr>Custom</vt:lpstr>
      <vt:lpstr>Sovereign Bank</vt:lpstr>
      <vt:lpstr>Meet our team </vt:lpstr>
      <vt:lpstr>Strengths</vt:lpstr>
      <vt:lpstr>Anticipated Challenges</vt:lpstr>
      <vt:lpstr>Regulatory Compliance</vt:lpstr>
      <vt:lpstr>Data Security and Privacy</vt:lpstr>
      <vt:lpstr>Integration</vt:lpstr>
      <vt:lpstr>Data Migration and Integrity</vt:lpstr>
      <vt:lpstr>Organizational Change Management</vt:lpstr>
      <vt:lpstr>Complexity and Scale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2023-09-14T06:03:51Z</dcterms:created>
  <dcterms:modified xsi:type="dcterms:W3CDTF">2025-02-14T11:50:42Z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a7295cc1-d279-42ac-ab4d-3b0f4fece050_Enabled">
    <vt:lpwstr>true</vt:lpwstr>
  </property>
  <property fmtid="{D5CDD505-2E9C-101B-9397-08002B2CF9AE}" pid="5" name="MSIP_Label_a7295cc1-d279-42ac-ab4d-3b0f4fece050_SetDate">
    <vt:lpwstr>2025-02-11T09:30:08Z</vt:lpwstr>
  </property>
  <property fmtid="{D5CDD505-2E9C-101B-9397-08002B2CF9AE}" pid="6" name="MSIP_Label_a7295cc1-d279-42ac-ab4d-3b0f4fece050_Method">
    <vt:lpwstr>Standard</vt:lpwstr>
  </property>
  <property fmtid="{D5CDD505-2E9C-101B-9397-08002B2CF9AE}" pid="7" name="MSIP_Label_a7295cc1-d279-42ac-ab4d-3b0f4fece050_Name">
    <vt:lpwstr>FUJITSU-RESTRICTED​</vt:lpwstr>
  </property>
  <property fmtid="{D5CDD505-2E9C-101B-9397-08002B2CF9AE}" pid="8" name="MSIP_Label_a7295cc1-d279-42ac-ab4d-3b0f4fece050_SiteId">
    <vt:lpwstr>a19f121d-81e1-4858-a9d8-736e267fd4c7</vt:lpwstr>
  </property>
  <property fmtid="{D5CDD505-2E9C-101B-9397-08002B2CF9AE}" pid="9" name="MSIP_Label_a7295cc1-d279-42ac-ab4d-3b0f4fece050_ActionId">
    <vt:lpwstr>95278961-6634-494c-b22a-8a8e584a4a75</vt:lpwstr>
  </property>
  <property fmtid="{D5CDD505-2E9C-101B-9397-08002B2CF9AE}" pid="10" name="MSIP_Label_a7295cc1-d279-42ac-ab4d-3b0f4fece050_ContentBits">
    <vt:lpwstr>0</vt:lpwstr>
  </property>
</Properties>
</file>