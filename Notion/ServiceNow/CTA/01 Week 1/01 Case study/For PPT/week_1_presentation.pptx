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6"/>
  </p:notesMasterIdLst>
  <p:handoutMasterIdLst>
    <p:handoutMasterId r:id="rId17"/>
  </p:handoutMasterIdLst>
  <p:sldIdLst>
    <p:sldId id="292" r:id="rId5"/>
    <p:sldId id="302" r:id="rId6"/>
    <p:sldId id="275" r:id="rId7"/>
    <p:sldId id="283" r:id="rId8"/>
    <p:sldId id="295" r:id="rId9"/>
    <p:sldId id="298" r:id="rId10"/>
    <p:sldId id="303" r:id="rId11"/>
    <p:sldId id="299" r:id="rId12"/>
    <p:sldId id="300" r:id="rId13"/>
    <p:sldId id="301" r:id="rId14"/>
    <p:sldId id="289"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CD3CC"/>
    <a:srgbClr val="F8F6F5"/>
    <a:srgbClr val="446992"/>
    <a:srgbClr val="AEC2D8"/>
    <a:srgbClr val="98432A"/>
    <a:srgbClr val="D84400"/>
    <a:srgbClr val="44678D"/>
    <a:srgbClr val="263E5A"/>
    <a:srgbClr val="D6E0EB"/>
    <a:srgbClr val="728D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8F4F1B-943D-4DF2-BCF0-E0BD8A86DE76}" v="377" dt="2025-02-11T19:23:56.37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04" autoAdjust="0"/>
    <p:restoredTop sz="73245" autoAdjust="0"/>
  </p:normalViewPr>
  <p:slideViewPr>
    <p:cSldViewPr snapToGrid="0" showGuides="1">
      <p:cViewPr>
        <p:scale>
          <a:sx n="100" d="100"/>
          <a:sy n="100" d="100"/>
        </p:scale>
        <p:origin x="84" y="-150"/>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2/11/2025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ED2950FC-64C0-50D7-5101-884A13ED2F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CEA88831-A930-596B-0685-672024BE2711}"/>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2A3FD0A0-F4FB-BC20-358F-C4F179AA8980}"/>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2D389891-233D-6282-224F-6B8EC0182D20}"/>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D61DD8-56E8-44DB-8D68-9188DEA50502}" type="datetimeFigureOut">
              <a:rPr lang="en-US" smtClean="0"/>
              <a:t>2/11/2025</a:t>
            </a:fld>
            <a:endParaRPr lang="en-US"/>
          </a:p>
        </p:txBody>
      </p:sp>
      <p:sp>
        <p:nvSpPr>
          <p:cNvPr id="12" name="Notes Placeholder 11">
            <a:extLst>
              <a:ext uri="{FF2B5EF4-FFF2-40B4-BE49-F238E27FC236}">
                <a16:creationId xmlns:a16="http://schemas.microsoft.com/office/drawing/2014/main" id="{F2A2D99A-04B6-3AD9-B6DA-EEE29FB0DDFD}"/>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EF4F81C-C1F0-7738-A271-96AF417D7F89}"/>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84C781-2765-427A-A960-385CE0D0CAB9}"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ystem.to/"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Hello, my name is Pedro Leite, it’s a pleasure to be here, bringing solutions</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2014797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2</a:t>
            </a:fld>
            <a:endParaRPr lang="en-US" altLang="zh-CN" dirty="0"/>
          </a:p>
        </p:txBody>
      </p:sp>
    </p:spTree>
    <p:extLst>
      <p:ext uri="{BB962C8B-B14F-4D97-AF65-F5344CB8AC3E}">
        <p14:creationId xmlns:p14="http://schemas.microsoft.com/office/powerpoint/2010/main" val="706191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a:t>
            </a:fld>
            <a:endParaRPr lang="en-US" altLang="zh-CN" noProof="0" dirty="0"/>
          </a:p>
        </p:txBody>
      </p:sp>
    </p:spTree>
    <p:extLst>
      <p:ext uri="{BB962C8B-B14F-4D97-AF65-F5344CB8AC3E}">
        <p14:creationId xmlns:p14="http://schemas.microsoft.com/office/powerpoint/2010/main" val="464722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Regulatory Compliance</a:t>
            </a:r>
          </a:p>
          <a:p>
            <a:r>
              <a:rPr lang="en-US" dirty="0"/>
              <a:t>Data Security and Privacy</a:t>
            </a:r>
          </a:p>
          <a:p>
            <a:r>
              <a:rPr lang="en-US" dirty="0"/>
              <a:t>Integration</a:t>
            </a:r>
          </a:p>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a:t>
            </a:fld>
            <a:endParaRPr lang="en-US" altLang="zh-CN" noProof="0" dirty="0"/>
          </a:p>
        </p:txBody>
      </p:sp>
    </p:spTree>
    <p:extLst>
      <p:ext uri="{BB962C8B-B14F-4D97-AF65-F5344CB8AC3E}">
        <p14:creationId xmlns:p14="http://schemas.microsoft.com/office/powerpoint/2010/main" val="991236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b="1" dirty="0"/>
              <a:t>(Introductory topic text)</a:t>
            </a:r>
          </a:p>
          <a:p>
            <a:r>
              <a:rPr lang="en-US" dirty="0"/>
              <a:t>Regulatory compliance is crucial for banks as it ensures they operate within legal frameworks, avoid financial penalties, maintain customer trust, and protect the integrity of the financial </a:t>
            </a:r>
            <a:r>
              <a:rPr lang="en-US" dirty="0" err="1">
                <a:hlinkClick r:id="rId3"/>
              </a:rPr>
              <a:t>system.To</a:t>
            </a:r>
            <a:r>
              <a:rPr lang="en-US" dirty="0"/>
              <a:t> maintain regulatory compliance, Sovereign Bank must implement fine-grained access controls to restrict data visibility by region, map regulatory requirements to ServiceNow features such as field encryption, and ensure continuous monitoring and governance to adapt to evolving regulations.</a:t>
            </a:r>
          </a:p>
          <a:p>
            <a:endParaRPr lang="en-US" dirty="0"/>
          </a:p>
          <a:p>
            <a:r>
              <a:rPr lang="en-US" b="1" dirty="0"/>
              <a:t>(Bullet points on the slide)</a:t>
            </a:r>
          </a:p>
          <a:p>
            <a:r>
              <a:rPr lang="en-US" dirty="0"/>
              <a:t>That can be achieved, using ServiceNow since it offers the possibility of Compliance with all relevant regulations (e.g. GDPR, PCI, CSS). It also provides using risk assessment tools to manage compliance risks and it allows to implement access controls.</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5</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b="1" dirty="0"/>
              <a:t>(Introductory topic text)</a:t>
            </a:r>
          </a:p>
          <a:p>
            <a:r>
              <a:rPr lang="en-US" dirty="0"/>
              <a:t>To safeguard Personally Identifiable Information such as SSNs, financial transactions, and HR data, Sovereign Bank must navigate cross-border data sharing restrictions imposed by GDPR and PDPA while mitigating cybersecurity risks across its on-premise, hybrid, and cloud environments.</a:t>
            </a:r>
          </a:p>
          <a:p>
            <a:endParaRPr lang="en-US" dirty="0"/>
          </a:p>
          <a:p>
            <a:r>
              <a:rPr lang="en-US" b="1" dirty="0"/>
              <a:t>(Bullet points on the slide)</a:t>
            </a:r>
          </a:p>
          <a:p>
            <a:r>
              <a:rPr lang="en-US" dirty="0"/>
              <a:t>ServiceNow strengthens security by enforcing Role-Based Access Controls, ensuring only authorized personnel access sensitive information. Field-Level Encryption protects critical data while maintaining usability, and Multi-Factor Authentication with Single Sign-On enhances secure access across systems. These capabilities help Sovereign Bank mitigate risks and maintain compliance.</a:t>
            </a:r>
          </a:p>
          <a:p>
            <a:endParaRPr lang="en-US" b="0"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1857049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b="1" dirty="0"/>
              <a:t>(Introductory topic text) </a:t>
            </a:r>
          </a:p>
          <a:p>
            <a:r>
              <a:rPr lang="en-US" dirty="0"/>
              <a:t>Sovereign Bank must integrate legacy and cloud systems while navigating firewall restrictions, security constraints, and authentication challenges.</a:t>
            </a:r>
          </a:p>
          <a:p>
            <a:endParaRPr lang="en-US" dirty="0"/>
          </a:p>
          <a:p>
            <a:r>
              <a:rPr lang="en-US" b="1" dirty="0"/>
              <a:t>(Bullet points on the slide) </a:t>
            </a:r>
          </a:p>
          <a:p>
            <a:r>
              <a:rPr lang="en-US" dirty="0"/>
              <a:t>ServiceNow simplifies integration by enforcing OAuth 2.0 and mutual authentication for secure communication, supporting REST and SOAP APIs for seamless data exchange, and utilizing MID Servers to enable secure on-premise connectivity. These solutions ensure interoperability while maintaining compliance and security.</a:t>
            </a:r>
          </a:p>
          <a:p>
            <a:endParaRPr lang="en-US" b="0"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7</a:t>
            </a:fld>
            <a:endParaRPr lang="en-US" altLang="zh-CN" dirty="0"/>
          </a:p>
        </p:txBody>
      </p:sp>
    </p:spTree>
    <p:extLst>
      <p:ext uri="{BB962C8B-B14F-4D97-AF65-F5344CB8AC3E}">
        <p14:creationId xmlns:p14="http://schemas.microsoft.com/office/powerpoint/2010/main" val="37444359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b="1" dirty="0"/>
              <a:t>(Introductory topic text)</a:t>
            </a:r>
            <a:endParaRPr lang="en-US" dirty="0"/>
          </a:p>
          <a:p>
            <a:r>
              <a:rPr lang="en-US" dirty="0"/>
              <a:t>To ensure successful data migration and integrity, Sovereign Bank must consolidate and cleanse data from multiple legacy systems, prevent data loss or corruption during the transition, and establish robust validation mechanisms to maintain accuracy and consistency across the new ServiceNow platform.</a:t>
            </a:r>
          </a:p>
          <a:p>
            <a:endParaRPr lang="en-US" dirty="0"/>
          </a:p>
          <a:p>
            <a:r>
              <a:rPr lang="en-US" b="1" dirty="0"/>
              <a:t>(Bullet points on the slide)</a:t>
            </a:r>
          </a:p>
          <a:p>
            <a:r>
              <a:rPr lang="en-US" dirty="0"/>
              <a:t>To successfully achieve this with ServiceNow, while preventing data loss, the Bank can use Integration Hub to import data from Remedy, for CMDB, it can sanitize the data using Identification and Reconciliation Engine. To maintain data quality, ServiceNow provides tools like Data Certification for data quality assessment and cleansing.</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8</a:t>
            </a:fld>
            <a:endParaRPr lang="en-US" altLang="zh-CN" dirty="0"/>
          </a:p>
        </p:txBody>
      </p:sp>
    </p:spTree>
    <p:extLst>
      <p:ext uri="{BB962C8B-B14F-4D97-AF65-F5344CB8AC3E}">
        <p14:creationId xmlns:p14="http://schemas.microsoft.com/office/powerpoint/2010/main" val="33911360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b="1" dirty="0"/>
              <a:t>(Introductory topic text)</a:t>
            </a:r>
          </a:p>
          <a:p>
            <a:r>
              <a:rPr lang="en-US" dirty="0"/>
              <a:t>To drive successful adoption of ServiceNow, Sovereign Bank must address resistance to process changes from long-tenured employees, align conflicting priorities across business units, and mitigate fears of job losses due to automation through clear communication and change management strategies.</a:t>
            </a:r>
          </a:p>
          <a:p>
            <a:endParaRPr lang="en-US" b="1" dirty="0"/>
          </a:p>
          <a:p>
            <a:r>
              <a:rPr lang="en-US" b="1" dirty="0"/>
              <a:t>(Bullet points on the slide) </a:t>
            </a:r>
          </a:p>
          <a:p>
            <a:r>
              <a:rPr lang="en-US" dirty="0"/>
              <a:t>Sovereign Bank faces resistance to change, conflicting priorities, and job security concerns. ServiceNow promotes transparency through collaboration tools and stakeholder engagement, ensuring alignment across teams. Automated workflows reduce manual tasks, allowing employees to focus on higher-value work. Guided Tours and self-service training ease adoption, while Knowledge Articles and surveys empower users and gather feedback. By leveraging these features, Sovereign Bank can drive a smooth and efficient transition.</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9</a:t>
            </a:fld>
            <a:endParaRPr lang="en-US" altLang="zh-CN" dirty="0"/>
          </a:p>
        </p:txBody>
      </p:sp>
    </p:spTree>
    <p:extLst>
      <p:ext uri="{BB962C8B-B14F-4D97-AF65-F5344CB8AC3E}">
        <p14:creationId xmlns:p14="http://schemas.microsoft.com/office/powerpoint/2010/main" val="158245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b="1" dirty="0"/>
              <a:t>(Introductory topic text)</a:t>
            </a:r>
          </a:p>
          <a:p>
            <a:r>
              <a:rPr lang="en-US" b="0" dirty="0"/>
              <a:t>Sovereign Bank’s large workforce, global operations, and diverse IT policies make ITSM standardization and performance scalability challenging.</a:t>
            </a:r>
          </a:p>
          <a:p>
            <a:endParaRPr lang="en-US" b="0" dirty="0"/>
          </a:p>
          <a:p>
            <a:r>
              <a:rPr lang="en-US" b="1" dirty="0"/>
              <a:t>(Bullet points on the slide)</a:t>
            </a:r>
          </a:p>
          <a:p>
            <a:r>
              <a:rPr lang="en-US" b="0" dirty="0"/>
              <a:t>ServiceNow addresses these challenges with a modular implementation approach for phased rollouts, performance optimization tools to handle high data volumes, and a scalable architecture that supports large enterprises, ensuring long-term efficiency and growth.</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10</a:t>
            </a:fld>
            <a:endParaRPr lang="en-US" altLang="zh-CN" dirty="0"/>
          </a:p>
        </p:txBody>
      </p:sp>
    </p:spTree>
    <p:extLst>
      <p:ext uri="{BB962C8B-B14F-4D97-AF65-F5344CB8AC3E}">
        <p14:creationId xmlns:p14="http://schemas.microsoft.com/office/powerpoint/2010/main" val="42911251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dirty="0"/>
          </a:p>
        </p:txBody>
      </p:sp>
    </p:spTree>
    <p:extLst>
      <p:ext uri="{BB962C8B-B14F-4D97-AF65-F5344CB8AC3E}">
        <p14:creationId xmlns:p14="http://schemas.microsoft.com/office/powerpoint/2010/main" val="143929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dirty="0"/>
              <a:t>Click to edit Master title style</a:t>
            </a:r>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jpg"/><Relationship Id="rId13" Type="http://schemas.openxmlformats.org/officeDocument/2006/relationships/hyperlink" Target="http://arjarnbomb.blogspot.com/2016/07/circle-cycle.html" TargetMode="External"/><Relationship Id="rId3" Type="http://schemas.openxmlformats.org/officeDocument/2006/relationships/image" Target="../media/image8.png"/><Relationship Id="rId7" Type="http://schemas.openxmlformats.org/officeDocument/2006/relationships/hyperlink" Target="https://www.ofthat.com/2019/" TargetMode="External"/><Relationship Id="rId12"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10.jpg"/><Relationship Id="rId11" Type="http://schemas.openxmlformats.org/officeDocument/2006/relationships/hyperlink" Target="https://askrpa.com/scalability-and-the-need-for-implementing-scalable-automations/" TargetMode="External"/><Relationship Id="rId5" Type="http://schemas.openxmlformats.org/officeDocument/2006/relationships/hyperlink" Target="https://flexspan.blogspot.com/2018/03/gdpr-och-skolan.html" TargetMode="External"/><Relationship Id="rId10" Type="http://schemas.openxmlformats.org/officeDocument/2006/relationships/image" Target="../media/image12.png"/><Relationship Id="rId4" Type="http://schemas.openxmlformats.org/officeDocument/2006/relationships/image" Target="../media/image9.jpg"/><Relationship Id="rId9" Type="http://schemas.openxmlformats.org/officeDocument/2006/relationships/hyperlink" Target="https://www.devdummy.com/2018/11/mysql-insert-data-by-selecting-from.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9.sv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1.xml"/><Relationship Id="rId1" Type="http://schemas.openxmlformats.org/officeDocument/2006/relationships/slideLayout" Target="../slideLayouts/slideLayout16.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p:txBody>
          <a:bodyPr/>
          <a:lstStyle/>
          <a:p>
            <a:r>
              <a:rPr lang="en-US" altLang="zh-CN" dirty="0"/>
              <a:t>Sovereign Bank</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p:txBody>
          <a:bodyPr/>
          <a:lstStyle/>
          <a:p>
            <a:r>
              <a:rPr lang="en-US" dirty="0"/>
              <a:t>Pedro Leite</a:t>
            </a:r>
          </a:p>
          <a:p>
            <a:r>
              <a:rPr lang="en-US" dirty="0" err="1"/>
              <a:t>ServiceWow</a:t>
            </a:r>
            <a:endParaRPr lang="en-US" dirty="0"/>
          </a:p>
        </p:txBody>
      </p:sp>
      <p:pic>
        <p:nvPicPr>
          <p:cNvPr id="30" name="Picture placeholder 29" descr="People in an office discussing work over a laptop&#10;">
            <a:extLst>
              <a:ext uri="{FF2B5EF4-FFF2-40B4-BE49-F238E27FC236}">
                <a16:creationId xmlns:a16="http://schemas.microsoft.com/office/drawing/2014/main" id="{18C88B4D-F554-49C2-A23C-DFE94D4C835B}"/>
              </a:ext>
            </a:extLst>
          </p:cNvPr>
          <p:cNvPicPr>
            <a:picLocks noGrp="1" noChangeAspect="1"/>
          </p:cNvPicPr>
          <p:nvPr>
            <p:ph type="pic" sz="quarter" idx="47"/>
          </p:nvPr>
        </p:nvPicPr>
        <p:blipFill rotWithShape="1">
          <a:blip r:embed="rId3">
            <a:extLst>
              <a:ext uri="{28A0092B-C50C-407E-A947-70E740481C1C}">
                <a14:useLocalDpi xmlns:a14="http://schemas.microsoft.com/office/drawing/2010/main"/>
              </a:ext>
            </a:extLst>
          </a:blip>
          <a:srcRect t="1875" r="1875"/>
          <a:stretch/>
        </p:blipFill>
        <p:spPr>
          <a:xfrm>
            <a:off x="6742557" y="821836"/>
            <a:ext cx="4405503" cy="5066346"/>
          </a:xfrm>
        </p:spPr>
      </p:pic>
      <p:sp>
        <p:nvSpPr>
          <p:cNvPr id="10" name="Freeform: Shape 11">
            <a:extLst>
              <a:ext uri="{FF2B5EF4-FFF2-40B4-BE49-F238E27FC236}">
                <a16:creationId xmlns:a16="http://schemas.microsoft.com/office/drawing/2014/main" id="{01A79B69-242C-3AEB-4A42-7A606A54C63A}"/>
              </a:ext>
              <a:ext uri="{C183D7F6-B498-43B3-948B-1728B52AA6E4}">
                <adec:decorative xmlns:adec="http://schemas.microsoft.com/office/drawing/2017/decorative" val="1"/>
              </a:ext>
            </a:extLst>
          </p:cNvPr>
          <p:cNvSpPr/>
          <p:nvPr/>
        </p:nvSpPr>
        <p:spPr>
          <a:xfrm>
            <a:off x="9857505" y="838985"/>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55">
            <a:extLst>
              <a:ext uri="{FF2B5EF4-FFF2-40B4-BE49-F238E27FC236}">
                <a16:creationId xmlns:a16="http://schemas.microsoft.com/office/drawing/2014/main" id="{84A47BFD-40CC-CEB5-7E89-D70D6179D5EE}"/>
              </a:ext>
            </a:extLst>
          </p:cNvPr>
          <p:cNvSpPr>
            <a:spLocks noGrp="1"/>
          </p:cNvSpPr>
          <p:nvPr>
            <p:ph type="title"/>
          </p:nvPr>
        </p:nvSpPr>
        <p:spPr>
          <a:xfrm>
            <a:off x="222094" y="2932864"/>
            <a:ext cx="3909993" cy="829054"/>
          </a:xfrm>
        </p:spPr>
        <p:txBody>
          <a:bodyPr/>
          <a:lstStyle/>
          <a:p>
            <a:r>
              <a:rPr lang="en-US" dirty="0"/>
              <a:t>Meet our team</a:t>
            </a:r>
            <a:br>
              <a:rPr lang="en-US" dirty="0"/>
            </a:br>
            <a:endParaRPr lang="en-US" dirty="0"/>
          </a:p>
        </p:txBody>
      </p:sp>
      <p:pic>
        <p:nvPicPr>
          <p:cNvPr id="38" name="Picture Placeholder 20">
            <a:extLst>
              <a:ext uri="{FF2B5EF4-FFF2-40B4-BE49-F238E27FC236}">
                <a16:creationId xmlns:a16="http://schemas.microsoft.com/office/drawing/2014/main" id="{5D2A9DFD-3D4A-4D7C-3E10-350C87DC2350}"/>
              </a:ext>
            </a:extLst>
          </p:cNvPr>
          <p:cNvPicPr>
            <a:picLocks noChangeAspect="1"/>
          </p:cNvPicPr>
          <p:nvPr/>
        </p:nvPicPr>
        <p:blipFill>
          <a:blip r:embed="rId3"/>
          <a:srcRect l="11476" r="11476"/>
          <a:stretch/>
        </p:blipFill>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39" name="Picture Placeholder 21">
            <a:extLst>
              <a:ext uri="{FF2B5EF4-FFF2-40B4-BE49-F238E27FC236}">
                <a16:creationId xmlns:a16="http://schemas.microsoft.com/office/drawing/2014/main" id="{479E2896-AE5D-0D18-C79D-304F4E1920C8}"/>
              </a:ext>
            </a:extLst>
          </p:cNvPr>
          <p:cNvPicPr>
            <a:picLocks noChangeAspect="1"/>
          </p:cNvPicPr>
          <p:nvPr/>
        </p:nvPicPr>
        <p:blipFill>
          <a:blip r:embed="rId4"/>
          <a:srcRect l="10565" r="10565"/>
          <a:stretch/>
        </p:blipFill>
        <p:spPr>
          <a:xfrm>
            <a:off x="4269794" y="259797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40" name="Picture Placeholder 22">
            <a:extLst>
              <a:ext uri="{FF2B5EF4-FFF2-40B4-BE49-F238E27FC236}">
                <a16:creationId xmlns:a16="http://schemas.microsoft.com/office/drawing/2014/main" id="{87DE6C3F-2778-1D57-7171-8AF65EC15DA3}"/>
              </a:ext>
            </a:extLst>
          </p:cNvPr>
          <p:cNvPicPr>
            <a:picLocks noChangeAspect="1"/>
          </p:cNvPicPr>
          <p:nvPr/>
        </p:nvPicPr>
        <p:blipFill>
          <a:blip r:embed="rId5"/>
          <a:srcRect l="10627" r="10627"/>
          <a:stretch/>
        </p:blipFill>
        <p:spPr>
          <a:xfrm>
            <a:off x="4269795" y="4759489"/>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41" name="Text Placeholder 133">
            <a:extLst>
              <a:ext uri="{FF2B5EF4-FFF2-40B4-BE49-F238E27FC236}">
                <a16:creationId xmlns:a16="http://schemas.microsoft.com/office/drawing/2014/main" id="{AEFFB360-AF21-7C62-4515-3C6D16B27606}"/>
              </a:ext>
            </a:extLst>
          </p:cNvPr>
          <p:cNvSpPr>
            <a:spLocks noGrp="1"/>
          </p:cNvSpPr>
          <p:nvPr>
            <p:ph type="body" sz="quarter" idx="27"/>
          </p:nvPr>
        </p:nvSpPr>
        <p:spPr>
          <a:xfrm>
            <a:off x="5520210" y="522515"/>
            <a:ext cx="2289842" cy="626551"/>
          </a:xfrm>
        </p:spPr>
        <p:txBody>
          <a:bodyPr/>
          <a:lstStyle/>
          <a:p>
            <a:r>
              <a:rPr lang="en-US" altLang="zh-CN" dirty="0"/>
              <a:t>Eric </a:t>
            </a:r>
            <a:r>
              <a:rPr lang="en-US" altLang="zh-CN" dirty="0" err="1"/>
              <a:t>Jehl</a:t>
            </a:r>
            <a:br>
              <a:rPr lang="en-US" altLang="zh-CN" dirty="0"/>
            </a:br>
            <a:endParaRPr lang="en-US" altLang="zh-CN" dirty="0"/>
          </a:p>
        </p:txBody>
      </p:sp>
      <p:sp>
        <p:nvSpPr>
          <p:cNvPr id="42" name="Text Placeholder 111">
            <a:extLst>
              <a:ext uri="{FF2B5EF4-FFF2-40B4-BE49-F238E27FC236}">
                <a16:creationId xmlns:a16="http://schemas.microsoft.com/office/drawing/2014/main" id="{329C94D2-2E5D-DF7F-0773-D707E26B5324}"/>
              </a:ext>
            </a:extLst>
          </p:cNvPr>
          <p:cNvSpPr>
            <a:spLocks noGrp="1"/>
          </p:cNvSpPr>
          <p:nvPr>
            <p:ph type="body" sz="quarter" idx="28"/>
          </p:nvPr>
        </p:nvSpPr>
        <p:spPr>
          <a:xfrm>
            <a:off x="5520211" y="1165881"/>
            <a:ext cx="2289842" cy="506399"/>
          </a:xfrm>
        </p:spPr>
        <p:txBody>
          <a:bodyPr/>
          <a:lstStyle/>
          <a:p>
            <a:pPr marL="0" indent="0">
              <a:buNone/>
            </a:pPr>
            <a:r>
              <a:rPr lang="en-US" dirty="0"/>
              <a:t>Solution Architect</a:t>
            </a:r>
            <a:br>
              <a:rPr lang="en-US" dirty="0"/>
            </a:br>
            <a:r>
              <a:rPr lang="en-US" dirty="0"/>
              <a:t>ITSM, Discovery, HRSD, Business Analysis</a:t>
            </a:r>
          </a:p>
          <a:p>
            <a:endParaRPr lang="en-US" dirty="0"/>
          </a:p>
          <a:p>
            <a:endParaRPr lang="en-US" dirty="0"/>
          </a:p>
        </p:txBody>
      </p:sp>
      <p:sp>
        <p:nvSpPr>
          <p:cNvPr id="43" name="Text Placeholder 135">
            <a:extLst>
              <a:ext uri="{FF2B5EF4-FFF2-40B4-BE49-F238E27FC236}">
                <a16:creationId xmlns:a16="http://schemas.microsoft.com/office/drawing/2014/main" id="{005AAB20-E217-288F-0F26-029571E383FE}"/>
              </a:ext>
            </a:extLst>
          </p:cNvPr>
          <p:cNvSpPr txBox="1">
            <a:spLocks/>
          </p:cNvSpPr>
          <p:nvPr/>
        </p:nvSpPr>
        <p:spPr>
          <a:xfrm>
            <a:off x="5520208" y="2698921"/>
            <a:ext cx="2193021" cy="61741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b="1" dirty="0">
                <a:cs typeface="Posterama" panose="020B0504020200020000" pitchFamily="34" charset="0"/>
              </a:rPr>
              <a:t>Pedro</a:t>
            </a:r>
            <a:r>
              <a:rPr lang="en-US" altLang="zh-CN" dirty="0"/>
              <a:t> </a:t>
            </a:r>
            <a:r>
              <a:rPr lang="en-US" altLang="zh-CN" sz="1800" b="1" dirty="0">
                <a:cs typeface="Posterama" panose="020B0504020200020000" pitchFamily="34" charset="0"/>
              </a:rPr>
              <a:t>Leite</a:t>
            </a:r>
          </a:p>
        </p:txBody>
      </p:sp>
      <p:sp>
        <p:nvSpPr>
          <p:cNvPr id="44" name="Text Placeholder 113">
            <a:extLst>
              <a:ext uri="{FF2B5EF4-FFF2-40B4-BE49-F238E27FC236}">
                <a16:creationId xmlns:a16="http://schemas.microsoft.com/office/drawing/2014/main" id="{BD26EA15-A642-9B7E-0CCC-C2B39669A26F}"/>
              </a:ext>
            </a:extLst>
          </p:cNvPr>
          <p:cNvSpPr txBox="1">
            <a:spLocks/>
          </p:cNvSpPr>
          <p:nvPr/>
        </p:nvSpPr>
        <p:spPr>
          <a:xfrm>
            <a:off x="5520210" y="3333471"/>
            <a:ext cx="2193021" cy="5063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1400" dirty="0"/>
              <a:t>Solution Architect</a:t>
            </a:r>
            <a:br>
              <a:rPr lang="en-US" sz="1400" dirty="0"/>
            </a:br>
            <a:r>
              <a:rPr lang="en-US" sz="1400" dirty="0"/>
              <a:t>CSM, FSM, Integration, Discovery, Automation</a:t>
            </a:r>
          </a:p>
        </p:txBody>
      </p:sp>
      <p:sp>
        <p:nvSpPr>
          <p:cNvPr id="45" name="Text Placeholder 137">
            <a:extLst>
              <a:ext uri="{FF2B5EF4-FFF2-40B4-BE49-F238E27FC236}">
                <a16:creationId xmlns:a16="http://schemas.microsoft.com/office/drawing/2014/main" id="{C94782B2-A220-3E4B-3225-955BE3C7D7D6}"/>
              </a:ext>
            </a:extLst>
          </p:cNvPr>
          <p:cNvSpPr txBox="1">
            <a:spLocks/>
          </p:cNvSpPr>
          <p:nvPr/>
        </p:nvSpPr>
        <p:spPr>
          <a:xfrm>
            <a:off x="5520209" y="4866194"/>
            <a:ext cx="2098039" cy="5063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b="1" dirty="0">
                <a:cs typeface="Posterama" panose="020B0504020200020000" pitchFamily="34" charset="0"/>
              </a:rPr>
              <a:t>Suzi Matsui</a:t>
            </a:r>
          </a:p>
        </p:txBody>
      </p:sp>
      <p:sp>
        <p:nvSpPr>
          <p:cNvPr id="46" name="Text Placeholder 115">
            <a:extLst>
              <a:ext uri="{FF2B5EF4-FFF2-40B4-BE49-F238E27FC236}">
                <a16:creationId xmlns:a16="http://schemas.microsoft.com/office/drawing/2014/main" id="{51AC91D1-A297-3D52-F34F-C2DD0A8EF536}"/>
              </a:ext>
            </a:extLst>
          </p:cNvPr>
          <p:cNvSpPr txBox="1">
            <a:spLocks/>
          </p:cNvSpPr>
          <p:nvPr/>
        </p:nvSpPr>
        <p:spPr>
          <a:xfrm>
            <a:off x="5520210" y="5499575"/>
            <a:ext cx="2098038" cy="5063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1400" dirty="0"/>
              <a:t>Solution Architect</a:t>
            </a:r>
            <a:br>
              <a:rPr lang="en-US" sz="1400" dirty="0"/>
            </a:br>
            <a:r>
              <a:rPr lang="en-US" sz="1400" dirty="0"/>
              <a:t>ITSM, Integration, Automation, CSM, HRSD</a:t>
            </a:r>
          </a:p>
        </p:txBody>
      </p:sp>
      <p:pic>
        <p:nvPicPr>
          <p:cNvPr id="47" name="Picture Placeholder 24">
            <a:extLst>
              <a:ext uri="{FF2B5EF4-FFF2-40B4-BE49-F238E27FC236}">
                <a16:creationId xmlns:a16="http://schemas.microsoft.com/office/drawing/2014/main" id="{1A5B5B45-7B0E-0F2F-EDD1-AF748AAF865E}"/>
              </a:ext>
            </a:extLst>
          </p:cNvPr>
          <p:cNvPicPr>
            <a:picLocks noChangeAspect="1"/>
          </p:cNvPicPr>
          <p:nvPr/>
        </p:nvPicPr>
        <p:blipFill>
          <a:blip r:embed="rId6"/>
          <a:srcRect l="10362" r="10362"/>
          <a:stretch/>
        </p:blipFill>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48" name="Picture Placeholder 25">
            <a:extLst>
              <a:ext uri="{FF2B5EF4-FFF2-40B4-BE49-F238E27FC236}">
                <a16:creationId xmlns:a16="http://schemas.microsoft.com/office/drawing/2014/main" id="{0D0E00AA-C2FA-DE09-ABB2-AB945F2560E5}"/>
              </a:ext>
            </a:extLst>
          </p:cNvPr>
          <p:cNvPicPr>
            <a:picLocks noChangeAspect="1"/>
          </p:cNvPicPr>
          <p:nvPr/>
        </p:nvPicPr>
        <p:blipFill>
          <a:blip r:embed="rId7"/>
          <a:srcRect l="7031" r="7031"/>
          <a:stretch/>
        </p:blipFill>
        <p:spPr>
          <a:xfrm>
            <a:off x="8059914" y="259797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49" name="Picture Placeholder 26">
            <a:extLst>
              <a:ext uri="{FF2B5EF4-FFF2-40B4-BE49-F238E27FC236}">
                <a16:creationId xmlns:a16="http://schemas.microsoft.com/office/drawing/2014/main" id="{A84FF4E3-3207-6880-02B6-FEA4558D9DF4}"/>
              </a:ext>
            </a:extLst>
          </p:cNvPr>
          <p:cNvPicPr>
            <a:picLocks noChangeAspect="1"/>
          </p:cNvPicPr>
          <p:nvPr/>
        </p:nvPicPr>
        <p:blipFill>
          <a:blip r:embed="rId8"/>
          <a:srcRect l="10362" r="10362"/>
          <a:stretch/>
        </p:blipFill>
        <p:spPr>
          <a:xfrm>
            <a:off x="8059915" y="4759489"/>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50" name="Text Placeholder 131">
            <a:extLst>
              <a:ext uri="{FF2B5EF4-FFF2-40B4-BE49-F238E27FC236}">
                <a16:creationId xmlns:a16="http://schemas.microsoft.com/office/drawing/2014/main" id="{30F0743D-6C62-DB35-0B33-33CC6482D9CE}"/>
              </a:ext>
            </a:extLst>
          </p:cNvPr>
          <p:cNvSpPr txBox="1">
            <a:spLocks/>
          </p:cNvSpPr>
          <p:nvPr/>
        </p:nvSpPr>
        <p:spPr>
          <a:xfrm>
            <a:off x="9309887" y="483637"/>
            <a:ext cx="2098039" cy="5063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cs typeface="Posterama" panose="020B0504020200020000" pitchFamily="34" charset="0"/>
              </a:rPr>
              <a:t>Marta Hernandez</a:t>
            </a:r>
          </a:p>
        </p:txBody>
      </p:sp>
      <p:sp>
        <p:nvSpPr>
          <p:cNvPr id="51" name="Text Placeholder 109">
            <a:extLst>
              <a:ext uri="{FF2B5EF4-FFF2-40B4-BE49-F238E27FC236}">
                <a16:creationId xmlns:a16="http://schemas.microsoft.com/office/drawing/2014/main" id="{1770BA0C-D994-98C7-F40D-F839BC81AE4B}"/>
              </a:ext>
            </a:extLst>
          </p:cNvPr>
          <p:cNvSpPr txBox="1">
            <a:spLocks/>
          </p:cNvSpPr>
          <p:nvPr/>
        </p:nvSpPr>
        <p:spPr>
          <a:xfrm>
            <a:off x="9309891" y="1165881"/>
            <a:ext cx="2098038" cy="5063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tx1"/>
                </a:solidFill>
              </a:rPr>
              <a:t>Solution Architect</a:t>
            </a:r>
            <a:br>
              <a:rPr lang="en-US" sz="1400" dirty="0">
                <a:solidFill>
                  <a:schemeClr val="tx1"/>
                </a:solidFill>
              </a:rPr>
            </a:br>
            <a:r>
              <a:rPr lang="en-US" sz="1400" dirty="0">
                <a:solidFill>
                  <a:schemeClr val="tx1"/>
                </a:solidFill>
              </a:rPr>
              <a:t>ITSM, SPM, Integration</a:t>
            </a:r>
          </a:p>
          <a:p>
            <a:endParaRPr lang="en-US" sz="2400" dirty="0"/>
          </a:p>
        </p:txBody>
      </p:sp>
      <p:sp>
        <p:nvSpPr>
          <p:cNvPr id="52" name="Text Placeholder 129">
            <a:extLst>
              <a:ext uri="{FF2B5EF4-FFF2-40B4-BE49-F238E27FC236}">
                <a16:creationId xmlns:a16="http://schemas.microsoft.com/office/drawing/2014/main" id="{83882D6B-D26E-10D5-8E8D-72BAD0757DB3}"/>
              </a:ext>
            </a:extLst>
          </p:cNvPr>
          <p:cNvSpPr txBox="1">
            <a:spLocks/>
          </p:cNvSpPr>
          <p:nvPr/>
        </p:nvSpPr>
        <p:spPr>
          <a:xfrm>
            <a:off x="9309888" y="2625953"/>
            <a:ext cx="2098039" cy="7011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b="1" dirty="0">
                <a:cs typeface="Posterama" panose="020B0504020200020000" pitchFamily="34" charset="0"/>
              </a:rPr>
              <a:t>Rajesh Kumar</a:t>
            </a:r>
          </a:p>
        </p:txBody>
      </p:sp>
      <p:sp>
        <p:nvSpPr>
          <p:cNvPr id="53" name="Text Placeholder 107">
            <a:extLst>
              <a:ext uri="{FF2B5EF4-FFF2-40B4-BE49-F238E27FC236}">
                <a16:creationId xmlns:a16="http://schemas.microsoft.com/office/drawing/2014/main" id="{BDC32D20-3B58-2F64-4C00-2E447F74DBA7}"/>
              </a:ext>
            </a:extLst>
          </p:cNvPr>
          <p:cNvSpPr txBox="1">
            <a:spLocks/>
          </p:cNvSpPr>
          <p:nvPr/>
        </p:nvSpPr>
        <p:spPr>
          <a:xfrm>
            <a:off x="9309888" y="3340157"/>
            <a:ext cx="2098038" cy="5063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tx1"/>
                </a:solidFill>
              </a:rPr>
              <a:t>Solution Architect</a:t>
            </a:r>
            <a:br>
              <a:rPr lang="en-US" sz="1400" dirty="0">
                <a:solidFill>
                  <a:schemeClr val="tx1"/>
                </a:solidFill>
              </a:rPr>
            </a:br>
            <a:r>
              <a:rPr lang="en-US" sz="1400" dirty="0">
                <a:solidFill>
                  <a:schemeClr val="tx1"/>
                </a:solidFill>
              </a:rPr>
              <a:t>I</a:t>
            </a:r>
            <a:r>
              <a:rPr lang="en-US" altLang="zh-CN" sz="1400" dirty="0">
                <a:solidFill>
                  <a:schemeClr val="tx1"/>
                </a:solidFill>
              </a:rPr>
              <a:t>RM, SecOps, ITSM, Integration</a:t>
            </a:r>
          </a:p>
        </p:txBody>
      </p:sp>
      <p:sp>
        <p:nvSpPr>
          <p:cNvPr id="54" name="Text Placeholder 127">
            <a:extLst>
              <a:ext uri="{FF2B5EF4-FFF2-40B4-BE49-F238E27FC236}">
                <a16:creationId xmlns:a16="http://schemas.microsoft.com/office/drawing/2014/main" id="{0B6E8FC2-288D-EEB5-5BFD-130E880A40E2}"/>
              </a:ext>
            </a:extLst>
          </p:cNvPr>
          <p:cNvSpPr txBox="1">
            <a:spLocks/>
          </p:cNvSpPr>
          <p:nvPr/>
        </p:nvSpPr>
        <p:spPr>
          <a:xfrm>
            <a:off x="9309888" y="4963014"/>
            <a:ext cx="2263276" cy="5063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b="1" dirty="0">
                <a:cs typeface="Posterama" panose="020B0504020200020000" pitchFamily="34" charset="0"/>
              </a:rPr>
              <a:t>Vaibhav Maheshwari</a:t>
            </a:r>
          </a:p>
        </p:txBody>
      </p:sp>
      <p:sp>
        <p:nvSpPr>
          <p:cNvPr id="55" name="Text Placeholder 105">
            <a:extLst>
              <a:ext uri="{FF2B5EF4-FFF2-40B4-BE49-F238E27FC236}">
                <a16:creationId xmlns:a16="http://schemas.microsoft.com/office/drawing/2014/main" id="{24CEFCBD-A397-3802-BC90-4A04C4AE616B}"/>
              </a:ext>
            </a:extLst>
          </p:cNvPr>
          <p:cNvSpPr txBox="1">
            <a:spLocks/>
          </p:cNvSpPr>
          <p:nvPr/>
        </p:nvSpPr>
        <p:spPr>
          <a:xfrm>
            <a:off x="9309890" y="5499575"/>
            <a:ext cx="2098038" cy="5063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tx1"/>
                </a:solidFill>
              </a:rPr>
              <a:t>Solution Architect</a:t>
            </a:r>
            <a:br>
              <a:rPr lang="en-US" sz="1400" dirty="0">
                <a:solidFill>
                  <a:schemeClr val="tx1"/>
                </a:solidFill>
              </a:rPr>
            </a:br>
            <a:r>
              <a:rPr lang="en-US" sz="1400" dirty="0">
                <a:solidFill>
                  <a:schemeClr val="tx1"/>
                </a:solidFill>
              </a:rPr>
              <a:t>ITSM, SAM, ITAM, Integration</a:t>
            </a:r>
          </a:p>
          <a:p>
            <a:endParaRPr lang="en-US" sz="1400" dirty="0">
              <a:solidFill>
                <a:schemeClr val="tx1"/>
              </a:solidFill>
            </a:endParaRPr>
          </a:p>
          <a:p>
            <a:endParaRPr lang="zh-CN" altLang="en-US" sz="2400" dirty="0"/>
          </a:p>
        </p:txBody>
      </p:sp>
    </p:spTree>
    <p:extLst>
      <p:ext uri="{BB962C8B-B14F-4D97-AF65-F5344CB8AC3E}">
        <p14:creationId xmlns:p14="http://schemas.microsoft.com/office/powerpoint/2010/main" val="1163003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DF64211-DCD8-B458-DBD2-EBDA7AE3396F}"/>
              </a:ext>
            </a:extLst>
          </p:cNvPr>
          <p:cNvSpPr>
            <a:spLocks noGrp="1"/>
          </p:cNvSpPr>
          <p:nvPr>
            <p:ph type="title"/>
          </p:nvPr>
        </p:nvSpPr>
        <p:spPr/>
        <p:txBody>
          <a:bodyPr/>
          <a:lstStyle/>
          <a:p>
            <a:r>
              <a:rPr lang="en-US" altLang="zh-CN" dirty="0"/>
              <a:t>Strengths</a:t>
            </a:r>
            <a:endParaRPr lang="en-US" dirty="0"/>
          </a:p>
        </p:txBody>
      </p:sp>
      <p:sp>
        <p:nvSpPr>
          <p:cNvPr id="16" name="Text Placeholder 15">
            <a:extLst>
              <a:ext uri="{FF2B5EF4-FFF2-40B4-BE49-F238E27FC236}">
                <a16:creationId xmlns:a16="http://schemas.microsoft.com/office/drawing/2014/main" id="{8FEA3BB9-F064-CFBE-C0BE-BB7A22A4DCFC}"/>
              </a:ext>
            </a:extLst>
          </p:cNvPr>
          <p:cNvSpPr>
            <a:spLocks noGrp="1"/>
          </p:cNvSpPr>
          <p:nvPr>
            <p:ph type="body" sz="quarter" idx="28"/>
          </p:nvPr>
        </p:nvSpPr>
        <p:spPr/>
        <p:txBody>
          <a:bodyPr/>
          <a:lstStyle/>
          <a:p>
            <a:r>
              <a:rPr lang="en-US" dirty="0">
                <a:solidFill>
                  <a:schemeClr val="tx1"/>
                </a:solidFill>
                <a:latin typeface="+mn-lt"/>
              </a:rPr>
              <a:t>&gt;30 years</a:t>
            </a:r>
          </a:p>
        </p:txBody>
      </p:sp>
      <p:sp>
        <p:nvSpPr>
          <p:cNvPr id="9" name="Text Placeholder 8">
            <a:extLst>
              <a:ext uri="{FF2B5EF4-FFF2-40B4-BE49-F238E27FC236}">
                <a16:creationId xmlns:a16="http://schemas.microsoft.com/office/drawing/2014/main" id="{78024C77-A2F8-1ABA-5412-E6BB88B5FA1B}"/>
              </a:ext>
            </a:extLst>
          </p:cNvPr>
          <p:cNvSpPr>
            <a:spLocks noGrp="1"/>
          </p:cNvSpPr>
          <p:nvPr>
            <p:ph type="body" sz="quarter" idx="29"/>
          </p:nvPr>
        </p:nvSpPr>
        <p:spPr/>
        <p:txBody>
          <a:bodyPr/>
          <a:lstStyle/>
          <a:p>
            <a:r>
              <a:rPr lang="en-US" dirty="0">
                <a:solidFill>
                  <a:schemeClr val="tx1"/>
                </a:solidFill>
                <a:latin typeface="+mn-lt"/>
              </a:rPr>
              <a:t>EN, HI, ES, PT</a:t>
            </a:r>
          </a:p>
        </p:txBody>
      </p:sp>
      <p:sp>
        <p:nvSpPr>
          <p:cNvPr id="18" name="Text Placeholder 17">
            <a:extLst>
              <a:ext uri="{FF2B5EF4-FFF2-40B4-BE49-F238E27FC236}">
                <a16:creationId xmlns:a16="http://schemas.microsoft.com/office/drawing/2014/main" id="{241202DB-E499-EB19-8A48-A3301DA59ED7}"/>
              </a:ext>
            </a:extLst>
          </p:cNvPr>
          <p:cNvSpPr>
            <a:spLocks noGrp="1"/>
          </p:cNvSpPr>
          <p:nvPr>
            <p:ph type="body" sz="quarter" idx="30"/>
          </p:nvPr>
        </p:nvSpPr>
        <p:spPr/>
        <p:txBody>
          <a:bodyPr/>
          <a:lstStyle/>
          <a:p>
            <a:r>
              <a:rPr lang="en-US" dirty="0">
                <a:solidFill>
                  <a:schemeClr val="tx1"/>
                </a:solidFill>
                <a:latin typeface="+mn-lt"/>
              </a:rPr>
              <a:t>&gt;20</a:t>
            </a:r>
          </a:p>
        </p:txBody>
      </p:sp>
      <p:sp>
        <p:nvSpPr>
          <p:cNvPr id="22" name="Text Placeholder 21">
            <a:extLst>
              <a:ext uri="{FF2B5EF4-FFF2-40B4-BE49-F238E27FC236}">
                <a16:creationId xmlns:a16="http://schemas.microsoft.com/office/drawing/2014/main" id="{D5402852-C1AD-6A4E-DAA7-0AE582A742FD}"/>
              </a:ext>
            </a:extLst>
          </p:cNvPr>
          <p:cNvSpPr>
            <a:spLocks noGrp="1"/>
          </p:cNvSpPr>
          <p:nvPr>
            <p:ph type="body" sz="quarter" idx="31"/>
          </p:nvPr>
        </p:nvSpPr>
        <p:spPr/>
        <p:txBody>
          <a:bodyPr/>
          <a:lstStyle/>
          <a:p>
            <a:endParaRPr lang="en-US" sz="1100" dirty="0"/>
          </a:p>
          <a:p>
            <a:r>
              <a:rPr lang="en-US" sz="1400" dirty="0">
                <a:solidFill>
                  <a:schemeClr val="tx1"/>
                </a:solidFill>
                <a:latin typeface="+mn-lt"/>
              </a:rPr>
              <a:t>ITSM, IRM, SecOps, SPM, Integrations, CSM, FSM, ITSM, HR, SAM</a:t>
            </a:r>
          </a:p>
          <a:p>
            <a:endParaRPr lang="en-US" sz="1100" dirty="0"/>
          </a:p>
        </p:txBody>
      </p:sp>
      <p:sp>
        <p:nvSpPr>
          <p:cNvPr id="24" name="Text Placeholder 23">
            <a:extLst>
              <a:ext uri="{FF2B5EF4-FFF2-40B4-BE49-F238E27FC236}">
                <a16:creationId xmlns:a16="http://schemas.microsoft.com/office/drawing/2014/main" id="{ABF1D337-2A3C-A0FB-A6CD-5E4B9D6DFD91}"/>
              </a:ext>
            </a:extLst>
          </p:cNvPr>
          <p:cNvSpPr>
            <a:spLocks noGrp="1"/>
          </p:cNvSpPr>
          <p:nvPr>
            <p:ph type="body" sz="quarter" idx="32"/>
          </p:nvPr>
        </p:nvSpPr>
        <p:spPr/>
        <p:txBody>
          <a:bodyPr/>
          <a:lstStyle/>
          <a:p>
            <a:r>
              <a:rPr lang="en-US" sz="1400" dirty="0">
                <a:solidFill>
                  <a:schemeClr val="tx1"/>
                </a:solidFill>
                <a:latin typeface="+mn-lt"/>
              </a:rPr>
              <a:t>Public System, Bank, Services, Food industry, HealthCare, Pharma, Retail</a:t>
            </a:r>
          </a:p>
        </p:txBody>
      </p:sp>
      <p:sp>
        <p:nvSpPr>
          <p:cNvPr id="21" name="Footer Placeholder 19">
            <a:extLst>
              <a:ext uri="{FF2B5EF4-FFF2-40B4-BE49-F238E27FC236}">
                <a16:creationId xmlns:a16="http://schemas.microsoft.com/office/drawing/2014/main" id="{A6E539FA-B60E-5585-524F-1BFA8C5B3E2F}"/>
              </a:ext>
            </a:extLst>
          </p:cNvPr>
          <p:cNvSpPr txBox="1">
            <a:spLocks/>
          </p:cNvSpPr>
          <p:nvPr/>
        </p:nvSpPr>
        <p:spPr>
          <a:xfrm>
            <a:off x="486699" y="6085719"/>
            <a:ext cx="4114800" cy="365125"/>
          </a:xfrm>
          <a:prstGeom prst="rect">
            <a:avLst/>
          </a:prstGeom>
        </p:spPr>
        <p:txBody>
          <a:bodyPr anchor="ctr"/>
          <a:lstStyle>
            <a:defPPr>
              <a:defRPr lang="zh-CN"/>
            </a:defPPr>
            <a:lvl1pPr marL="0" algn="l"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rPr>
              <a:t>Presentation Title</a:t>
            </a:r>
          </a:p>
        </p:txBody>
      </p:sp>
      <p:sp>
        <p:nvSpPr>
          <p:cNvPr id="10" name="Slide Number Placeholder 9">
            <a:extLst>
              <a:ext uri="{FF2B5EF4-FFF2-40B4-BE49-F238E27FC236}">
                <a16:creationId xmlns:a16="http://schemas.microsoft.com/office/drawing/2014/main" id="{CBE681AB-301C-4DC8-7FBD-FAA2CC6606AE}"/>
              </a:ext>
            </a:extLst>
          </p:cNvPr>
          <p:cNvSpPr>
            <a:spLocks noGrp="1"/>
          </p:cNvSpPr>
          <p:nvPr>
            <p:ph type="sldNum" sz="quarter" idx="34"/>
          </p:nvPr>
        </p:nvSpPr>
        <p:spPr/>
        <p:txBody>
          <a:bodyPr/>
          <a:lstStyle/>
          <a:p>
            <a:fld id="{47FEACEE-25B4-4A2D-B147-27296E36371D}" type="slidenum">
              <a:rPr lang="en-US" altLang="zh-CN" smtClean="0"/>
              <a:pPr/>
              <a:t>3</a:t>
            </a:fld>
            <a:endParaRPr lang="en-US" altLang="zh-CN" dirty="0"/>
          </a:p>
        </p:txBody>
      </p:sp>
      <p:sp>
        <p:nvSpPr>
          <p:cNvPr id="12" name="Flowchart: Preparation 11">
            <a:extLst>
              <a:ext uri="{FF2B5EF4-FFF2-40B4-BE49-F238E27FC236}">
                <a16:creationId xmlns:a16="http://schemas.microsoft.com/office/drawing/2014/main" id="{8AC6FAEE-C78D-F938-AB52-79D792DDDB23}"/>
              </a:ext>
            </a:extLst>
          </p:cNvPr>
          <p:cNvSpPr/>
          <p:nvPr/>
        </p:nvSpPr>
        <p:spPr>
          <a:xfrm rot="16200000">
            <a:off x="8272163" y="4200543"/>
            <a:ext cx="2119748" cy="1913129"/>
          </a:xfrm>
          <a:prstGeom prst="flowChartPreparati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pt-PT" dirty="0">
                <a:solidFill>
                  <a:schemeClr val="tx1"/>
                </a:solidFill>
              </a:rPr>
              <a:t>Clients background</a:t>
            </a:r>
            <a:endParaRPr lang="en-US" dirty="0">
              <a:solidFill>
                <a:schemeClr val="tx1"/>
              </a:solidFill>
            </a:endParaRPr>
          </a:p>
        </p:txBody>
      </p:sp>
      <p:sp>
        <p:nvSpPr>
          <p:cNvPr id="13" name="Flowchart: Preparation 12">
            <a:extLst>
              <a:ext uri="{FF2B5EF4-FFF2-40B4-BE49-F238E27FC236}">
                <a16:creationId xmlns:a16="http://schemas.microsoft.com/office/drawing/2014/main" id="{BBBAB338-794B-312C-9161-ED6CAFE0257B}"/>
              </a:ext>
            </a:extLst>
          </p:cNvPr>
          <p:cNvSpPr/>
          <p:nvPr/>
        </p:nvSpPr>
        <p:spPr>
          <a:xfrm rot="16200000">
            <a:off x="9306341" y="2423791"/>
            <a:ext cx="2119748" cy="1913129"/>
          </a:xfrm>
          <a:prstGeom prst="flowChartPreparati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pt-PT" dirty="0">
                <a:solidFill>
                  <a:schemeClr val="tx1"/>
                </a:solidFill>
              </a:rPr>
              <a:t>Experts</a:t>
            </a:r>
            <a:endParaRPr lang="en-US" dirty="0">
              <a:solidFill>
                <a:schemeClr val="tx1"/>
              </a:solidFill>
            </a:endParaRPr>
          </a:p>
        </p:txBody>
      </p:sp>
      <p:sp>
        <p:nvSpPr>
          <p:cNvPr id="14" name="Flowchart: Preparation 13">
            <a:extLst>
              <a:ext uri="{FF2B5EF4-FFF2-40B4-BE49-F238E27FC236}">
                <a16:creationId xmlns:a16="http://schemas.microsoft.com/office/drawing/2014/main" id="{987C6C9F-F78E-128E-8168-E51FFEA33359}"/>
              </a:ext>
            </a:extLst>
          </p:cNvPr>
          <p:cNvSpPr/>
          <p:nvPr/>
        </p:nvSpPr>
        <p:spPr>
          <a:xfrm rot="16200000">
            <a:off x="7213017" y="2423792"/>
            <a:ext cx="2119748" cy="1913129"/>
          </a:xfrm>
          <a:prstGeom prst="flowChartPreparati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pt-PT" dirty="0">
                <a:solidFill>
                  <a:schemeClr val="tx1"/>
                </a:solidFill>
              </a:rPr>
              <a:t>Certificates</a:t>
            </a:r>
            <a:endParaRPr lang="en-US" dirty="0">
              <a:solidFill>
                <a:schemeClr val="tx1"/>
              </a:solidFill>
            </a:endParaRPr>
          </a:p>
        </p:txBody>
      </p:sp>
      <p:sp>
        <p:nvSpPr>
          <p:cNvPr id="15" name="Flowchart: Preparation 14">
            <a:extLst>
              <a:ext uri="{FF2B5EF4-FFF2-40B4-BE49-F238E27FC236}">
                <a16:creationId xmlns:a16="http://schemas.microsoft.com/office/drawing/2014/main" id="{06266F9F-8851-6104-5573-3EE75668F73E}"/>
              </a:ext>
            </a:extLst>
          </p:cNvPr>
          <p:cNvSpPr/>
          <p:nvPr/>
        </p:nvSpPr>
        <p:spPr>
          <a:xfrm rot="16200000">
            <a:off x="6170718" y="647040"/>
            <a:ext cx="2119748" cy="1913129"/>
          </a:xfrm>
          <a:prstGeom prst="flowChartPreparati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pt-PT" dirty="0">
                <a:solidFill>
                  <a:schemeClr val="tx1"/>
                </a:solidFill>
              </a:rPr>
              <a:t>Experience</a:t>
            </a:r>
            <a:endParaRPr lang="en-US" dirty="0">
              <a:solidFill>
                <a:schemeClr val="tx1"/>
              </a:solidFill>
            </a:endParaRPr>
          </a:p>
        </p:txBody>
      </p:sp>
      <p:sp>
        <p:nvSpPr>
          <p:cNvPr id="17" name="Flowchart: Preparation 16">
            <a:extLst>
              <a:ext uri="{FF2B5EF4-FFF2-40B4-BE49-F238E27FC236}">
                <a16:creationId xmlns:a16="http://schemas.microsoft.com/office/drawing/2014/main" id="{F36D003A-C3C2-DB6B-D935-4727C5A445A6}"/>
              </a:ext>
            </a:extLst>
          </p:cNvPr>
          <p:cNvSpPr/>
          <p:nvPr/>
        </p:nvSpPr>
        <p:spPr>
          <a:xfrm rot="16200000">
            <a:off x="8263924" y="612468"/>
            <a:ext cx="2119748" cy="1913129"/>
          </a:xfrm>
          <a:prstGeom prst="flowChartPreparati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spcBef>
                <a:spcPts val="1000"/>
              </a:spcBef>
            </a:pPr>
            <a:r>
              <a:rPr lang="pt-PT" dirty="0">
                <a:solidFill>
                  <a:schemeClr val="tx1"/>
                </a:solidFill>
              </a:rPr>
              <a:t>Multi-Language capabilities</a:t>
            </a:r>
            <a:endParaRPr lang="en-US" dirty="0">
              <a:solidFill>
                <a:schemeClr val="tx1"/>
              </a:solidFill>
            </a:endParaRPr>
          </a:p>
        </p:txBody>
      </p:sp>
    </p:spTree>
    <p:extLst>
      <p:ext uri="{BB962C8B-B14F-4D97-AF65-F5344CB8AC3E}">
        <p14:creationId xmlns:p14="http://schemas.microsoft.com/office/powerpoint/2010/main" val="2775535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Hexagon 10">
            <a:extLst>
              <a:ext uri="{FF2B5EF4-FFF2-40B4-BE49-F238E27FC236}">
                <a16:creationId xmlns:a16="http://schemas.microsoft.com/office/drawing/2014/main" id="{45B74178-124B-3D96-B058-BA6DFD657428}"/>
              </a:ext>
            </a:extLst>
          </p:cNvPr>
          <p:cNvSpPr/>
          <p:nvPr/>
        </p:nvSpPr>
        <p:spPr>
          <a:xfrm rot="5400000">
            <a:off x="178426" y="2291346"/>
            <a:ext cx="1749404" cy="1609328"/>
          </a:xfrm>
          <a:prstGeom prst="hexagon">
            <a:avLst/>
          </a:prstGeom>
          <a:noFill/>
          <a:ln w="19050">
            <a:solidFill>
              <a:srgbClr val="DCD3CC"/>
            </a:solidFill>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9" name="Hexagon 8">
            <a:extLst>
              <a:ext uri="{FF2B5EF4-FFF2-40B4-BE49-F238E27FC236}">
                <a16:creationId xmlns:a16="http://schemas.microsoft.com/office/drawing/2014/main" id="{06121DB6-9CFA-CA71-043E-F52DBB7B4B17}"/>
              </a:ext>
            </a:extLst>
          </p:cNvPr>
          <p:cNvSpPr/>
          <p:nvPr/>
        </p:nvSpPr>
        <p:spPr>
          <a:xfrm rot="5400000">
            <a:off x="10188877" y="2104452"/>
            <a:ext cx="1749404" cy="1609328"/>
          </a:xfrm>
          <a:prstGeom prst="hexagon">
            <a:avLst/>
          </a:prstGeom>
          <a:noFill/>
          <a:ln w="19050">
            <a:solidFill>
              <a:srgbClr val="DCD3CC"/>
            </a:solidFill>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86" name="Title 85">
            <a:extLst>
              <a:ext uri="{FF2B5EF4-FFF2-40B4-BE49-F238E27FC236}">
                <a16:creationId xmlns:a16="http://schemas.microsoft.com/office/drawing/2014/main" id="{1E3F7726-AC85-55B8-BDED-51E7BA85CD1C}"/>
              </a:ext>
            </a:extLst>
          </p:cNvPr>
          <p:cNvSpPr>
            <a:spLocks noGrp="1"/>
          </p:cNvSpPr>
          <p:nvPr>
            <p:ph type="title"/>
          </p:nvPr>
        </p:nvSpPr>
        <p:spPr/>
        <p:txBody>
          <a:bodyPr/>
          <a:lstStyle/>
          <a:p>
            <a:r>
              <a:rPr lang="en-US" dirty="0"/>
              <a:t>Anticipated Challenges</a:t>
            </a:r>
          </a:p>
        </p:txBody>
      </p:sp>
      <p:pic>
        <p:nvPicPr>
          <p:cNvPr id="8" name="Picture Placeholder 7">
            <a:extLst>
              <a:ext uri="{FF2B5EF4-FFF2-40B4-BE49-F238E27FC236}">
                <a16:creationId xmlns:a16="http://schemas.microsoft.com/office/drawing/2014/main" id="{66D3A5E9-F687-402F-8477-EE4CD418CA67}"/>
              </a:ext>
            </a:extLst>
          </p:cNvPr>
          <p:cNvPicPr>
            <a:picLocks noGrp="1" noChangeAspect="1"/>
          </p:cNvPicPr>
          <p:nvPr>
            <p:ph type="pic" sz="quarter" idx="57"/>
          </p:nvPr>
        </p:nvPicPr>
        <p:blipFill>
          <a:blip r:embed="rId3"/>
          <a:srcRect/>
          <a:stretch/>
        </p:blipFill>
        <p:spPr>
          <a:xfrm>
            <a:off x="248652" y="2490246"/>
            <a:ext cx="1621032" cy="1841551"/>
          </a:xfrm>
        </p:spPr>
      </p:pic>
      <p:sp>
        <p:nvSpPr>
          <p:cNvPr id="29" name="Text Placeholder">
            <a:extLst>
              <a:ext uri="{FF2B5EF4-FFF2-40B4-BE49-F238E27FC236}">
                <a16:creationId xmlns:a16="http://schemas.microsoft.com/office/drawing/2014/main" id="{0490F6D4-84D0-42DF-A807-E56706B577D6}"/>
              </a:ext>
            </a:extLst>
          </p:cNvPr>
          <p:cNvSpPr>
            <a:spLocks noGrp="1"/>
          </p:cNvSpPr>
          <p:nvPr>
            <p:ph type="body" sz="quarter" idx="27"/>
          </p:nvPr>
        </p:nvSpPr>
        <p:spPr>
          <a:xfrm>
            <a:off x="101334" y="4501332"/>
            <a:ext cx="1877575" cy="506399"/>
          </a:xfrm>
        </p:spPr>
        <p:txBody>
          <a:bodyPr/>
          <a:lstStyle/>
          <a:p>
            <a:r>
              <a:rPr lang="en-US" altLang="zh-CN" sz="1400" dirty="0"/>
              <a:t>Regulatory Compliance</a:t>
            </a:r>
          </a:p>
          <a:p>
            <a:endParaRPr lang="zh-CN" altLang="en-US" sz="1400" dirty="0"/>
          </a:p>
        </p:txBody>
      </p:sp>
      <p:pic>
        <p:nvPicPr>
          <p:cNvPr id="10" name="Picture Placeholder 9">
            <a:extLst>
              <a:ext uri="{FF2B5EF4-FFF2-40B4-BE49-F238E27FC236}">
                <a16:creationId xmlns:a16="http://schemas.microsoft.com/office/drawing/2014/main" id="{D249D9CF-86A2-4E7B-8B6F-D02EE968C997}"/>
              </a:ext>
            </a:extLst>
          </p:cNvPr>
          <p:cNvPicPr>
            <a:picLocks noGrp="1" noChangeAspect="1"/>
          </p:cNvPicPr>
          <p:nvPr>
            <p:ph type="pic" sz="quarter" idx="58"/>
          </p:nvPr>
        </p:nvPicPr>
        <p:blipFill>
          <a:blip r:embed="rId4">
            <a:extLst>
              <a:ext uri="{837473B0-CC2E-450A-ABE3-18F120FF3D39}">
                <a1611:picAttrSrcUrl xmlns:a1611="http://schemas.microsoft.com/office/drawing/2016/11/main" r:id="rId5"/>
              </a:ext>
            </a:extLst>
          </a:blip>
          <a:srcRect/>
          <a:stretch/>
        </p:blipFill>
        <p:spPr>
          <a:xfrm>
            <a:off x="2104732" y="1796077"/>
            <a:ext cx="1621032" cy="1841551"/>
          </a:xfrm>
        </p:spPr>
      </p:pic>
      <p:sp>
        <p:nvSpPr>
          <p:cNvPr id="37" name="Text Placeholder">
            <a:extLst>
              <a:ext uri="{FF2B5EF4-FFF2-40B4-BE49-F238E27FC236}">
                <a16:creationId xmlns:a16="http://schemas.microsoft.com/office/drawing/2014/main" id="{3A30B02E-FBE1-41C5-AF6E-E1013275E84A}"/>
              </a:ext>
            </a:extLst>
          </p:cNvPr>
          <p:cNvSpPr>
            <a:spLocks noGrp="1"/>
          </p:cNvSpPr>
          <p:nvPr>
            <p:ph type="body" sz="quarter" idx="49"/>
          </p:nvPr>
        </p:nvSpPr>
        <p:spPr>
          <a:xfrm>
            <a:off x="4031690" y="4550739"/>
            <a:ext cx="1877575" cy="506399"/>
          </a:xfrm>
        </p:spPr>
        <p:txBody>
          <a:bodyPr/>
          <a:lstStyle/>
          <a:p>
            <a:r>
              <a:rPr lang="en-US" altLang="zh-CN" sz="1400" dirty="0"/>
              <a:t>Integration</a:t>
            </a:r>
            <a:endParaRPr lang="zh-CN" altLang="en-US" sz="1400" dirty="0"/>
          </a:p>
        </p:txBody>
      </p:sp>
      <p:pic>
        <p:nvPicPr>
          <p:cNvPr id="12" name="Picture Placeholder 11">
            <a:extLst>
              <a:ext uri="{FF2B5EF4-FFF2-40B4-BE49-F238E27FC236}">
                <a16:creationId xmlns:a16="http://schemas.microsoft.com/office/drawing/2014/main" id="{3D51D04D-653C-45AE-9DDF-BE96BA267A6B}"/>
              </a:ext>
            </a:extLst>
          </p:cNvPr>
          <p:cNvPicPr>
            <a:picLocks noGrp="1" noChangeAspect="1"/>
          </p:cNvPicPr>
          <p:nvPr>
            <p:ph type="pic" sz="quarter" idx="59"/>
          </p:nvPr>
        </p:nvPicPr>
        <p:blipFill>
          <a:blip r:embed="rId6">
            <a:extLst>
              <a:ext uri="{837473B0-CC2E-450A-ABE3-18F120FF3D39}">
                <a1611:picAttrSrcUrl xmlns:a1611="http://schemas.microsoft.com/office/drawing/2016/11/main" r:id="rId7"/>
              </a:ext>
            </a:extLst>
          </a:blip>
          <a:srcRect/>
          <a:stretch/>
        </p:blipFill>
        <p:spPr>
          <a:xfrm>
            <a:off x="4159962" y="2375508"/>
            <a:ext cx="1621032" cy="1841551"/>
          </a:xfrm>
        </p:spPr>
      </p:pic>
      <p:sp>
        <p:nvSpPr>
          <p:cNvPr id="39" name="Text Placeholder">
            <a:extLst>
              <a:ext uri="{FF2B5EF4-FFF2-40B4-BE49-F238E27FC236}">
                <a16:creationId xmlns:a16="http://schemas.microsoft.com/office/drawing/2014/main" id="{1B558BFC-AA9F-4991-A6BB-D56BEC07C16E}"/>
              </a:ext>
            </a:extLst>
          </p:cNvPr>
          <p:cNvSpPr>
            <a:spLocks noGrp="1"/>
          </p:cNvSpPr>
          <p:nvPr>
            <p:ph type="body" sz="quarter" idx="51"/>
          </p:nvPr>
        </p:nvSpPr>
        <p:spPr>
          <a:xfrm>
            <a:off x="6158776" y="4531145"/>
            <a:ext cx="1877575" cy="506399"/>
          </a:xfrm>
        </p:spPr>
        <p:txBody>
          <a:bodyPr/>
          <a:lstStyle/>
          <a:p>
            <a:r>
              <a:rPr lang="en-US" altLang="zh-CN" sz="1400" dirty="0"/>
              <a:t>Data Migration </a:t>
            </a:r>
            <a:br>
              <a:rPr lang="en-US" altLang="zh-CN" sz="1400" dirty="0"/>
            </a:br>
            <a:r>
              <a:rPr lang="en-US" altLang="zh-CN" sz="1400" dirty="0"/>
              <a:t>and Integrity</a:t>
            </a:r>
          </a:p>
          <a:p>
            <a:endParaRPr lang="zh-CN" altLang="en-US" sz="1400" dirty="0"/>
          </a:p>
        </p:txBody>
      </p:sp>
      <p:pic>
        <p:nvPicPr>
          <p:cNvPr id="14" name="Picture Placeholder 13">
            <a:extLst>
              <a:ext uri="{FF2B5EF4-FFF2-40B4-BE49-F238E27FC236}">
                <a16:creationId xmlns:a16="http://schemas.microsoft.com/office/drawing/2014/main" id="{33C59A08-3A06-4556-AC83-C1337E73D0B3}"/>
              </a:ext>
            </a:extLst>
          </p:cNvPr>
          <p:cNvPicPr>
            <a:picLocks noGrp="1" noChangeAspect="1"/>
          </p:cNvPicPr>
          <p:nvPr>
            <p:ph type="pic" sz="quarter" idx="60"/>
          </p:nvPr>
        </p:nvPicPr>
        <p:blipFill>
          <a:blip r:embed="rId8">
            <a:extLst>
              <a:ext uri="{837473B0-CC2E-450A-ABE3-18F120FF3D39}">
                <a1611:picAttrSrcUrl xmlns:a1611="http://schemas.microsoft.com/office/drawing/2016/11/main" r:id="rId9"/>
              </a:ext>
            </a:extLst>
          </a:blip>
          <a:srcRect/>
          <a:stretch/>
        </p:blipFill>
        <p:spPr>
          <a:xfrm>
            <a:off x="6285727" y="1693380"/>
            <a:ext cx="1621032" cy="1841551"/>
          </a:xfrm>
        </p:spPr>
      </p:pic>
      <p:sp>
        <p:nvSpPr>
          <p:cNvPr id="41" name="Text Placeholder">
            <a:extLst>
              <a:ext uri="{FF2B5EF4-FFF2-40B4-BE49-F238E27FC236}">
                <a16:creationId xmlns:a16="http://schemas.microsoft.com/office/drawing/2014/main" id="{DBA8686B-D3EF-40DF-939C-F875885DD598}"/>
              </a:ext>
            </a:extLst>
          </p:cNvPr>
          <p:cNvSpPr>
            <a:spLocks noGrp="1"/>
          </p:cNvSpPr>
          <p:nvPr>
            <p:ph type="body" sz="quarter" idx="53"/>
          </p:nvPr>
        </p:nvSpPr>
        <p:spPr>
          <a:xfrm>
            <a:off x="8216036" y="4550739"/>
            <a:ext cx="1877575" cy="506399"/>
          </a:xfrm>
        </p:spPr>
        <p:txBody>
          <a:bodyPr/>
          <a:lstStyle/>
          <a:p>
            <a:r>
              <a:rPr lang="en-US" altLang="zh-CN" sz="1400" dirty="0"/>
              <a:t>Organizational Change Management</a:t>
            </a:r>
          </a:p>
          <a:p>
            <a:endParaRPr lang="en-US" altLang="zh-CN" sz="1400" dirty="0"/>
          </a:p>
          <a:p>
            <a:endParaRPr lang="zh-CN" altLang="en-US" sz="1400" dirty="0"/>
          </a:p>
        </p:txBody>
      </p:sp>
      <p:sp>
        <p:nvSpPr>
          <p:cNvPr id="43" name="Text Placeholder">
            <a:extLst>
              <a:ext uri="{FF2B5EF4-FFF2-40B4-BE49-F238E27FC236}">
                <a16:creationId xmlns:a16="http://schemas.microsoft.com/office/drawing/2014/main" id="{759A333C-6D37-427A-BE2A-4C2660134A5A}"/>
              </a:ext>
            </a:extLst>
          </p:cNvPr>
          <p:cNvSpPr>
            <a:spLocks noGrp="1"/>
          </p:cNvSpPr>
          <p:nvPr>
            <p:ph type="body" sz="quarter" idx="55"/>
          </p:nvPr>
        </p:nvSpPr>
        <p:spPr>
          <a:xfrm>
            <a:off x="10118941" y="4550739"/>
            <a:ext cx="1877575" cy="506399"/>
          </a:xfrm>
        </p:spPr>
        <p:txBody>
          <a:bodyPr/>
          <a:lstStyle/>
          <a:p>
            <a:r>
              <a:rPr lang="en-US" altLang="zh-CN" sz="1400" dirty="0"/>
              <a:t>Complexity </a:t>
            </a:r>
            <a:br>
              <a:rPr lang="en-US" altLang="zh-CN" sz="1400" dirty="0"/>
            </a:br>
            <a:r>
              <a:rPr lang="en-US" altLang="zh-CN" sz="1400" dirty="0"/>
              <a:t>and Scale</a:t>
            </a:r>
          </a:p>
          <a:p>
            <a:endParaRPr lang="zh-CN" altLang="en-US" sz="1400" dirty="0"/>
          </a:p>
        </p:txBody>
      </p:sp>
      <p:sp>
        <p:nvSpPr>
          <p:cNvPr id="5" name="Slide Number Placeholder 4">
            <a:extLst>
              <a:ext uri="{FF2B5EF4-FFF2-40B4-BE49-F238E27FC236}">
                <a16:creationId xmlns:a16="http://schemas.microsoft.com/office/drawing/2014/main" id="{558D9DED-0D81-19D6-DF40-E6B4B5BFEF9E}"/>
              </a:ext>
            </a:extLst>
          </p:cNvPr>
          <p:cNvSpPr>
            <a:spLocks noGrp="1"/>
          </p:cNvSpPr>
          <p:nvPr>
            <p:ph type="sldNum" sz="quarter" idx="63"/>
          </p:nvPr>
        </p:nvSpPr>
        <p:spPr/>
        <p:txBody>
          <a:bodyPr/>
          <a:lstStyle/>
          <a:p>
            <a:fld id="{47FEACEE-25B4-4A2D-B147-27296E36371D}" type="slidenum">
              <a:rPr lang="en-US" altLang="zh-CN" smtClean="0"/>
              <a:pPr/>
              <a:t>4</a:t>
            </a:fld>
            <a:endParaRPr lang="en-US" altLang="zh-CN" dirty="0"/>
          </a:p>
        </p:txBody>
      </p:sp>
      <p:pic>
        <p:nvPicPr>
          <p:cNvPr id="2" name="Picture Placeholder 89">
            <a:extLst>
              <a:ext uri="{FF2B5EF4-FFF2-40B4-BE49-F238E27FC236}">
                <a16:creationId xmlns:a16="http://schemas.microsoft.com/office/drawing/2014/main" id="{C50FACA8-C968-C233-5CC1-F4C440A1636A}"/>
              </a:ext>
            </a:extLst>
          </p:cNvPr>
          <p:cNvPicPr>
            <a:picLocks noChangeAspect="1"/>
          </p:cNvPicPr>
          <p:nvPr/>
        </p:nvPicPr>
        <p:blipFill>
          <a:blip r:embed="rId10">
            <a:extLst>
              <a:ext uri="{837473B0-CC2E-450A-ABE3-18F120FF3D39}">
                <a1611:picAttrSrcUrl xmlns:a1611="http://schemas.microsoft.com/office/drawing/2016/11/main" r:id="rId11"/>
              </a:ext>
            </a:extLst>
          </a:blip>
          <a:srcRect/>
          <a:stretch/>
        </p:blipFill>
        <p:spPr>
          <a:xfrm>
            <a:off x="10247212" y="1661669"/>
            <a:ext cx="1621032" cy="184150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pic>
      <p:sp>
        <p:nvSpPr>
          <p:cNvPr id="3" name="Text Placeholder">
            <a:extLst>
              <a:ext uri="{FF2B5EF4-FFF2-40B4-BE49-F238E27FC236}">
                <a16:creationId xmlns:a16="http://schemas.microsoft.com/office/drawing/2014/main" id="{BD58A561-B5AA-1703-7AD9-8A0B00AFF872}"/>
              </a:ext>
            </a:extLst>
          </p:cNvPr>
          <p:cNvSpPr txBox="1">
            <a:spLocks/>
          </p:cNvSpPr>
          <p:nvPr/>
        </p:nvSpPr>
        <p:spPr>
          <a:xfrm>
            <a:off x="1978909" y="4531144"/>
            <a:ext cx="1877575" cy="506399"/>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800" b="1"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400" dirty="0"/>
              <a:t>Data Security </a:t>
            </a:r>
            <a:br>
              <a:rPr lang="en-US" altLang="zh-CN" sz="1400" dirty="0"/>
            </a:br>
            <a:r>
              <a:rPr lang="en-US" altLang="zh-CN" sz="1400" dirty="0"/>
              <a:t>and Privacy</a:t>
            </a:r>
          </a:p>
          <a:p>
            <a:endParaRPr lang="zh-CN" altLang="en-US" sz="1400" dirty="0"/>
          </a:p>
        </p:txBody>
      </p:sp>
      <p:pic>
        <p:nvPicPr>
          <p:cNvPr id="24" name="Picture Placeholder 23">
            <a:extLst>
              <a:ext uri="{FF2B5EF4-FFF2-40B4-BE49-F238E27FC236}">
                <a16:creationId xmlns:a16="http://schemas.microsoft.com/office/drawing/2014/main" id="{F55124C6-25B6-FB9C-BB96-DE94AAB50D57}"/>
              </a:ext>
            </a:extLst>
          </p:cNvPr>
          <p:cNvPicPr>
            <a:picLocks noGrp="1" noChangeAspect="1"/>
          </p:cNvPicPr>
          <p:nvPr>
            <p:ph type="pic" sz="quarter" idx="61"/>
          </p:nvPr>
        </p:nvPicPr>
        <p:blipFill>
          <a:blip r:embed="rId12">
            <a:extLst>
              <a:ext uri="{837473B0-CC2E-450A-ABE3-18F120FF3D39}">
                <a1611:picAttrSrcUrl xmlns:a1611="http://schemas.microsoft.com/office/drawing/2016/11/main" r:id="rId13"/>
              </a:ext>
            </a:extLst>
          </a:blip>
          <a:srcRect l="5991" r="5991"/>
          <a:stretch/>
        </p:blipFill>
        <p:spPr>
          <a:xfrm>
            <a:off x="8391137" y="2374900"/>
            <a:ext cx="1620838" cy="1841500"/>
          </a:xfrm>
        </p:spPr>
      </p:pic>
    </p:spTree>
    <p:extLst>
      <p:ext uri="{BB962C8B-B14F-4D97-AF65-F5344CB8AC3E}">
        <p14:creationId xmlns:p14="http://schemas.microsoft.com/office/powerpoint/2010/main" val="2517140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P spid="37" grpId="0" build="p"/>
      <p:bldP spid="39" grpId="0" build="p"/>
      <p:bldP spid="41" grpId="0" build="p"/>
      <p:bldP spid="43" grpId="0" build="p"/>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p:txBody>
          <a:bodyPr/>
          <a:lstStyle/>
          <a:p>
            <a:r>
              <a:rPr lang="en-US" dirty="0"/>
              <a:t>Regulatory Compliance</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28"/>
          </p:nvPr>
        </p:nvSpPr>
        <p:spPr/>
        <p:txBody>
          <a:bodyPr/>
          <a:lstStyle/>
          <a:p>
            <a:r>
              <a:rPr lang="en-US" sz="1800" dirty="0"/>
              <a:t>Compliance with all relevant regulations (e.g. GDPR, PCI, CSS)</a:t>
            </a:r>
          </a:p>
          <a:p>
            <a:endParaRPr lang="en-US" sz="1800" dirty="0"/>
          </a:p>
          <a:p>
            <a:r>
              <a:rPr lang="en-US" sz="1800" dirty="0"/>
              <a:t>Using risk assessment tools to manage compliance risks.</a:t>
            </a:r>
          </a:p>
          <a:p>
            <a:endParaRPr lang="en-US" sz="1800" dirty="0"/>
          </a:p>
          <a:p>
            <a:r>
              <a:rPr lang="fr-FR" sz="1800" dirty="0" err="1"/>
              <a:t>Implement</a:t>
            </a:r>
            <a:r>
              <a:rPr lang="fr-FR" sz="1800" dirty="0"/>
              <a:t> Access Controls</a:t>
            </a:r>
            <a:endParaRPr lang="en-US" sz="1800" dirty="0"/>
          </a:p>
        </p:txBody>
      </p:sp>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5</a:t>
            </a:fld>
            <a:endParaRPr lang="en-US" altLang="zh-CN" dirty="0"/>
          </a:p>
        </p:txBody>
      </p:sp>
      <p:pic>
        <p:nvPicPr>
          <p:cNvPr id="1030" name="Picture 6">
            <a:extLst>
              <a:ext uri="{FF2B5EF4-FFF2-40B4-BE49-F238E27FC236}">
                <a16:creationId xmlns:a16="http://schemas.microsoft.com/office/drawing/2014/main" id="{F9E4228B-60D9-E5C6-7B46-6D4B15498E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4529" y="4281055"/>
            <a:ext cx="1936865" cy="1936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727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p:txBody>
          <a:bodyPr/>
          <a:lstStyle/>
          <a:p>
            <a:r>
              <a:rPr lang="en-US" dirty="0"/>
              <a:t>Data Security and Privacy</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28"/>
          </p:nvPr>
        </p:nvSpPr>
        <p:spPr>
          <a:xfrm>
            <a:off x="5271608" y="1469069"/>
            <a:ext cx="5627301" cy="1506166"/>
          </a:xfrm>
        </p:spPr>
        <p:txBody>
          <a:bodyPr/>
          <a:lstStyle/>
          <a:p>
            <a:r>
              <a:rPr lang="en-US" sz="1800"/>
              <a:t>Role-Based Access Controls limit sensitive data access to authorized personnel.</a:t>
            </a:r>
          </a:p>
          <a:p>
            <a:endParaRPr lang="en-US" sz="1800"/>
          </a:p>
          <a:p>
            <a:r>
              <a:rPr lang="en-US" sz="1800"/>
              <a:t>Field Level Encryption for storing Sensitive Data</a:t>
            </a:r>
          </a:p>
          <a:p>
            <a:endParaRPr lang="en-US" sz="1800"/>
          </a:p>
          <a:p>
            <a:r>
              <a:rPr lang="en-US" sz="1800"/>
              <a:t>Multi-Factor Authentication and Single Sign-on</a:t>
            </a:r>
          </a:p>
          <a:p>
            <a:endParaRPr lang="en-US" sz="1800"/>
          </a:p>
          <a:p>
            <a:endParaRPr lang="en-US" sz="1800" dirty="0"/>
          </a:p>
        </p:txBody>
      </p:sp>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6</a:t>
            </a:fld>
            <a:endParaRPr lang="en-US" altLang="zh-CN" dirty="0"/>
          </a:p>
        </p:txBody>
      </p:sp>
      <p:pic>
        <p:nvPicPr>
          <p:cNvPr id="7" name="Picture 4" descr="Enterprise-Level Security with LivePerson: Keeping Data Safe">
            <a:extLst>
              <a:ext uri="{FF2B5EF4-FFF2-40B4-BE49-F238E27FC236}">
                <a16:creationId xmlns:a16="http://schemas.microsoft.com/office/drawing/2014/main" id="{F824CA5E-939E-04D8-0055-A619D017F9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5075" y="3882766"/>
            <a:ext cx="2989094" cy="2241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83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p:txBody>
          <a:bodyPr/>
          <a:lstStyle/>
          <a:p>
            <a:r>
              <a:rPr lang="en-US" altLang="zh-CN" sz="4400" dirty="0"/>
              <a:t>Integration</a:t>
            </a:r>
            <a:endParaRPr lang="en-US" dirty="0"/>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28"/>
          </p:nvPr>
        </p:nvSpPr>
        <p:spPr>
          <a:xfrm>
            <a:off x="5271608" y="1469069"/>
            <a:ext cx="5627301" cy="1506166"/>
          </a:xfrm>
        </p:spPr>
        <p:txBody>
          <a:bodyPr/>
          <a:lstStyle/>
          <a:p>
            <a:r>
              <a:rPr lang="en-US" sz="1800" dirty="0"/>
              <a:t>Enforce </a:t>
            </a:r>
            <a:r>
              <a:rPr lang="en-US" sz="1800" dirty="0" err="1"/>
              <a:t>Oauth</a:t>
            </a:r>
            <a:r>
              <a:rPr lang="en-US" sz="1800" dirty="0"/>
              <a:t> 2.0 and mutual authentication.</a:t>
            </a:r>
          </a:p>
          <a:p>
            <a:pPr marL="0" indent="0">
              <a:buNone/>
            </a:pPr>
            <a:endParaRPr lang="en-US" sz="1800" dirty="0"/>
          </a:p>
          <a:p>
            <a:r>
              <a:rPr lang="en-US" sz="1800" dirty="0"/>
              <a:t>Support from APIs and web services </a:t>
            </a:r>
            <a:br>
              <a:rPr lang="en-US" sz="1800" dirty="0"/>
            </a:br>
            <a:r>
              <a:rPr lang="en-US" sz="1800" dirty="0"/>
              <a:t>(REST and SOAP).</a:t>
            </a:r>
          </a:p>
          <a:p>
            <a:endParaRPr lang="en-US" sz="1800" dirty="0"/>
          </a:p>
          <a:p>
            <a:r>
              <a:rPr lang="en-US" sz="1800" dirty="0"/>
              <a:t>MID Servers for secure integrations.</a:t>
            </a:r>
          </a:p>
          <a:p>
            <a:pPr marL="0" indent="0">
              <a:buNone/>
            </a:pPr>
            <a:endParaRPr lang="en-US" sz="1800" dirty="0"/>
          </a:p>
        </p:txBody>
      </p:sp>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7</a:t>
            </a:fld>
            <a:endParaRPr lang="en-US" altLang="zh-CN" dirty="0"/>
          </a:p>
        </p:txBody>
      </p:sp>
      <p:pic>
        <p:nvPicPr>
          <p:cNvPr id="2" name="Picture 6" descr="Data Standardization for Retailers - Gepard PIM">
            <a:extLst>
              <a:ext uri="{FF2B5EF4-FFF2-40B4-BE49-F238E27FC236}">
                <a16:creationId xmlns:a16="http://schemas.microsoft.com/office/drawing/2014/main" id="{975DB468-B0A7-0E48-3147-E24F08E29B72}"/>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7216"/>
                    </a14:imgEffect>
                  </a14:imgLayer>
                </a14:imgProps>
              </a:ext>
              <a:ext uri="{28A0092B-C50C-407E-A947-70E740481C1C}">
                <a14:useLocalDpi xmlns:a14="http://schemas.microsoft.com/office/drawing/2010/main" val="0"/>
              </a:ext>
            </a:extLst>
          </a:blip>
          <a:srcRect/>
          <a:stretch>
            <a:fillRect/>
          </a:stretch>
        </p:blipFill>
        <p:spPr bwMode="auto">
          <a:xfrm>
            <a:off x="6653724" y="4031673"/>
            <a:ext cx="2009602" cy="2009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7298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p:txBody>
          <a:bodyPr/>
          <a:lstStyle/>
          <a:p>
            <a:r>
              <a:rPr lang="en-US" altLang="zh-CN" sz="4400" dirty="0"/>
              <a:t>Data Migration and Integrity</a:t>
            </a:r>
            <a:endParaRPr lang="en-US" dirty="0"/>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28"/>
          </p:nvPr>
        </p:nvSpPr>
        <p:spPr/>
        <p:txBody>
          <a:bodyPr/>
          <a:lstStyle/>
          <a:p>
            <a:r>
              <a:rPr lang="en-US" sz="1800" dirty="0"/>
              <a:t>Use of Integration Hub to import data from Remedy</a:t>
            </a:r>
          </a:p>
          <a:p>
            <a:pPr marL="0" indent="0">
              <a:buNone/>
            </a:pPr>
            <a:endParaRPr lang="en-US" sz="1800" dirty="0"/>
          </a:p>
          <a:p>
            <a:r>
              <a:rPr lang="en-US" sz="1800" dirty="0"/>
              <a:t>For CMDB, sanitize the data using Identification and Reconciliation Engine</a:t>
            </a:r>
          </a:p>
          <a:p>
            <a:endParaRPr lang="en-US" sz="1800" dirty="0"/>
          </a:p>
          <a:p>
            <a:r>
              <a:rPr lang="en-US" sz="1800" dirty="0"/>
              <a:t>Only import relevant data</a:t>
            </a:r>
          </a:p>
          <a:p>
            <a:endParaRPr lang="en-US" sz="1800" dirty="0"/>
          </a:p>
          <a:p>
            <a:r>
              <a:rPr lang="en-US" sz="1800" dirty="0"/>
              <a:t>ServiceNow provides tools like Data Certification for data quality assessment and cleansing.</a:t>
            </a:r>
          </a:p>
          <a:p>
            <a:endParaRPr lang="en-US" sz="1800" dirty="0"/>
          </a:p>
        </p:txBody>
      </p:sp>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8</a:t>
            </a:fld>
            <a:endParaRPr lang="en-US" altLang="zh-CN" dirty="0"/>
          </a:p>
        </p:txBody>
      </p:sp>
      <p:pic>
        <p:nvPicPr>
          <p:cNvPr id="2050" name="Picture 2">
            <a:extLst>
              <a:ext uri="{FF2B5EF4-FFF2-40B4-BE49-F238E27FC236}">
                <a16:creationId xmlns:a16="http://schemas.microsoft.com/office/drawing/2014/main" id="{15509D2C-DE3A-754F-2775-73A0802DAC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821382"/>
            <a:ext cx="3473789" cy="1954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7309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p:txBody>
          <a:bodyPr/>
          <a:lstStyle/>
          <a:p>
            <a:r>
              <a:rPr lang="en-US" altLang="zh-CN" sz="4400" dirty="0"/>
              <a:t>Organizational Change Management</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28"/>
          </p:nvPr>
        </p:nvSpPr>
        <p:spPr/>
        <p:txBody>
          <a:bodyPr/>
          <a:lstStyle/>
          <a:p>
            <a:r>
              <a:rPr lang="en-US" sz="1800" dirty="0"/>
              <a:t>Collaboration tools and stakeholder engagement promote transparency.</a:t>
            </a:r>
          </a:p>
          <a:p>
            <a:endParaRPr lang="en-US" sz="1800" dirty="0"/>
          </a:p>
          <a:p>
            <a:r>
              <a:rPr lang="en-US" sz="1800" dirty="0"/>
              <a:t>Automated workflows free up employees for higher-value work.</a:t>
            </a:r>
          </a:p>
          <a:p>
            <a:endParaRPr lang="en-US" sz="1800" dirty="0"/>
          </a:p>
          <a:p>
            <a:r>
              <a:rPr lang="en-US" sz="1800" dirty="0"/>
              <a:t>Knowledge Articles/Base creation, surveys</a:t>
            </a:r>
          </a:p>
          <a:p>
            <a:endParaRPr lang="en-US" sz="1800" dirty="0"/>
          </a:p>
          <a:p>
            <a:r>
              <a:rPr lang="en-US" sz="1800" dirty="0"/>
              <a:t>Guided Tours and self-service training ease the transition.</a:t>
            </a:r>
          </a:p>
          <a:p>
            <a:endParaRPr lang="en-US" sz="1800" dirty="0"/>
          </a:p>
          <a:p>
            <a:endParaRPr lang="en-US" sz="1800" dirty="0"/>
          </a:p>
          <a:p>
            <a:endParaRPr lang="en-US" sz="1800" dirty="0"/>
          </a:p>
          <a:p>
            <a:endParaRPr lang="en-US" sz="1800" dirty="0"/>
          </a:p>
        </p:txBody>
      </p:sp>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9</a:t>
            </a:fld>
            <a:endParaRPr lang="en-US" altLang="zh-CN" dirty="0"/>
          </a:p>
        </p:txBody>
      </p:sp>
      <p:sp>
        <p:nvSpPr>
          <p:cNvPr id="3" name="AutoShape 4" descr="Now Create">
            <a:extLst>
              <a:ext uri="{FF2B5EF4-FFF2-40B4-BE49-F238E27FC236}">
                <a16:creationId xmlns:a16="http://schemas.microsoft.com/office/drawing/2014/main" id="{464967EE-CCF2-D140-0A48-17309CCE661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 name="Graphic 13">
            <a:extLst>
              <a:ext uri="{FF2B5EF4-FFF2-40B4-BE49-F238E27FC236}">
                <a16:creationId xmlns:a16="http://schemas.microsoft.com/office/drawing/2014/main" id="{D97170DE-E27A-036C-BCE8-3A55310920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00412" y="4876482"/>
            <a:ext cx="2705100" cy="1524000"/>
          </a:xfrm>
          <a:prstGeom prst="rect">
            <a:avLst/>
          </a:prstGeom>
        </p:spPr>
      </p:pic>
    </p:spTree>
    <p:extLst>
      <p:ext uri="{BB962C8B-B14F-4D97-AF65-F5344CB8AC3E}">
        <p14:creationId xmlns:p14="http://schemas.microsoft.com/office/powerpoint/2010/main" val="1748005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p:txBody>
          <a:bodyPr/>
          <a:lstStyle/>
          <a:p>
            <a:r>
              <a:rPr lang="en-US" altLang="zh-CN" sz="4400" dirty="0"/>
              <a:t>Complexity and Scale</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28"/>
          </p:nvPr>
        </p:nvSpPr>
        <p:spPr/>
        <p:txBody>
          <a:bodyPr/>
          <a:lstStyle/>
          <a:p>
            <a:r>
              <a:rPr lang="en-US" sz="1800" dirty="0"/>
              <a:t>Modular implementation allows phased implementation approach</a:t>
            </a:r>
          </a:p>
          <a:p>
            <a:pPr marL="0" indent="0">
              <a:buNone/>
            </a:pPr>
            <a:endParaRPr lang="en-US" sz="1800" dirty="0"/>
          </a:p>
          <a:p>
            <a:r>
              <a:rPr lang="en-US" sz="1800" dirty="0"/>
              <a:t>Performance optimization tools</a:t>
            </a:r>
          </a:p>
          <a:p>
            <a:endParaRPr lang="en-US" sz="1800" dirty="0"/>
          </a:p>
          <a:p>
            <a:r>
              <a:rPr lang="en-US" sz="1800" dirty="0"/>
              <a:t>Scalable Architecture that supports large organizations </a:t>
            </a:r>
          </a:p>
          <a:p>
            <a:pPr marL="0" indent="0">
              <a:buNone/>
            </a:pPr>
            <a:endParaRPr lang="en-US" sz="1800" dirty="0"/>
          </a:p>
          <a:p>
            <a:pPr marL="0" indent="0">
              <a:buNone/>
            </a:pPr>
            <a:endParaRPr lang="en-US" sz="1800" dirty="0"/>
          </a:p>
          <a:p>
            <a:endParaRPr lang="en-US" sz="1800" dirty="0"/>
          </a:p>
          <a:p>
            <a:endParaRPr lang="en-US" sz="1800" dirty="0"/>
          </a:p>
          <a:p>
            <a:endParaRPr lang="en-US" sz="1800" dirty="0"/>
          </a:p>
        </p:txBody>
      </p:sp>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10</a:t>
            </a:fld>
            <a:endParaRPr lang="en-US" altLang="zh-CN" dirty="0"/>
          </a:p>
        </p:txBody>
      </p:sp>
      <p:pic>
        <p:nvPicPr>
          <p:cNvPr id="3" name="Picture 2" descr="How to balance security and usability in information security | Evans  Amenyo Sallah, CISA, CISM posted on the topic | LinkedIn">
            <a:extLst>
              <a:ext uri="{FF2B5EF4-FFF2-40B4-BE49-F238E27FC236}">
                <a16:creationId xmlns:a16="http://schemas.microsoft.com/office/drawing/2014/main" id="{B6886D93-564F-F5B3-BD20-93DF59187DB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a14:imgEffect>
                  </a14:imgLayer>
                </a14:imgProps>
              </a:ext>
              <a:ext uri="{28A0092B-C50C-407E-A947-70E740481C1C}">
                <a14:useLocalDpi xmlns:a14="http://schemas.microsoft.com/office/drawing/2010/main" val="0"/>
              </a:ext>
            </a:extLst>
          </a:blip>
          <a:srcRect/>
          <a:stretch>
            <a:fillRect/>
          </a:stretch>
        </p:blipFill>
        <p:spPr bwMode="auto">
          <a:xfrm>
            <a:off x="6002482" y="4033520"/>
            <a:ext cx="2554062" cy="2549525"/>
          </a:xfrm>
          <a:prstGeom prst="rect">
            <a:avLst/>
          </a:prstGeom>
          <a:pattFill prst="pct5">
            <a:fgClr>
              <a:schemeClr val="accent3"/>
            </a:fgClr>
            <a:bgClr>
              <a:schemeClr val="bg1"/>
            </a:bgClr>
          </a:pattFill>
        </p:spPr>
      </p:pic>
    </p:spTree>
    <p:extLst>
      <p:ext uri="{BB962C8B-B14F-4D97-AF65-F5344CB8AC3E}">
        <p14:creationId xmlns:p14="http://schemas.microsoft.com/office/powerpoint/2010/main" val="3226555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p:txBody>
          <a:bodyPr/>
          <a:lstStyle/>
          <a:p>
            <a:r>
              <a:rPr lang="en-US" dirty="0"/>
              <a:t>Thank you</a:t>
            </a:r>
          </a:p>
        </p:txBody>
      </p:sp>
      <p:pic>
        <p:nvPicPr>
          <p:cNvPr id="14" name="Picture Placeholder 13" descr="People working in office">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rotWithShape="1">
          <a:blip r:embed="rId3" cstate="print">
            <a:extLst>
              <a:ext uri="{28A0092B-C50C-407E-A947-70E740481C1C}">
                <a14:useLocalDpi xmlns:a14="http://schemas.microsoft.com/office/drawing/2010/main"/>
              </a:ext>
            </a:extLst>
          </a:blip>
          <a:srcRect/>
          <a:stretch/>
        </p:blipFill>
        <p:spPr/>
      </p:pic>
      <p:pic>
        <p:nvPicPr>
          <p:cNvPr id="16" name="Picture Placeholder 15" descr="People in an office discussing work over a laptop&#10;">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rotWithShape="1">
          <a:blip r:embed="rId4" cstate="print">
            <a:extLst>
              <a:ext uri="{28A0092B-C50C-407E-A947-70E740481C1C}">
                <a14:useLocalDpi xmlns:a14="http://schemas.microsoft.com/office/drawing/2010/main"/>
              </a:ext>
            </a:extLst>
          </a:blip>
          <a:srcRect/>
          <a:stretch/>
        </p:blipFill>
        <p:spPr/>
      </p:pic>
      <p:pic>
        <p:nvPicPr>
          <p:cNvPr id="18" name="Picture Placeholder 17" descr="Layout of website design sketches on white paper">
            <a:extLst>
              <a:ext uri="{FF2B5EF4-FFF2-40B4-BE49-F238E27FC236}">
                <a16:creationId xmlns:a16="http://schemas.microsoft.com/office/drawing/2014/main" id="{1051CD21-1408-4D13-BF0B-0D7013AD2D0C}"/>
              </a:ext>
            </a:extLst>
          </p:cNvPr>
          <p:cNvPicPr>
            <a:picLocks noGrp="1" noChangeAspect="1"/>
          </p:cNvPicPr>
          <p:nvPr>
            <p:ph type="pic" sz="quarter" idx="51"/>
          </p:nvPr>
        </p:nvPicPr>
        <p:blipFill rotWithShape="1">
          <a:blip r:embed="rId5" cstate="print">
            <a:extLst>
              <a:ext uri="{28A0092B-C50C-407E-A947-70E740481C1C}">
                <a14:useLocalDpi xmlns:a14="http://schemas.microsoft.com/office/drawing/2010/main"/>
              </a:ext>
            </a:extLst>
          </a:blip>
          <a:srcRect/>
          <a:stretch/>
        </p:blipFill>
        <p:spPr/>
      </p:pic>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96000" y="3093990"/>
            <a:ext cx="3916218" cy="1879791"/>
          </a:xfrm>
        </p:spPr>
        <p:txBody>
          <a:bodyPr/>
          <a:lstStyle/>
          <a:p>
            <a:r>
              <a:rPr lang="en-US" dirty="0"/>
              <a:t>Pedro Leite</a:t>
            </a:r>
          </a:p>
          <a:p>
            <a:pPr lvl="0"/>
            <a:r>
              <a:rPr lang="en-US" dirty="0"/>
              <a:t>pedro.leite@sw-consultancy.com</a:t>
            </a:r>
          </a:p>
          <a:p>
            <a:pPr lvl="0"/>
            <a:r>
              <a:rPr lang="en-US" dirty="0"/>
              <a:t>www.servicewow-consultancy.com</a:t>
            </a:r>
          </a:p>
          <a:p>
            <a:endParaRPr lang="en-US" dirty="0"/>
          </a:p>
        </p:txBody>
      </p:sp>
      <p:pic>
        <p:nvPicPr>
          <p:cNvPr id="28" name="Picture Placeholder 27" descr="Businesswoman reviewing sticky notes on a wall">
            <a:extLst>
              <a:ext uri="{FF2B5EF4-FFF2-40B4-BE49-F238E27FC236}">
                <a16:creationId xmlns:a16="http://schemas.microsoft.com/office/drawing/2014/main" id="{B746A775-E65C-70F6-9DB4-E51F7F2DAECE}"/>
              </a:ext>
            </a:extLst>
          </p:cNvPr>
          <p:cNvPicPr>
            <a:picLocks noGrp="1" noChangeAspect="1"/>
          </p:cNvPicPr>
          <p:nvPr>
            <p:ph type="pic" sz="quarter" idx="50"/>
          </p:nvPr>
        </p:nvPicPr>
        <p:blipFill>
          <a:blip r:embed="rId6" cstate="print">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presentation light - tm89027928_Win22_jx_v15" id="{E4F720B1-AC3A-441F-B00A-6ECF71D2AB0C}" vid="{71933BEE-9DD7-4D62-B50F-A654080E9C9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AD51DF-C727-4608-B606-5D6C957D4C4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511997D-2559-4D54-8469-327570B187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0D8C9A-C895-482B-B501-694996FFDE4D}">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0</TotalTime>
  <Words>1029</Words>
  <Application>Microsoft Office PowerPoint</Application>
  <PresentationFormat>Widescreen</PresentationFormat>
  <Paragraphs>138</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等线</vt:lpstr>
      <vt:lpstr>Abadi</vt:lpstr>
      <vt:lpstr>Arial</vt:lpstr>
      <vt:lpstr>Calibri</vt:lpstr>
      <vt:lpstr>Posterama</vt:lpstr>
      <vt:lpstr>Posterama Text Black</vt:lpstr>
      <vt:lpstr>Posterama Text SemiBold</vt:lpstr>
      <vt:lpstr>Custom</vt:lpstr>
      <vt:lpstr>Sovereign Bank</vt:lpstr>
      <vt:lpstr>Meet our team </vt:lpstr>
      <vt:lpstr>Strengths</vt:lpstr>
      <vt:lpstr>Anticipated Challenges</vt:lpstr>
      <vt:lpstr>Regulatory Compliance</vt:lpstr>
      <vt:lpstr>Data Security and Privacy</vt:lpstr>
      <vt:lpstr>Integration</vt:lpstr>
      <vt:lpstr>Data Migration and Integrity</vt:lpstr>
      <vt:lpstr>Organizational Change Management</vt:lpstr>
      <vt:lpstr>Complexity and Scale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2023-09-14T06:03:51Z</dcterms:created>
  <dcterms:modified xsi:type="dcterms:W3CDTF">2025-02-11T19:35:02Z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a7295cc1-d279-42ac-ab4d-3b0f4fece050_Enabled">
    <vt:lpwstr>true</vt:lpwstr>
  </property>
  <property fmtid="{D5CDD505-2E9C-101B-9397-08002B2CF9AE}" pid="5" name="MSIP_Label_a7295cc1-d279-42ac-ab4d-3b0f4fece050_SetDate">
    <vt:lpwstr>2025-02-11T09:30:08Z</vt:lpwstr>
  </property>
  <property fmtid="{D5CDD505-2E9C-101B-9397-08002B2CF9AE}" pid="6" name="MSIP_Label_a7295cc1-d279-42ac-ab4d-3b0f4fece050_Method">
    <vt:lpwstr>Standard</vt:lpwstr>
  </property>
  <property fmtid="{D5CDD505-2E9C-101B-9397-08002B2CF9AE}" pid="7" name="MSIP_Label_a7295cc1-d279-42ac-ab4d-3b0f4fece050_Name">
    <vt:lpwstr>FUJITSU-RESTRICTED​</vt:lpwstr>
  </property>
  <property fmtid="{D5CDD505-2E9C-101B-9397-08002B2CF9AE}" pid="8" name="MSIP_Label_a7295cc1-d279-42ac-ab4d-3b0f4fece050_SiteId">
    <vt:lpwstr>a19f121d-81e1-4858-a9d8-736e267fd4c7</vt:lpwstr>
  </property>
  <property fmtid="{D5CDD505-2E9C-101B-9397-08002B2CF9AE}" pid="9" name="MSIP_Label_a7295cc1-d279-42ac-ab4d-3b0f4fece050_ActionId">
    <vt:lpwstr>95278961-6634-494c-b22a-8a8e584a4a75</vt:lpwstr>
  </property>
  <property fmtid="{D5CDD505-2E9C-101B-9397-08002B2CF9AE}" pid="10" name="MSIP_Label_a7295cc1-d279-42ac-ab4d-3b0f4fece050_ContentBits">
    <vt:lpwstr>0</vt:lpwstr>
  </property>
</Properties>
</file>